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6" r:id="rId1"/>
  </p:sldMasterIdLst>
  <p:notesMasterIdLst>
    <p:notesMasterId r:id="rId32"/>
  </p:notesMasterIdLst>
  <p:sldIdLst>
    <p:sldId id="256" r:id="rId2"/>
    <p:sldId id="257" r:id="rId3"/>
    <p:sldId id="285" r:id="rId4"/>
    <p:sldId id="286" r:id="rId5"/>
    <p:sldId id="276" r:id="rId6"/>
    <p:sldId id="258" r:id="rId7"/>
    <p:sldId id="289" r:id="rId8"/>
    <p:sldId id="287" r:id="rId9"/>
    <p:sldId id="259" r:id="rId10"/>
    <p:sldId id="260" r:id="rId11"/>
    <p:sldId id="277" r:id="rId12"/>
    <p:sldId id="261" r:id="rId13"/>
    <p:sldId id="278" r:id="rId14"/>
    <p:sldId id="262" r:id="rId15"/>
    <p:sldId id="279" r:id="rId16"/>
    <p:sldId id="263" r:id="rId17"/>
    <p:sldId id="280" r:id="rId18"/>
    <p:sldId id="264" r:id="rId19"/>
    <p:sldId id="281" r:id="rId20"/>
    <p:sldId id="265" r:id="rId21"/>
    <p:sldId id="282" r:id="rId22"/>
    <p:sldId id="266" r:id="rId23"/>
    <p:sldId id="283" r:id="rId24"/>
    <p:sldId id="267" r:id="rId25"/>
    <p:sldId id="288" r:id="rId26"/>
    <p:sldId id="272" r:id="rId27"/>
    <p:sldId id="268" r:id="rId28"/>
    <p:sldId id="269" r:id="rId29"/>
    <p:sldId id="270" r:id="rId30"/>
    <p:sldId id="271" r:id="rId31"/>
  </p:sldIdLst>
  <p:sldSz cx="9144000" cy="5143500" type="screen16x9"/>
  <p:notesSz cx="51435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34777"/>
    <p:restoredTop sz="94610"/>
  </p:normalViewPr>
  <p:slideViewPr>
    <p:cSldViewPr snapToGrid="0" snapToObjects="1">
      <p:cViewPr>
        <p:scale>
          <a:sx n="124" d="100"/>
          <a:sy n="124" d="100"/>
        </p:scale>
        <p:origin x="-264" y="5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415134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813335" y="601724"/>
            <a:ext cx="6477805" cy="1906073"/>
          </a:xfrm>
        </p:spPr>
        <p:txBody>
          <a:bodyPr bIns="0" anchor="b">
            <a:normAutofit/>
          </a:bodyPr>
          <a:lstStyle>
            <a:lvl1pPr algn="l">
              <a:defRPr sz="4950"/>
            </a:lvl1pPr>
          </a:lstStyle>
          <a:p>
            <a:r>
              <a:rPr lang="en-US"/>
              <a:t>Click to edit Master title style</a:t>
            </a:r>
            <a:endParaRPr lang="en-US" dirty="0"/>
          </a:p>
        </p:txBody>
      </p:sp>
      <p:sp>
        <p:nvSpPr>
          <p:cNvPr id="3" name="Subtitle 2"/>
          <p:cNvSpPr>
            <a:spLocks noGrp="1"/>
          </p:cNvSpPr>
          <p:nvPr>
            <p:ph type="subTitle" idx="1"/>
          </p:nvPr>
        </p:nvSpPr>
        <p:spPr>
          <a:xfrm>
            <a:off x="1813335" y="2648403"/>
            <a:ext cx="6477804" cy="733216"/>
          </a:xfrm>
        </p:spPr>
        <p:txBody>
          <a:bodyPr tIns="91440" bIns="91440">
            <a:normAutofit/>
          </a:bodyPr>
          <a:lstStyle>
            <a:lvl1pPr marL="0" indent="0" algn="l">
              <a:buNone/>
              <a:defRPr sz="1350" b="0" cap="all" baseline="0">
                <a:solidFill>
                  <a:schemeClr val="tx1"/>
                </a:solidFill>
              </a:defRPr>
            </a:lvl1pPr>
            <a:lvl2pPr marL="342900" indent="0" algn="ctr">
              <a:buNone/>
              <a:defRPr sz="135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5/4/26</a:t>
            </a:fld>
            <a:endParaRPr lang="en-US" dirty="0"/>
          </a:p>
        </p:txBody>
      </p:sp>
      <p:sp>
        <p:nvSpPr>
          <p:cNvPr id="5" name="Footer Placeholder 4"/>
          <p:cNvSpPr>
            <a:spLocks noGrp="1"/>
          </p:cNvSpPr>
          <p:nvPr>
            <p:ph type="ftr" sz="quarter" idx="11"/>
          </p:nvPr>
        </p:nvSpPr>
        <p:spPr>
          <a:xfrm>
            <a:off x="1812376" y="246981"/>
            <a:ext cx="3730436" cy="231901"/>
          </a:xfrm>
        </p:spPr>
        <p:txBody>
          <a:bodyPr/>
          <a:lstStyle/>
          <a:p>
            <a:endParaRPr lang="en-US" dirty="0"/>
          </a:p>
        </p:txBody>
      </p:sp>
      <p:sp>
        <p:nvSpPr>
          <p:cNvPr id="6" name="Slide Number Placeholder 5"/>
          <p:cNvSpPr>
            <a:spLocks noGrp="1"/>
          </p:cNvSpPr>
          <p:nvPr>
            <p:ph type="sldNum" sz="quarter" idx="12"/>
          </p:nvPr>
        </p:nvSpPr>
        <p:spPr>
          <a:xfrm>
            <a:off x="1078249" y="599230"/>
            <a:ext cx="608264" cy="377684"/>
          </a:xfrm>
        </p:spPr>
        <p:txBody>
          <a:bodyPr/>
          <a:lstStyle/>
          <a:p>
            <a:fld id="{6D22F896-40B5-4ADD-8801-0D06FADFA095}" type="slidenum">
              <a:rPr lang="en-US" smtClean="0"/>
              <a:t>‹#›</a:t>
            </a:fld>
            <a:endParaRPr lang="en-US" dirty="0"/>
          </a:p>
        </p:txBody>
      </p:sp>
      <p:cxnSp>
        <p:nvCxnSpPr>
          <p:cNvPr id="15" name="Straight Connector 14"/>
          <p:cNvCxnSpPr/>
          <p:nvPr/>
        </p:nvCxnSpPr>
        <p:spPr>
          <a:xfrm>
            <a:off x="1813335" y="2646407"/>
            <a:ext cx="6477804"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572400847"/>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5/4/26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cxnSp>
        <p:nvCxnSpPr>
          <p:cNvPr id="33" name="Straight Connector 32"/>
          <p:cNvCxnSpPr/>
          <p:nvPr/>
        </p:nvCxnSpPr>
        <p:spPr>
          <a:xfrm>
            <a:off x="1090422" y="1385316"/>
            <a:ext cx="720564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584182455"/>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090679" y="1317097"/>
            <a:ext cx="6482366" cy="1415963"/>
          </a:xfrm>
        </p:spPr>
        <p:txBody>
          <a:bodyPr anchor="b">
            <a:normAutofit/>
          </a:bodyPr>
          <a:lstStyle>
            <a:lvl1pPr algn="l">
              <a:defRPr sz="2700"/>
            </a:lvl1pPr>
          </a:lstStyle>
          <a:p>
            <a:r>
              <a:rPr lang="en-US"/>
              <a:t>Click to edit Master title style</a:t>
            </a:r>
            <a:endParaRPr lang="en-US" dirty="0"/>
          </a:p>
        </p:txBody>
      </p:sp>
      <p:sp>
        <p:nvSpPr>
          <p:cNvPr id="3" name="Text Placeholder 2"/>
          <p:cNvSpPr>
            <a:spLocks noGrp="1"/>
          </p:cNvSpPr>
          <p:nvPr>
            <p:ph type="body" idx="1"/>
          </p:nvPr>
        </p:nvSpPr>
        <p:spPr>
          <a:xfrm>
            <a:off x="1090679" y="2854647"/>
            <a:ext cx="6472835" cy="759697"/>
          </a:xfrm>
        </p:spPr>
        <p:txBody>
          <a:bodyPr tIns="91440">
            <a:normAutofit/>
          </a:bodyPr>
          <a:lstStyle>
            <a:lvl1pPr marL="0" indent="0" algn="l">
              <a:buNone/>
              <a:defRPr sz="1350">
                <a:solidFill>
                  <a:schemeClr val="tx1"/>
                </a:solidFill>
              </a:defRPr>
            </a:lvl1pPr>
            <a:lvl2pPr marL="342900" indent="0">
              <a:buNone/>
              <a:defRPr sz="135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t>5/4/26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cxnSp>
        <p:nvCxnSpPr>
          <p:cNvPr id="15" name="Straight Connector 14"/>
          <p:cNvCxnSpPr/>
          <p:nvPr/>
        </p:nvCxnSpPr>
        <p:spPr>
          <a:xfrm>
            <a:off x="1090679" y="2853739"/>
            <a:ext cx="6472835"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009786472"/>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86913" y="603667"/>
            <a:ext cx="7204226" cy="79447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85498" y="1508159"/>
            <a:ext cx="3483864" cy="258644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810328" y="1513007"/>
            <a:ext cx="3483864" cy="25811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t>5/4/26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cxnSp>
        <p:nvCxnSpPr>
          <p:cNvPr id="35" name="Straight Connector 34"/>
          <p:cNvCxnSpPr/>
          <p:nvPr/>
        </p:nvCxnSpPr>
        <p:spPr>
          <a:xfrm>
            <a:off x="1090422" y="1385316"/>
            <a:ext cx="720564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033499870"/>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085394" y="603123"/>
            <a:ext cx="7205746" cy="79223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85393" y="1514662"/>
            <a:ext cx="3483864" cy="601457"/>
          </a:xfrm>
        </p:spPr>
        <p:txBody>
          <a:bodyPr anchor="b">
            <a:normAutofit/>
          </a:bodyPr>
          <a:lstStyle>
            <a:lvl1pPr marL="0" indent="0">
              <a:lnSpc>
                <a:spcPct val="100000"/>
              </a:lnSpc>
              <a:buNone/>
              <a:defRPr sz="1650" b="0" cap="all" baseline="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1085393" y="2118202"/>
            <a:ext cx="3483864" cy="198334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09272" y="1517253"/>
            <a:ext cx="3483864" cy="601678"/>
          </a:xfrm>
        </p:spPr>
        <p:txBody>
          <a:bodyPr anchor="b">
            <a:normAutofit/>
          </a:bodyPr>
          <a:lstStyle>
            <a:lvl1pPr marL="0" indent="0">
              <a:lnSpc>
                <a:spcPct val="100000"/>
              </a:lnSpc>
              <a:buNone/>
              <a:defRPr sz="1650" b="0" cap="all" baseline="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809272" y="2116119"/>
            <a:ext cx="3483864" cy="19780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t>5/4/26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cxnSp>
        <p:nvCxnSpPr>
          <p:cNvPr id="29" name="Straight Connector 28"/>
          <p:cNvCxnSpPr/>
          <p:nvPr/>
        </p:nvCxnSpPr>
        <p:spPr>
          <a:xfrm>
            <a:off x="1090422" y="1385316"/>
            <a:ext cx="720564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566520683"/>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t>5/4/26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cxnSp>
        <p:nvCxnSpPr>
          <p:cNvPr id="25" name="Straight Connector 24"/>
          <p:cNvCxnSpPr/>
          <p:nvPr/>
        </p:nvCxnSpPr>
        <p:spPr>
          <a:xfrm>
            <a:off x="1090422" y="1385316"/>
            <a:ext cx="720564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437705987"/>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smtClean="0"/>
              <a:t>5/4/26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55182328"/>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83504" y="599230"/>
            <a:ext cx="2454824" cy="1685338"/>
          </a:xfrm>
        </p:spPr>
        <p:txBody>
          <a:bodyPr anchor="b">
            <a:normAutofit/>
          </a:bodyPr>
          <a:lstStyle>
            <a:lvl1pPr algn="l">
              <a:defRPr sz="1800"/>
            </a:lvl1pPr>
          </a:lstStyle>
          <a:p>
            <a:r>
              <a:rPr lang="en-US"/>
              <a:t>Click to edit Master title style</a:t>
            </a:r>
            <a:endParaRPr lang="en-US" dirty="0"/>
          </a:p>
        </p:txBody>
      </p:sp>
      <p:sp>
        <p:nvSpPr>
          <p:cNvPr id="3" name="Content Placeholder 2"/>
          <p:cNvSpPr>
            <a:spLocks noGrp="1"/>
          </p:cNvSpPr>
          <p:nvPr>
            <p:ph idx="1"/>
          </p:nvPr>
        </p:nvSpPr>
        <p:spPr>
          <a:xfrm>
            <a:off x="3782785" y="599230"/>
            <a:ext cx="4509353" cy="349412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83504" y="2404119"/>
            <a:ext cx="2456260" cy="1686136"/>
          </a:xfrm>
        </p:spPr>
        <p:txBody>
          <a:bodyPr/>
          <a:lstStyle>
            <a:lvl1pPr marL="0" indent="0" algn="l">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5/4/26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cxnSp>
        <p:nvCxnSpPr>
          <p:cNvPr id="17" name="Straight Connector 16"/>
          <p:cNvCxnSpPr/>
          <p:nvPr/>
        </p:nvCxnSpPr>
        <p:spPr>
          <a:xfrm>
            <a:off x="1086210" y="2404118"/>
            <a:ext cx="2452118"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228364731"/>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5608041" y="361628"/>
            <a:ext cx="3055900" cy="3861826"/>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088405" y="847135"/>
            <a:ext cx="4149246" cy="1372938"/>
          </a:xfrm>
        </p:spPr>
        <p:txBody>
          <a:bodyPr anchor="b">
            <a:normAutofit/>
          </a:bodyPr>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3292" y="841907"/>
            <a:ext cx="2093378" cy="2899745"/>
          </a:xfrm>
          <a:solidFill>
            <a:schemeClr val="bg1">
              <a:lumMod val="85000"/>
            </a:schemeClr>
          </a:solidFill>
          <a:ln w="9525" cap="sq">
            <a:noFill/>
            <a:miter lim="800000"/>
          </a:ln>
          <a:effectLst/>
        </p:spPr>
        <p:txBody>
          <a:bodyPr anchor="t"/>
          <a:lstStyle>
            <a:lvl1pPr marL="0" indent="0" algn="ctr">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1087747" y="2359494"/>
            <a:ext cx="4143303" cy="1502807"/>
          </a:xfrm>
        </p:spPr>
        <p:txBody>
          <a:bodyPr>
            <a:normAutofit/>
          </a:bodyPr>
          <a:lstStyle>
            <a:lvl1pPr marL="0" indent="0" algn="l">
              <a:buNone/>
              <a:defRPr sz="135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a:xfrm>
            <a:off x="1085537" y="4102393"/>
            <a:ext cx="4145513" cy="240092"/>
          </a:xfrm>
        </p:spPr>
        <p:txBody>
          <a:bodyPr/>
          <a:lstStyle>
            <a:lvl1pPr algn="l">
              <a:defRPr/>
            </a:lvl1pPr>
          </a:lstStyle>
          <a:p>
            <a:fld id="{48A87A34-81AB-432B-8DAE-1953F412C126}" type="datetimeFigureOut">
              <a:rPr lang="en-US" smtClean="0"/>
              <a:pPr/>
              <a:t>5/4/26</a:t>
            </a:fld>
            <a:endParaRPr lang="en-US" dirty="0"/>
          </a:p>
        </p:txBody>
      </p:sp>
      <p:sp>
        <p:nvSpPr>
          <p:cNvPr id="6" name="Footer Placeholder 5"/>
          <p:cNvSpPr>
            <a:spLocks noGrp="1"/>
          </p:cNvSpPr>
          <p:nvPr>
            <p:ph type="ftr" sz="quarter" idx="11"/>
          </p:nvPr>
        </p:nvSpPr>
        <p:spPr>
          <a:xfrm>
            <a:off x="1085537" y="238981"/>
            <a:ext cx="4155753" cy="240698"/>
          </a:xfrm>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cxnSp>
        <p:nvCxnSpPr>
          <p:cNvPr id="31" name="Straight Connector 30"/>
          <p:cNvCxnSpPr/>
          <p:nvPr/>
        </p:nvCxnSpPr>
        <p:spPr>
          <a:xfrm>
            <a:off x="1085537" y="2357704"/>
            <a:ext cx="4145513"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51957003"/>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5/4/26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cxnSp>
        <p:nvCxnSpPr>
          <p:cNvPr id="26" name="Straight Connector 25"/>
          <p:cNvCxnSpPr/>
          <p:nvPr/>
        </p:nvCxnSpPr>
        <p:spPr>
          <a:xfrm>
            <a:off x="1090422" y="1385316"/>
            <a:ext cx="720564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237157669"/>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79333" y="599230"/>
            <a:ext cx="1211807" cy="3494917"/>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083504" y="599230"/>
            <a:ext cx="5871623" cy="34949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5/4/26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cxnSp>
        <p:nvCxnSpPr>
          <p:cNvPr id="15" name="Straight Connector 14"/>
          <p:cNvCxnSpPr/>
          <p:nvPr/>
        </p:nvCxnSpPr>
        <p:spPr>
          <a:xfrm>
            <a:off x="7079333" y="599230"/>
            <a:ext cx="0" cy="3494917"/>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527750345"/>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478369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1514607"/>
            <a:ext cx="9144000" cy="3079456"/>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7" name="Picture 6"/>
          <p:cNvPicPr>
            <a:picLocks noChangeAspect="1"/>
          </p:cNvPicPr>
          <p:nvPr/>
        </p:nvPicPr>
        <p:blipFill rotWithShape="1">
          <a:blip r:embed="rId14">
            <a:extLst>
              <a:ext uri="{28A0092B-C50C-407E-A947-70E740481C1C}">
                <a14:useLocalDpi xmlns:a14="http://schemas.microsoft.com/office/drawing/2010/main" val="0"/>
              </a:ext>
            </a:extLst>
          </a:blip>
          <a:srcRect t="1538" b="-1538"/>
          <a:stretch/>
        </p:blipFill>
        <p:spPr bwMode="black">
          <a:xfrm>
            <a:off x="0" y="4594860"/>
            <a:ext cx="9144000" cy="557213"/>
          </a:xfrm>
          <a:prstGeom prst="rect">
            <a:avLst/>
          </a:prstGeom>
        </p:spPr>
      </p:pic>
      <p:sp>
        <p:nvSpPr>
          <p:cNvPr id="2" name="Title Placeholder 1"/>
          <p:cNvSpPr>
            <a:spLocks noGrp="1"/>
          </p:cNvSpPr>
          <p:nvPr>
            <p:ph type="title"/>
          </p:nvPr>
        </p:nvSpPr>
        <p:spPr>
          <a:xfrm>
            <a:off x="1088685" y="603390"/>
            <a:ext cx="7202456" cy="786926"/>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088685" y="1511799"/>
            <a:ext cx="7202456" cy="258796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665604" y="247778"/>
            <a:ext cx="2625536" cy="231901"/>
          </a:xfrm>
          <a:prstGeom prst="rect">
            <a:avLst/>
          </a:prstGeom>
        </p:spPr>
        <p:txBody>
          <a:bodyPr vert="horz" lIns="91440" tIns="45720" rIns="91440" bIns="45720" rtlCol="0" anchor="ctr"/>
          <a:lstStyle>
            <a:lvl1pPr algn="r">
              <a:defRPr sz="750">
                <a:solidFill>
                  <a:schemeClr val="tx1">
                    <a:tint val="75000"/>
                  </a:schemeClr>
                </a:solidFill>
              </a:defRPr>
            </a:lvl1pPr>
          </a:lstStyle>
          <a:p>
            <a:fld id="{48A87A34-81AB-432B-8DAE-1953F412C126}" type="datetimeFigureOut">
              <a:rPr lang="en-US" smtClean="0"/>
              <a:pPr/>
              <a:t>5/4/26</a:t>
            </a:fld>
            <a:endParaRPr lang="en-US" dirty="0"/>
          </a:p>
        </p:txBody>
      </p:sp>
      <p:sp>
        <p:nvSpPr>
          <p:cNvPr id="5" name="Footer Placeholder 4"/>
          <p:cNvSpPr>
            <a:spLocks noGrp="1"/>
          </p:cNvSpPr>
          <p:nvPr>
            <p:ph type="ftr" sz="quarter" idx="3"/>
          </p:nvPr>
        </p:nvSpPr>
        <p:spPr>
          <a:xfrm>
            <a:off x="1088684" y="246981"/>
            <a:ext cx="4454127" cy="231901"/>
          </a:xfrm>
          <a:prstGeom prst="rect">
            <a:avLst/>
          </a:prstGeom>
        </p:spPr>
        <p:txBody>
          <a:bodyPr vert="horz" lIns="91440" tIns="45720" rIns="91440" bIns="45720" rtlCol="0" anchor="ctr"/>
          <a:lstStyle>
            <a:lvl1pPr algn="l">
              <a:defRPr sz="75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360046" y="599230"/>
            <a:ext cx="608264" cy="377684"/>
          </a:xfrm>
          <a:prstGeom prst="rect">
            <a:avLst/>
          </a:prstGeom>
        </p:spPr>
        <p:txBody>
          <a:bodyPr vert="horz" lIns="91440" tIns="45720" rIns="91440" bIns="45720" rtlCol="0" anchor="t"/>
          <a:lstStyle>
            <a:lvl1pPr algn="r">
              <a:defRPr sz="2100">
                <a:solidFill>
                  <a:schemeClr val="accent1"/>
                </a:solidFill>
              </a:defRPr>
            </a:lvl1pPr>
          </a:lstStyle>
          <a:p>
            <a:fld id="{6D22F896-40B5-4ADD-8801-0D06FADFA095}" type="slidenum">
              <a:rPr lang="en-US" smtClean="0"/>
              <a:pPr/>
              <a:t>‹#›</a:t>
            </a:fld>
            <a:endParaRPr lang="en-US" dirty="0"/>
          </a:p>
        </p:txBody>
      </p:sp>
      <p:cxnSp>
        <p:nvCxnSpPr>
          <p:cNvPr id="10" name="Straight Connector 9"/>
          <p:cNvCxnSpPr/>
          <p:nvPr/>
        </p:nvCxnSpPr>
        <p:spPr>
          <a:xfrm>
            <a:off x="0" y="4596310"/>
            <a:ext cx="9144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90862727"/>
      </p:ext>
    </p:extLst>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 id="2147483688" r:id="rId12"/>
  </p:sldLayoutIdLst>
  <p:hf sldNum="0" hdr="0" ftr="0" dt="0"/>
  <p:txStyles>
    <p:titleStyle>
      <a:lvl1pPr algn="l" defTabSz="685800" rtl="0" eaLnBrk="1" latinLnBrk="0" hangingPunct="1">
        <a:lnSpc>
          <a:spcPct val="90000"/>
        </a:lnSpc>
        <a:spcBef>
          <a:spcPct val="0"/>
        </a:spcBef>
        <a:buNone/>
        <a:defRPr sz="2400" b="0" i="0" kern="1200" cap="all">
          <a:solidFill>
            <a:schemeClr val="tx1"/>
          </a:solidFill>
          <a:effectLst/>
          <a:latin typeface="+mj-lt"/>
          <a:ea typeface="+mj-ea"/>
          <a:cs typeface="+mj-cs"/>
        </a:defRPr>
      </a:lvl1pPr>
    </p:titleStyle>
    <p:bodyStyle>
      <a:lvl1pPr marL="171450" indent="-171450" algn="l" defTabSz="685800" rtl="0" eaLnBrk="1" latinLnBrk="0" hangingPunct="1">
        <a:lnSpc>
          <a:spcPct val="120000"/>
        </a:lnSpc>
        <a:spcBef>
          <a:spcPts val="750"/>
        </a:spcBef>
        <a:buClr>
          <a:schemeClr val="accent1"/>
        </a:buClr>
        <a:buSzPct val="100000"/>
        <a:buFont typeface="Arial" panose="020B0604020202020204" pitchFamily="34" charset="0"/>
        <a:buChar char="•"/>
        <a:defRPr sz="1500" kern="1200">
          <a:solidFill>
            <a:schemeClr val="tx1"/>
          </a:solidFill>
          <a:effectLst/>
          <a:latin typeface="+mn-lt"/>
          <a:ea typeface="+mn-ea"/>
          <a:cs typeface="+mn-cs"/>
        </a:defRPr>
      </a:lvl1pPr>
      <a:lvl2pPr marL="5143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1350" kern="1200" cap="none" baseline="0">
          <a:solidFill>
            <a:schemeClr val="tx1"/>
          </a:solidFill>
          <a:effectLst/>
          <a:latin typeface="+mn-lt"/>
          <a:ea typeface="+mn-ea"/>
          <a:cs typeface="+mn-cs"/>
        </a:defRPr>
      </a:lvl2pPr>
      <a:lvl3pPr marL="8572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3pPr>
      <a:lvl4pPr marL="12001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1050" kern="1200" cap="none" baseline="0">
          <a:solidFill>
            <a:schemeClr val="tx1"/>
          </a:solidFill>
          <a:effectLst/>
          <a:latin typeface="+mn-lt"/>
          <a:ea typeface="+mn-ea"/>
          <a:cs typeface="+mn-cs"/>
        </a:defRPr>
      </a:lvl4pPr>
      <a:lvl5pPr marL="15430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900" kern="1200">
          <a:solidFill>
            <a:schemeClr val="tx1"/>
          </a:solidFill>
          <a:effectLst/>
          <a:latin typeface="+mn-lt"/>
          <a:ea typeface="+mn-ea"/>
          <a:cs typeface="+mn-cs"/>
        </a:defRPr>
      </a:lvl5pPr>
      <a:lvl6pPr marL="18859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900" kern="1200">
          <a:solidFill>
            <a:schemeClr val="tx1"/>
          </a:solidFill>
          <a:effectLst/>
          <a:latin typeface="+mn-lt"/>
          <a:ea typeface="+mn-ea"/>
          <a:cs typeface="+mn-cs"/>
        </a:defRPr>
      </a:lvl6pPr>
      <a:lvl7pPr marL="22288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900" kern="1200">
          <a:solidFill>
            <a:schemeClr val="tx1"/>
          </a:solidFill>
          <a:effectLst/>
          <a:latin typeface="+mn-lt"/>
          <a:ea typeface="+mn-ea"/>
          <a:cs typeface="+mn-cs"/>
        </a:defRPr>
      </a:lvl7pPr>
      <a:lvl8pPr marL="25717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900" kern="1200" baseline="0">
          <a:solidFill>
            <a:schemeClr val="tx1"/>
          </a:solidFill>
          <a:effectLst/>
          <a:latin typeface="+mn-lt"/>
          <a:ea typeface="+mn-ea"/>
          <a:cs typeface="+mn-cs"/>
        </a:defRPr>
      </a:lvl8pPr>
      <a:lvl9pPr marL="29146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900" kern="1200" baseline="0">
          <a:solidFill>
            <a:schemeClr val="tx1"/>
          </a:solidFill>
          <a:effectLst/>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1.jp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p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p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3A5F"/>
        </a:solidFill>
        <a:effectLst/>
      </p:bgPr>
    </p:bg>
    <p:spTree>
      <p:nvGrpSpPr>
        <p:cNvPr id="1" name=""/>
        <p:cNvGrpSpPr/>
        <p:nvPr/>
      </p:nvGrpSpPr>
      <p:grpSpPr>
        <a:xfrm>
          <a:off x="0" y="0"/>
          <a:ext cx="0" cy="0"/>
          <a:chOff x="0" y="0"/>
          <a:chExt cx="0" cy="0"/>
        </a:xfrm>
      </p:grpSpPr>
      <p:sp>
        <p:nvSpPr>
          <p:cNvPr id="2" name="Shape 0"/>
          <p:cNvSpPr/>
          <p:nvPr/>
        </p:nvSpPr>
        <p:spPr>
          <a:xfrm>
            <a:off x="0" y="3474720"/>
            <a:ext cx="9144000" cy="1737360"/>
          </a:xfrm>
          <a:prstGeom prst="rect">
            <a:avLst/>
          </a:prstGeom>
          <a:solidFill>
            <a:srgbClr val="2E75B6"/>
          </a:solidFill>
          <a:ln w="12700">
            <a:solidFill>
              <a:srgbClr val="2E75B6"/>
            </a:solidFill>
            <a:prstDash val="solid"/>
          </a:ln>
        </p:spPr>
        <p:txBody>
          <a:bodyPr/>
          <a:lstStyle/>
          <a:p>
            <a:endParaRPr lang="en-ZA"/>
          </a:p>
        </p:txBody>
      </p:sp>
      <p:sp>
        <p:nvSpPr>
          <p:cNvPr id="3" name="Text 1"/>
          <p:cNvSpPr/>
          <p:nvPr/>
        </p:nvSpPr>
        <p:spPr>
          <a:xfrm>
            <a:off x="457200" y="320040"/>
            <a:ext cx="8229600" cy="457200"/>
          </a:xfrm>
          <a:prstGeom prst="rect">
            <a:avLst/>
          </a:prstGeom>
          <a:noFill/>
          <a:ln/>
        </p:spPr>
        <p:txBody>
          <a:bodyPr wrap="square" rtlCol="0" anchor="ctr"/>
          <a:lstStyle/>
          <a:p>
            <a:pPr marL="0" indent="0">
              <a:buNone/>
            </a:pPr>
            <a:r>
              <a:rPr lang="en-US" sz="1400" dirty="0">
                <a:solidFill>
                  <a:srgbClr val="00A3E0"/>
                </a:solidFill>
                <a:latin typeface="Calibri" pitchFamily="34" charset="0"/>
                <a:ea typeface="Calibri" pitchFamily="34" charset="-122"/>
                <a:cs typeface="Calibri" pitchFamily="34" charset="-120"/>
              </a:rPr>
              <a:t>CMPG315 — Computer Networks</a:t>
            </a:r>
            <a:endParaRPr lang="en-US" sz="1400" dirty="0"/>
          </a:p>
        </p:txBody>
      </p:sp>
      <p:sp>
        <p:nvSpPr>
          <p:cNvPr id="4" name="Text 2"/>
          <p:cNvSpPr/>
          <p:nvPr/>
        </p:nvSpPr>
        <p:spPr>
          <a:xfrm>
            <a:off x="457200" y="777240"/>
            <a:ext cx="8229600" cy="2011680"/>
          </a:xfrm>
          <a:prstGeom prst="rect">
            <a:avLst/>
          </a:prstGeom>
          <a:noFill/>
          <a:ln/>
        </p:spPr>
        <p:txBody>
          <a:bodyPr wrap="square" rtlCol="0" anchor="ctr"/>
          <a:lstStyle/>
          <a:p>
            <a:pPr marL="0" indent="0">
              <a:buNone/>
            </a:pPr>
            <a:r>
              <a:rPr lang="en-US" sz="4400" b="1" dirty="0">
                <a:solidFill>
                  <a:srgbClr val="FFFFFF"/>
                </a:solidFill>
                <a:latin typeface="Calibri" pitchFamily="34" charset="0"/>
                <a:ea typeface="Calibri" pitchFamily="34" charset="-122"/>
                <a:cs typeface="Calibri" pitchFamily="34" charset="-120"/>
              </a:rPr>
              <a:t>Network Design &amp;</a:t>
            </a:r>
            <a:endParaRPr lang="en-US" sz="4400" dirty="0"/>
          </a:p>
          <a:p>
            <a:pPr marL="0" indent="0">
              <a:buNone/>
            </a:pPr>
            <a:r>
              <a:rPr lang="en-US" sz="4400" b="1" dirty="0">
                <a:solidFill>
                  <a:srgbClr val="FFFFFF"/>
                </a:solidFill>
                <a:latin typeface="Calibri" pitchFamily="34" charset="0"/>
                <a:ea typeface="Calibri" pitchFamily="34" charset="-122"/>
                <a:cs typeface="Calibri" pitchFamily="34" charset="-120"/>
              </a:rPr>
              <a:t>Implementation</a:t>
            </a:r>
            <a:endParaRPr lang="en-US" sz="4400" dirty="0"/>
          </a:p>
        </p:txBody>
      </p:sp>
      <p:sp>
        <p:nvSpPr>
          <p:cNvPr id="5" name="Text 3"/>
          <p:cNvSpPr/>
          <p:nvPr/>
        </p:nvSpPr>
        <p:spPr>
          <a:xfrm>
            <a:off x="457200" y="3611880"/>
            <a:ext cx="8229600" cy="457200"/>
          </a:xfrm>
          <a:prstGeom prst="rect">
            <a:avLst/>
          </a:prstGeom>
          <a:noFill/>
          <a:ln/>
        </p:spPr>
        <p:txBody>
          <a:bodyPr wrap="square" rtlCol="0" anchor="ctr"/>
          <a:lstStyle/>
          <a:p>
            <a:pPr marL="0" indent="0">
              <a:buNone/>
            </a:pPr>
            <a:r>
              <a:rPr lang="en-US" sz="1500" dirty="0">
                <a:solidFill>
                  <a:srgbClr val="FFFFFF"/>
                </a:solidFill>
                <a:latin typeface="Calibri" pitchFamily="34" charset="0"/>
                <a:ea typeface="Calibri" pitchFamily="34" charset="-122"/>
                <a:cs typeface="Calibri" pitchFamily="34" charset="-120"/>
              </a:rPr>
              <a:t>Group 13  |  North-West University  |  2026</a:t>
            </a:r>
            <a:endParaRPr lang="en-US" sz="1500" dirty="0"/>
          </a:p>
        </p:txBody>
      </p:sp>
      <p:sp>
        <p:nvSpPr>
          <p:cNvPr id="6" name="Text 4"/>
          <p:cNvSpPr/>
          <p:nvPr/>
        </p:nvSpPr>
        <p:spPr>
          <a:xfrm>
            <a:off x="457200" y="4114800"/>
            <a:ext cx="8229600" cy="365760"/>
          </a:xfrm>
          <a:prstGeom prst="rect">
            <a:avLst/>
          </a:prstGeom>
          <a:noFill/>
          <a:ln/>
        </p:spPr>
        <p:txBody>
          <a:bodyPr wrap="square" rtlCol="0" anchor="ctr"/>
          <a:lstStyle/>
          <a:p>
            <a:pPr marL="0" indent="0">
              <a:buNone/>
            </a:pPr>
            <a:r>
              <a:rPr lang="en-US" sz="1200" i="1" dirty="0">
                <a:solidFill>
                  <a:srgbClr val="E8F0F8"/>
                </a:solidFill>
                <a:latin typeface="Calibri" pitchFamily="34" charset="0"/>
                <a:ea typeface="Calibri" pitchFamily="34" charset="-122"/>
                <a:cs typeface="Calibri" pitchFamily="34" charset="-120"/>
              </a:rPr>
              <a:t>Centralised Hierarchical Network  |  Router-on-a-Stick  |  VLAN Isolation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E3A5F"/>
          </a:solidFill>
          <a:ln w="12700">
            <a:solidFill>
              <a:srgbClr val="1E3A5F"/>
            </a:solidFill>
            <a:prstDash val="solid"/>
          </a:ln>
        </p:spPr>
        <p:txBody>
          <a:bodyPr/>
          <a:lstStyle/>
          <a:p>
            <a:endParaRPr lang="en-ZA"/>
          </a:p>
        </p:txBody>
      </p:sp>
      <p:sp>
        <p:nvSpPr>
          <p:cNvPr id="3" name="Text 1"/>
          <p:cNvSpPr/>
          <p:nvPr/>
        </p:nvSpPr>
        <p:spPr>
          <a:xfrm>
            <a:off x="365760" y="0"/>
            <a:ext cx="8412480" cy="100584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Project Overview</a:t>
            </a:r>
            <a:endParaRPr lang="en-US" sz="2600" dirty="0"/>
          </a:p>
        </p:txBody>
      </p:sp>
      <p:sp>
        <p:nvSpPr>
          <p:cNvPr id="4" name="Text 2"/>
          <p:cNvSpPr/>
          <p:nvPr/>
        </p:nvSpPr>
        <p:spPr>
          <a:xfrm>
            <a:off x="365760" y="1097280"/>
            <a:ext cx="8229600" cy="347472"/>
          </a:xfrm>
          <a:prstGeom prst="rect">
            <a:avLst/>
          </a:prstGeom>
          <a:noFill/>
          <a:ln/>
        </p:spPr>
        <p:txBody>
          <a:bodyPr wrap="square" rtlCol="0" anchor="ctr"/>
          <a:lstStyle/>
          <a:p>
            <a:pPr marL="0" indent="0">
              <a:buNone/>
            </a:pPr>
            <a:r>
              <a:rPr lang="en-US" sz="1400" b="1" dirty="0">
                <a:solidFill>
                  <a:srgbClr val="1E3A5F"/>
                </a:solidFill>
                <a:latin typeface="Calibri" pitchFamily="34" charset="0"/>
                <a:ea typeface="Calibri" pitchFamily="34" charset="-122"/>
                <a:cs typeface="Calibri" pitchFamily="34" charset="-120"/>
              </a:rPr>
              <a:t>The Problem</a:t>
            </a:r>
            <a:endParaRPr lang="en-US" sz="1400" dirty="0"/>
          </a:p>
        </p:txBody>
      </p:sp>
      <p:sp>
        <p:nvSpPr>
          <p:cNvPr id="5" name="Text 3"/>
          <p:cNvSpPr/>
          <p:nvPr/>
        </p:nvSpPr>
        <p:spPr>
          <a:xfrm>
            <a:off x="365760" y="1463040"/>
            <a:ext cx="8412480" cy="594360"/>
          </a:xfrm>
          <a:prstGeom prst="rect">
            <a:avLst/>
          </a:prstGeom>
          <a:noFill/>
          <a:ln/>
        </p:spPr>
        <p:txBody>
          <a:bodyPr wrap="square" rtlCol="0" anchor="ctr"/>
          <a:lstStyle/>
          <a:p>
            <a:pPr marL="0" indent="0" algn="just">
              <a:buNone/>
            </a:pPr>
            <a:r>
              <a:rPr lang="en-US" sz="1200" dirty="0">
                <a:solidFill>
                  <a:srgbClr val="1A1A2E"/>
                </a:solidFill>
                <a:latin typeface="Calibri" pitchFamily="34" charset="0"/>
                <a:ea typeface="Calibri" pitchFamily="34" charset="-122"/>
                <a:cs typeface="Calibri" pitchFamily="34" charset="-120"/>
              </a:rPr>
              <a:t>An IT company expanding into a new single-</a:t>
            </a:r>
            <a:r>
              <a:rPr lang="en-US" sz="1200" dirty="0" err="1">
                <a:solidFill>
                  <a:srgbClr val="1A1A2E"/>
                </a:solidFill>
                <a:latin typeface="Calibri" pitchFamily="34" charset="0"/>
                <a:ea typeface="Calibri" pitchFamily="34" charset="-122"/>
                <a:cs typeface="Calibri" pitchFamily="34" charset="-120"/>
              </a:rPr>
              <a:t>storey</a:t>
            </a:r>
            <a:r>
              <a:rPr lang="en-US" sz="1200" dirty="0">
                <a:solidFill>
                  <a:srgbClr val="1A1A2E"/>
                </a:solidFill>
                <a:latin typeface="Calibri" pitchFamily="34" charset="0"/>
                <a:ea typeface="Calibri" pitchFamily="34" charset="-122"/>
                <a:cs typeface="Calibri" pitchFamily="34" charset="-120"/>
              </a:rPr>
              <a:t> office building needs a complete network connecting all sections while keeping them isolated from each other, sharing a single ISP internet connection, and keeping costs as low as possible. The new office space includes:</a:t>
            </a:r>
            <a:endParaRPr lang="en-US" sz="1200" dirty="0"/>
          </a:p>
        </p:txBody>
      </p:sp>
      <p:sp>
        <p:nvSpPr>
          <p:cNvPr id="6" name="Shape 4"/>
          <p:cNvSpPr/>
          <p:nvPr/>
        </p:nvSpPr>
        <p:spPr>
          <a:xfrm>
            <a:off x="274320" y="2148840"/>
            <a:ext cx="4114800" cy="438912"/>
          </a:xfrm>
          <a:prstGeom prst="rect">
            <a:avLst/>
          </a:prstGeom>
          <a:solidFill>
            <a:srgbClr val="E8F0F8"/>
          </a:solidFill>
          <a:ln w="12700">
            <a:solidFill>
              <a:srgbClr val="CCDDEE"/>
            </a:solidFill>
            <a:prstDash val="solid"/>
          </a:ln>
        </p:spPr>
        <p:txBody>
          <a:bodyPr/>
          <a:lstStyle/>
          <a:p>
            <a:endParaRPr lang="en-ZA"/>
          </a:p>
        </p:txBody>
      </p:sp>
      <p:sp>
        <p:nvSpPr>
          <p:cNvPr id="7" name="Text 5"/>
          <p:cNvSpPr/>
          <p:nvPr/>
        </p:nvSpPr>
        <p:spPr>
          <a:xfrm>
            <a:off x="365760" y="2148840"/>
            <a:ext cx="3931920" cy="438912"/>
          </a:xfrm>
          <a:prstGeom prst="rect">
            <a:avLst/>
          </a:prstGeom>
          <a:noFill/>
          <a:ln/>
        </p:spPr>
        <p:txBody>
          <a:bodyPr wrap="square" rtlCol="0" anchor="ctr"/>
          <a:lstStyle/>
          <a:p>
            <a:pPr marL="0" indent="0">
              <a:buNone/>
            </a:pPr>
            <a:r>
              <a:rPr lang="en-US" sz="1100" b="1" dirty="0">
                <a:solidFill>
                  <a:srgbClr val="1E3A5F"/>
                </a:solidFill>
                <a:latin typeface="Calibri" pitchFamily="34" charset="0"/>
                <a:ea typeface="Calibri" pitchFamily="34" charset="-122"/>
                <a:cs typeface="Calibri" pitchFamily="34" charset="-120"/>
              </a:rPr>
              <a:t>13 Offices </a:t>
            </a:r>
            <a:r>
              <a:rPr lang="en-US" sz="1000" b="1" dirty="0">
                <a:solidFill>
                  <a:srgbClr val="2E75B6"/>
                </a:solidFill>
                <a:latin typeface="Calibri" pitchFamily="34" charset="0"/>
                <a:ea typeface="Calibri" pitchFamily="34" charset="-122"/>
                <a:cs typeface="Calibri" pitchFamily="34" charset="-120"/>
              </a:rPr>
              <a:t>VLAN 10 — </a:t>
            </a:r>
            <a:r>
              <a:rPr lang="en-US" sz="1000" dirty="0">
                <a:solidFill>
                  <a:srgbClr val="1A1A2E"/>
                </a:solidFill>
                <a:latin typeface="Calibri" pitchFamily="34" charset="0"/>
                <a:ea typeface="Calibri" pitchFamily="34" charset="-122"/>
                <a:cs typeface="Calibri" pitchFamily="34" charset="-120"/>
              </a:rPr>
              <a:t>36 wired + 108 WiFi devices</a:t>
            </a:r>
            <a:endParaRPr lang="en-US" sz="1100" dirty="0"/>
          </a:p>
        </p:txBody>
      </p:sp>
      <p:sp>
        <p:nvSpPr>
          <p:cNvPr id="8" name="Shape 6"/>
          <p:cNvSpPr/>
          <p:nvPr/>
        </p:nvSpPr>
        <p:spPr>
          <a:xfrm>
            <a:off x="274320" y="2624328"/>
            <a:ext cx="4114800" cy="438912"/>
          </a:xfrm>
          <a:prstGeom prst="rect">
            <a:avLst/>
          </a:prstGeom>
          <a:solidFill>
            <a:srgbClr val="FFFFFF"/>
          </a:solidFill>
          <a:ln w="12700">
            <a:solidFill>
              <a:srgbClr val="CCDDEE"/>
            </a:solidFill>
            <a:prstDash val="solid"/>
          </a:ln>
        </p:spPr>
        <p:txBody>
          <a:bodyPr/>
          <a:lstStyle/>
          <a:p>
            <a:endParaRPr lang="en-ZA"/>
          </a:p>
        </p:txBody>
      </p:sp>
      <p:sp>
        <p:nvSpPr>
          <p:cNvPr id="9" name="Text 7"/>
          <p:cNvSpPr/>
          <p:nvPr/>
        </p:nvSpPr>
        <p:spPr>
          <a:xfrm>
            <a:off x="365760" y="2624328"/>
            <a:ext cx="3931920" cy="438912"/>
          </a:xfrm>
          <a:prstGeom prst="rect">
            <a:avLst/>
          </a:prstGeom>
          <a:noFill/>
          <a:ln/>
        </p:spPr>
        <p:txBody>
          <a:bodyPr wrap="square" rtlCol="0" anchor="ctr"/>
          <a:lstStyle/>
          <a:p>
            <a:pPr marL="0" indent="0">
              <a:buNone/>
            </a:pPr>
            <a:r>
              <a:rPr lang="en-US" sz="1100" b="1" dirty="0">
                <a:solidFill>
                  <a:srgbClr val="1E3A5F"/>
                </a:solidFill>
                <a:latin typeface="Calibri" pitchFamily="34" charset="0"/>
                <a:ea typeface="Calibri" pitchFamily="34" charset="-122"/>
                <a:cs typeface="Calibri" pitchFamily="34" charset="-120"/>
              </a:rPr>
              <a:t>Technicians Office </a:t>
            </a:r>
            <a:r>
              <a:rPr lang="en-US" sz="1000" b="1" dirty="0">
                <a:solidFill>
                  <a:srgbClr val="2E75B6"/>
                </a:solidFill>
                <a:latin typeface="Calibri" pitchFamily="34" charset="0"/>
                <a:ea typeface="Calibri" pitchFamily="34" charset="-122"/>
                <a:cs typeface="Calibri" pitchFamily="34" charset="-120"/>
              </a:rPr>
              <a:t>VLAN 20 — </a:t>
            </a:r>
            <a:r>
              <a:rPr lang="en-US" sz="1000" dirty="0">
                <a:solidFill>
                  <a:srgbClr val="1A1A2E"/>
                </a:solidFill>
                <a:latin typeface="Calibri" pitchFamily="34" charset="0"/>
                <a:ea typeface="Calibri" pitchFamily="34" charset="-122"/>
                <a:cs typeface="Calibri" pitchFamily="34" charset="-120"/>
              </a:rPr>
              <a:t>6 wired + 16 WiFi devices</a:t>
            </a:r>
            <a:endParaRPr lang="en-US" sz="1100" dirty="0"/>
          </a:p>
        </p:txBody>
      </p:sp>
      <p:sp>
        <p:nvSpPr>
          <p:cNvPr id="10" name="Shape 8"/>
          <p:cNvSpPr/>
          <p:nvPr/>
        </p:nvSpPr>
        <p:spPr>
          <a:xfrm>
            <a:off x="274320" y="3099816"/>
            <a:ext cx="4114800" cy="438912"/>
          </a:xfrm>
          <a:prstGeom prst="rect">
            <a:avLst/>
          </a:prstGeom>
          <a:solidFill>
            <a:srgbClr val="E8F0F8"/>
          </a:solidFill>
          <a:ln w="12700">
            <a:solidFill>
              <a:srgbClr val="CCDDEE"/>
            </a:solidFill>
            <a:prstDash val="solid"/>
          </a:ln>
        </p:spPr>
        <p:txBody>
          <a:bodyPr/>
          <a:lstStyle/>
          <a:p>
            <a:endParaRPr lang="en-ZA"/>
          </a:p>
        </p:txBody>
      </p:sp>
      <p:sp>
        <p:nvSpPr>
          <p:cNvPr id="11" name="Text 9"/>
          <p:cNvSpPr/>
          <p:nvPr/>
        </p:nvSpPr>
        <p:spPr>
          <a:xfrm>
            <a:off x="365760" y="3099816"/>
            <a:ext cx="3931920" cy="438912"/>
          </a:xfrm>
          <a:prstGeom prst="rect">
            <a:avLst/>
          </a:prstGeom>
          <a:noFill/>
          <a:ln/>
        </p:spPr>
        <p:txBody>
          <a:bodyPr wrap="square" rtlCol="0" anchor="ctr"/>
          <a:lstStyle/>
          <a:p>
            <a:pPr marL="0" indent="0">
              <a:buNone/>
            </a:pPr>
            <a:r>
              <a:rPr lang="en-US" sz="1100" b="1" dirty="0">
                <a:solidFill>
                  <a:srgbClr val="1E3A5F"/>
                </a:solidFill>
                <a:latin typeface="Calibri" pitchFamily="34" charset="0"/>
                <a:ea typeface="Calibri" pitchFamily="34" charset="-122"/>
                <a:cs typeface="Calibri" pitchFamily="34" charset="-120"/>
              </a:rPr>
              <a:t>Reception </a:t>
            </a:r>
            <a:r>
              <a:rPr lang="en-US" sz="1000" b="1" dirty="0">
                <a:solidFill>
                  <a:srgbClr val="2E75B6"/>
                </a:solidFill>
                <a:latin typeface="Calibri" pitchFamily="34" charset="0"/>
                <a:ea typeface="Calibri" pitchFamily="34" charset="-122"/>
                <a:cs typeface="Calibri" pitchFamily="34" charset="-120"/>
              </a:rPr>
              <a:t>VLAN 30 — </a:t>
            </a:r>
            <a:r>
              <a:rPr lang="en-US" sz="1000" dirty="0">
                <a:solidFill>
                  <a:srgbClr val="1A1A2E"/>
                </a:solidFill>
                <a:latin typeface="Calibri" pitchFamily="34" charset="0"/>
                <a:ea typeface="Calibri" pitchFamily="34" charset="-122"/>
                <a:cs typeface="Calibri" pitchFamily="34" charset="-120"/>
              </a:rPr>
              <a:t>2 wired + staff &amp; guest WiFi</a:t>
            </a:r>
            <a:endParaRPr lang="en-US" sz="1100" dirty="0"/>
          </a:p>
        </p:txBody>
      </p:sp>
      <p:sp>
        <p:nvSpPr>
          <p:cNvPr id="12" name="Shape 10"/>
          <p:cNvSpPr/>
          <p:nvPr/>
        </p:nvSpPr>
        <p:spPr>
          <a:xfrm>
            <a:off x="274320" y="3575304"/>
            <a:ext cx="4114800" cy="438912"/>
          </a:xfrm>
          <a:prstGeom prst="rect">
            <a:avLst/>
          </a:prstGeom>
          <a:solidFill>
            <a:srgbClr val="FFFFFF"/>
          </a:solidFill>
          <a:ln w="12700">
            <a:solidFill>
              <a:srgbClr val="CCDDEE"/>
            </a:solidFill>
            <a:prstDash val="solid"/>
          </a:ln>
        </p:spPr>
        <p:txBody>
          <a:bodyPr/>
          <a:lstStyle/>
          <a:p>
            <a:endParaRPr lang="en-ZA"/>
          </a:p>
        </p:txBody>
      </p:sp>
      <p:sp>
        <p:nvSpPr>
          <p:cNvPr id="13" name="Text 11"/>
          <p:cNvSpPr/>
          <p:nvPr/>
        </p:nvSpPr>
        <p:spPr>
          <a:xfrm>
            <a:off x="365760" y="3575304"/>
            <a:ext cx="3931920" cy="438912"/>
          </a:xfrm>
          <a:prstGeom prst="rect">
            <a:avLst/>
          </a:prstGeom>
          <a:noFill/>
          <a:ln/>
        </p:spPr>
        <p:txBody>
          <a:bodyPr wrap="square" rtlCol="0" anchor="ctr"/>
          <a:lstStyle/>
          <a:p>
            <a:pPr marL="0" indent="0">
              <a:buNone/>
            </a:pPr>
            <a:r>
              <a:rPr lang="en-US" sz="1100" b="1" dirty="0">
                <a:solidFill>
                  <a:srgbClr val="1E3A5F"/>
                </a:solidFill>
                <a:latin typeface="Calibri" pitchFamily="34" charset="0"/>
                <a:ea typeface="Calibri" pitchFamily="34" charset="-122"/>
                <a:cs typeface="Calibri" pitchFamily="34" charset="-120"/>
              </a:rPr>
              <a:t>Kitchen </a:t>
            </a:r>
            <a:r>
              <a:rPr lang="en-US" sz="1000" b="1" dirty="0">
                <a:solidFill>
                  <a:srgbClr val="2E75B6"/>
                </a:solidFill>
                <a:latin typeface="Calibri" pitchFamily="34" charset="0"/>
                <a:ea typeface="Calibri" pitchFamily="34" charset="-122"/>
                <a:cs typeface="Calibri" pitchFamily="34" charset="-120"/>
              </a:rPr>
              <a:t>VLAN 40 — </a:t>
            </a:r>
            <a:r>
              <a:rPr lang="en-US" sz="1000" dirty="0">
                <a:solidFill>
                  <a:srgbClr val="1A1A2E"/>
                </a:solidFill>
                <a:latin typeface="Calibri" pitchFamily="34" charset="0"/>
                <a:ea typeface="Calibri" pitchFamily="34" charset="-122"/>
                <a:cs typeface="Calibri" pitchFamily="34" charset="-120"/>
              </a:rPr>
              <a:t>4 IoT wired + 10 WiFi</a:t>
            </a:r>
            <a:endParaRPr lang="en-US" sz="1100" dirty="0"/>
          </a:p>
        </p:txBody>
      </p:sp>
      <p:sp>
        <p:nvSpPr>
          <p:cNvPr id="14" name="Shape 12"/>
          <p:cNvSpPr/>
          <p:nvPr/>
        </p:nvSpPr>
        <p:spPr>
          <a:xfrm>
            <a:off x="4663440" y="2148840"/>
            <a:ext cx="4114800" cy="438912"/>
          </a:xfrm>
          <a:prstGeom prst="rect">
            <a:avLst/>
          </a:prstGeom>
          <a:solidFill>
            <a:srgbClr val="E8F0F8"/>
          </a:solidFill>
          <a:ln w="12700">
            <a:solidFill>
              <a:srgbClr val="CCDDEE"/>
            </a:solidFill>
            <a:prstDash val="solid"/>
          </a:ln>
        </p:spPr>
        <p:txBody>
          <a:bodyPr/>
          <a:lstStyle/>
          <a:p>
            <a:endParaRPr lang="en-ZA"/>
          </a:p>
        </p:txBody>
      </p:sp>
      <p:sp>
        <p:nvSpPr>
          <p:cNvPr id="15" name="Text 13"/>
          <p:cNvSpPr/>
          <p:nvPr/>
        </p:nvSpPr>
        <p:spPr>
          <a:xfrm>
            <a:off x="4754880" y="2148840"/>
            <a:ext cx="3931920" cy="438912"/>
          </a:xfrm>
          <a:prstGeom prst="rect">
            <a:avLst/>
          </a:prstGeom>
          <a:noFill/>
          <a:ln/>
        </p:spPr>
        <p:txBody>
          <a:bodyPr wrap="square" rtlCol="0" anchor="ctr"/>
          <a:lstStyle/>
          <a:p>
            <a:pPr marL="0" indent="0">
              <a:buNone/>
            </a:pPr>
            <a:r>
              <a:rPr lang="en-US" sz="1100" b="1" dirty="0">
                <a:solidFill>
                  <a:srgbClr val="1E3A5F"/>
                </a:solidFill>
                <a:latin typeface="Calibri" pitchFamily="34" charset="0"/>
                <a:ea typeface="Calibri" pitchFamily="34" charset="-122"/>
                <a:cs typeface="Calibri" pitchFamily="34" charset="-120"/>
              </a:rPr>
              <a:t>Meeting Room </a:t>
            </a:r>
            <a:r>
              <a:rPr lang="en-US" sz="1000" b="1" dirty="0">
                <a:solidFill>
                  <a:srgbClr val="2E75B6"/>
                </a:solidFill>
                <a:latin typeface="Calibri" pitchFamily="34" charset="0"/>
                <a:ea typeface="Calibri" pitchFamily="34" charset="-122"/>
                <a:cs typeface="Calibri" pitchFamily="34" charset="-120"/>
              </a:rPr>
              <a:t>VLAN 50 — </a:t>
            </a:r>
            <a:r>
              <a:rPr lang="en-US" sz="1000" dirty="0">
                <a:solidFill>
                  <a:srgbClr val="1A1A2E"/>
                </a:solidFill>
                <a:latin typeface="Calibri" pitchFamily="34" charset="0"/>
                <a:ea typeface="Calibri" pitchFamily="34" charset="-122"/>
                <a:cs typeface="Calibri" pitchFamily="34" charset="-120"/>
              </a:rPr>
              <a:t>2 wired + up to 120 WiFi</a:t>
            </a:r>
            <a:endParaRPr lang="en-US" sz="1100" dirty="0"/>
          </a:p>
        </p:txBody>
      </p:sp>
      <p:sp>
        <p:nvSpPr>
          <p:cNvPr id="16" name="Shape 14"/>
          <p:cNvSpPr/>
          <p:nvPr/>
        </p:nvSpPr>
        <p:spPr>
          <a:xfrm>
            <a:off x="4663440" y="2624328"/>
            <a:ext cx="4114800" cy="438912"/>
          </a:xfrm>
          <a:prstGeom prst="rect">
            <a:avLst/>
          </a:prstGeom>
          <a:solidFill>
            <a:srgbClr val="FFFFFF"/>
          </a:solidFill>
          <a:ln w="12700">
            <a:solidFill>
              <a:srgbClr val="CCDDEE"/>
            </a:solidFill>
            <a:prstDash val="solid"/>
          </a:ln>
        </p:spPr>
        <p:txBody>
          <a:bodyPr/>
          <a:lstStyle/>
          <a:p>
            <a:endParaRPr lang="en-ZA"/>
          </a:p>
        </p:txBody>
      </p:sp>
      <p:sp>
        <p:nvSpPr>
          <p:cNvPr id="17" name="Text 15"/>
          <p:cNvSpPr/>
          <p:nvPr/>
        </p:nvSpPr>
        <p:spPr>
          <a:xfrm>
            <a:off x="4754880" y="2624328"/>
            <a:ext cx="3931920" cy="438912"/>
          </a:xfrm>
          <a:prstGeom prst="rect">
            <a:avLst/>
          </a:prstGeom>
          <a:noFill/>
          <a:ln/>
        </p:spPr>
        <p:txBody>
          <a:bodyPr wrap="square" rtlCol="0" anchor="ctr"/>
          <a:lstStyle/>
          <a:p>
            <a:pPr marL="0" indent="0">
              <a:buNone/>
            </a:pPr>
            <a:r>
              <a:rPr lang="en-US" sz="1100" b="1" dirty="0">
                <a:solidFill>
                  <a:srgbClr val="1E3A5F"/>
                </a:solidFill>
                <a:latin typeface="Calibri" pitchFamily="34" charset="0"/>
                <a:ea typeface="Calibri" pitchFamily="34" charset="-122"/>
                <a:cs typeface="Calibri" pitchFamily="34" charset="-120"/>
              </a:rPr>
              <a:t>Open Floor Space </a:t>
            </a:r>
            <a:r>
              <a:rPr lang="en-US" sz="1000" b="1" dirty="0">
                <a:solidFill>
                  <a:srgbClr val="2E75B6"/>
                </a:solidFill>
                <a:latin typeface="Calibri" pitchFamily="34" charset="0"/>
                <a:ea typeface="Calibri" pitchFamily="34" charset="-122"/>
                <a:cs typeface="Calibri" pitchFamily="34" charset="-120"/>
              </a:rPr>
              <a:t>VLAN 60 — </a:t>
            </a:r>
            <a:r>
              <a:rPr lang="en-US" sz="1000" dirty="0">
                <a:solidFill>
                  <a:srgbClr val="1A1A2E"/>
                </a:solidFill>
                <a:latin typeface="Calibri" pitchFamily="34" charset="0"/>
                <a:ea typeface="Calibri" pitchFamily="34" charset="-122"/>
                <a:cs typeface="Calibri" pitchFamily="34" charset="-120"/>
              </a:rPr>
              <a:t>100 wired + 300 WiFi</a:t>
            </a:r>
            <a:endParaRPr lang="en-US" sz="1100" dirty="0"/>
          </a:p>
        </p:txBody>
      </p:sp>
      <p:sp>
        <p:nvSpPr>
          <p:cNvPr id="18" name="Shape 16"/>
          <p:cNvSpPr/>
          <p:nvPr/>
        </p:nvSpPr>
        <p:spPr>
          <a:xfrm>
            <a:off x="4663440" y="3099816"/>
            <a:ext cx="4114800" cy="438912"/>
          </a:xfrm>
          <a:prstGeom prst="rect">
            <a:avLst/>
          </a:prstGeom>
          <a:solidFill>
            <a:srgbClr val="E8F0F8"/>
          </a:solidFill>
          <a:ln w="12700">
            <a:solidFill>
              <a:srgbClr val="CCDDEE"/>
            </a:solidFill>
            <a:prstDash val="solid"/>
          </a:ln>
        </p:spPr>
        <p:txBody>
          <a:bodyPr/>
          <a:lstStyle/>
          <a:p>
            <a:endParaRPr lang="en-ZA"/>
          </a:p>
        </p:txBody>
      </p:sp>
      <p:sp>
        <p:nvSpPr>
          <p:cNvPr id="19" name="Text 17"/>
          <p:cNvSpPr/>
          <p:nvPr/>
        </p:nvSpPr>
        <p:spPr>
          <a:xfrm>
            <a:off x="4754880" y="3099816"/>
            <a:ext cx="3931920" cy="438912"/>
          </a:xfrm>
          <a:prstGeom prst="rect">
            <a:avLst/>
          </a:prstGeom>
          <a:noFill/>
          <a:ln/>
        </p:spPr>
        <p:txBody>
          <a:bodyPr wrap="square" rtlCol="0" anchor="ctr"/>
          <a:lstStyle/>
          <a:p>
            <a:pPr marL="0" indent="0">
              <a:buNone/>
            </a:pPr>
            <a:r>
              <a:rPr lang="en-US" sz="1100" b="1" dirty="0">
                <a:solidFill>
                  <a:srgbClr val="1E3A5F"/>
                </a:solidFill>
                <a:latin typeface="Calibri" pitchFamily="34" charset="0"/>
                <a:ea typeface="Calibri" pitchFamily="34" charset="-122"/>
                <a:cs typeface="Calibri" pitchFamily="34" charset="-120"/>
              </a:rPr>
              <a:t>Machine Room </a:t>
            </a:r>
            <a:r>
              <a:rPr lang="en-US" sz="1000" b="1" dirty="0">
                <a:solidFill>
                  <a:srgbClr val="2E75B6"/>
                </a:solidFill>
                <a:latin typeface="Calibri" pitchFamily="34" charset="0"/>
                <a:ea typeface="Calibri" pitchFamily="34" charset="-122"/>
                <a:cs typeface="Calibri" pitchFamily="34" charset="-120"/>
              </a:rPr>
              <a:t>VLAN 70 — </a:t>
            </a:r>
            <a:r>
              <a:rPr lang="en-US" sz="1000" dirty="0">
                <a:solidFill>
                  <a:srgbClr val="1A1A2E"/>
                </a:solidFill>
                <a:latin typeface="Calibri" pitchFamily="34" charset="0"/>
                <a:ea typeface="Calibri" pitchFamily="34" charset="-122"/>
                <a:cs typeface="Calibri" pitchFamily="34" charset="-120"/>
              </a:rPr>
              <a:t>Servers + core network</a:t>
            </a:r>
            <a:endParaRPr lang="en-US" sz="1100" dirty="0"/>
          </a:p>
        </p:txBody>
      </p:sp>
      <p:sp>
        <p:nvSpPr>
          <p:cNvPr id="20" name="Shape 18"/>
          <p:cNvSpPr/>
          <p:nvPr/>
        </p:nvSpPr>
        <p:spPr>
          <a:xfrm>
            <a:off x="4663440" y="3575304"/>
            <a:ext cx="4114800" cy="438912"/>
          </a:xfrm>
          <a:prstGeom prst="rect">
            <a:avLst/>
          </a:prstGeom>
          <a:solidFill>
            <a:srgbClr val="FFFFFF"/>
          </a:solidFill>
          <a:ln w="12700">
            <a:solidFill>
              <a:srgbClr val="CCDDEE"/>
            </a:solidFill>
            <a:prstDash val="solid"/>
          </a:ln>
        </p:spPr>
        <p:txBody>
          <a:bodyPr/>
          <a:lstStyle/>
          <a:p>
            <a:endParaRPr lang="en-ZA"/>
          </a:p>
        </p:txBody>
      </p:sp>
      <p:sp>
        <p:nvSpPr>
          <p:cNvPr id="21" name="Text 19"/>
          <p:cNvSpPr/>
          <p:nvPr/>
        </p:nvSpPr>
        <p:spPr>
          <a:xfrm>
            <a:off x="4754880" y="3575304"/>
            <a:ext cx="3931920" cy="438912"/>
          </a:xfrm>
          <a:prstGeom prst="rect">
            <a:avLst/>
          </a:prstGeom>
          <a:noFill/>
          <a:ln/>
        </p:spPr>
        <p:txBody>
          <a:bodyPr wrap="square" rtlCol="0" anchor="ctr"/>
          <a:lstStyle/>
          <a:p>
            <a:pPr marL="0" indent="0">
              <a:buNone/>
            </a:pPr>
            <a:r>
              <a:rPr lang="en-US" sz="1100" b="1" dirty="0">
                <a:solidFill>
                  <a:srgbClr val="1E3A5F"/>
                </a:solidFill>
                <a:latin typeface="Calibri" pitchFamily="34" charset="0"/>
                <a:ea typeface="Calibri" pitchFamily="34" charset="-122"/>
                <a:cs typeface="Calibri" pitchFamily="34" charset="-120"/>
              </a:rPr>
              <a:t>Guest WiFi </a:t>
            </a:r>
            <a:r>
              <a:rPr lang="en-US" sz="1000" b="1" dirty="0">
                <a:solidFill>
                  <a:srgbClr val="2E75B6"/>
                </a:solidFill>
                <a:latin typeface="Calibri" pitchFamily="34" charset="0"/>
                <a:ea typeface="Calibri" pitchFamily="34" charset="-122"/>
                <a:cs typeface="Calibri" pitchFamily="34" charset="-120"/>
              </a:rPr>
              <a:t>VLAN 99 — </a:t>
            </a:r>
            <a:r>
              <a:rPr lang="en-US" sz="1000" dirty="0">
                <a:solidFill>
                  <a:srgbClr val="1A1A2E"/>
                </a:solidFill>
                <a:latin typeface="Calibri" pitchFamily="34" charset="0"/>
                <a:ea typeface="Calibri" pitchFamily="34" charset="-122"/>
                <a:cs typeface="Calibri" pitchFamily="34" charset="-120"/>
              </a:rPr>
              <a:t>Sandboxed — internet only</a:t>
            </a:r>
            <a:endParaRPr lang="en-US" sz="1100" dirty="0"/>
          </a:p>
        </p:txBody>
      </p:sp>
      <p:sp>
        <p:nvSpPr>
          <p:cNvPr id="22" name="Shape 20"/>
          <p:cNvSpPr/>
          <p:nvPr/>
        </p:nvSpPr>
        <p:spPr>
          <a:xfrm>
            <a:off x="0" y="4937760"/>
            <a:ext cx="9144000" cy="457200"/>
          </a:xfrm>
          <a:prstGeom prst="rect">
            <a:avLst/>
          </a:prstGeom>
          <a:solidFill>
            <a:srgbClr val="1E3A5F"/>
          </a:solidFill>
          <a:ln w="12700">
            <a:solidFill>
              <a:srgbClr val="1E3A5F"/>
            </a:solidFill>
            <a:prstDash val="solid"/>
          </a:ln>
        </p:spPr>
        <p:txBody>
          <a:bodyPr/>
          <a:lstStyle/>
          <a:p>
            <a:endParaRPr lang="en-ZA"/>
          </a:p>
        </p:txBody>
      </p:sp>
      <p:sp>
        <p:nvSpPr>
          <p:cNvPr id="23" name="Text 21"/>
          <p:cNvSpPr/>
          <p:nvPr/>
        </p:nvSpPr>
        <p:spPr>
          <a:xfrm>
            <a:off x="274320" y="4937760"/>
            <a:ext cx="8595360" cy="457200"/>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Wired: 50 Mb/s per device  |  WiFi: 10 Mb/s per device  |  Single ISP connection  |  All sections isolated</a:t>
            </a:r>
            <a:endParaRPr lang="en-US" sz="1000" dirty="0"/>
          </a:p>
        </p:txBody>
      </p:sp>
      <p:sp>
        <p:nvSpPr>
          <p:cNvPr id="25" name="TextBox 24">
            <a:extLst>
              <a:ext uri="{FF2B5EF4-FFF2-40B4-BE49-F238E27FC236}">
                <a16:creationId xmlns:a16="http://schemas.microsoft.com/office/drawing/2014/main" id="{F27A373A-EC68-6AD9-CBFF-09998CA55182}"/>
              </a:ext>
            </a:extLst>
          </p:cNvPr>
          <p:cNvSpPr txBox="1"/>
          <p:nvPr/>
        </p:nvSpPr>
        <p:spPr>
          <a:xfrm>
            <a:off x="0" y="3986784"/>
            <a:ext cx="9144000" cy="430887"/>
          </a:xfrm>
          <a:prstGeom prst="rect">
            <a:avLst/>
          </a:prstGeom>
          <a:noFill/>
        </p:spPr>
        <p:txBody>
          <a:bodyPr wrap="square">
            <a:spAutoFit/>
          </a:bodyPr>
          <a:lstStyle/>
          <a:p>
            <a:r>
              <a:rPr lang="en-GB" sz="1100" dirty="0"/>
              <a:t>Each member was responsible for designing, building, and testing their assigned section in Cisco Packet Tracer. Whenever we have challenges, we will help one another.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788073-A64A-1E69-D685-DCB58AD263FA}"/>
              </a:ext>
            </a:extLst>
          </p:cNvPr>
          <p:cNvSpPr>
            <a:spLocks noGrp="1"/>
          </p:cNvSpPr>
          <p:nvPr>
            <p:ph type="title"/>
          </p:nvPr>
        </p:nvSpPr>
        <p:spPr/>
        <p:txBody>
          <a:bodyPr/>
          <a:lstStyle/>
          <a:p>
            <a:r>
              <a:rPr lang="en-ZA" dirty="0"/>
              <a:t>KEY CHALLENGES</a:t>
            </a:r>
          </a:p>
        </p:txBody>
      </p:sp>
      <p:sp>
        <p:nvSpPr>
          <p:cNvPr id="3" name="Content Placeholder 2">
            <a:extLst>
              <a:ext uri="{FF2B5EF4-FFF2-40B4-BE49-F238E27FC236}">
                <a16:creationId xmlns:a16="http://schemas.microsoft.com/office/drawing/2014/main" id="{FBF18004-D90B-0D03-9C94-C439AA0B3976}"/>
              </a:ext>
            </a:extLst>
          </p:cNvPr>
          <p:cNvSpPr>
            <a:spLocks noGrp="1"/>
          </p:cNvSpPr>
          <p:nvPr>
            <p:ph idx="1"/>
          </p:nvPr>
        </p:nvSpPr>
        <p:spPr/>
        <p:txBody>
          <a:bodyPr>
            <a:normAutofit fontScale="92500" lnSpcReduction="20000"/>
          </a:bodyPr>
          <a:lstStyle/>
          <a:p>
            <a:r>
              <a:rPr lang="en-ZA" dirty="0"/>
              <a:t>Isolation: Each section must be completely isolated; for example, a reception PC cannot access the office PC</a:t>
            </a:r>
          </a:p>
          <a:p>
            <a:r>
              <a:rPr lang="en-ZA" dirty="0"/>
              <a:t>Single Internet Connection: One ISP fibre connection must be shared by all sections and all devices</a:t>
            </a:r>
          </a:p>
          <a:p>
            <a:r>
              <a:rPr lang="en-ZA" dirty="0"/>
              <a:t>Cost: The company has a limited budget, design must be affordable without sacrificing performance</a:t>
            </a:r>
          </a:p>
          <a:p>
            <a:r>
              <a:rPr lang="en-ZA" dirty="0"/>
              <a:t>Growth: The company must accommodate future growth without a complete redesign</a:t>
            </a:r>
          </a:p>
          <a:p>
            <a:r>
              <a:rPr lang="en-ZA" dirty="0"/>
              <a:t>Remote access: Staff working from home must be able to connect securely to the company network</a:t>
            </a:r>
          </a:p>
        </p:txBody>
      </p:sp>
    </p:spTree>
    <p:extLst>
      <p:ext uri="{BB962C8B-B14F-4D97-AF65-F5344CB8AC3E}">
        <p14:creationId xmlns:p14="http://schemas.microsoft.com/office/powerpoint/2010/main" val="24828013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96923D-303C-F61C-7CAE-F13BE923099C}"/>
              </a:ext>
            </a:extLst>
          </p:cNvPr>
          <p:cNvSpPr>
            <a:spLocks noGrp="1"/>
          </p:cNvSpPr>
          <p:nvPr>
            <p:ph type="title"/>
          </p:nvPr>
        </p:nvSpPr>
        <p:spPr/>
        <p:txBody>
          <a:bodyPr/>
          <a:lstStyle/>
          <a:p>
            <a:r>
              <a:rPr lang="en-ZA" dirty="0"/>
              <a:t>ASSUMPTIONS AND INTERPRETATIONS</a:t>
            </a:r>
          </a:p>
        </p:txBody>
      </p:sp>
      <p:sp>
        <p:nvSpPr>
          <p:cNvPr id="3" name="Content Placeholder 2">
            <a:extLst>
              <a:ext uri="{FF2B5EF4-FFF2-40B4-BE49-F238E27FC236}">
                <a16:creationId xmlns:a16="http://schemas.microsoft.com/office/drawing/2014/main" id="{C6312E4E-ADD9-0E00-3782-525A238A59E7}"/>
              </a:ext>
            </a:extLst>
          </p:cNvPr>
          <p:cNvSpPr>
            <a:spLocks noGrp="1"/>
          </p:cNvSpPr>
          <p:nvPr>
            <p:ph idx="1"/>
          </p:nvPr>
        </p:nvSpPr>
        <p:spPr/>
        <p:txBody>
          <a:bodyPr>
            <a:normAutofit fontScale="85000" lnSpcReduction="20000"/>
          </a:bodyPr>
          <a:lstStyle/>
          <a:p>
            <a:r>
              <a:rPr lang="en-ZA" dirty="0"/>
              <a:t>Servers: All servers, computers, and printers are already owned by the company and are excluded from the budget</a:t>
            </a:r>
          </a:p>
          <a:p>
            <a:r>
              <a:rPr lang="en-ZA" dirty="0"/>
              <a:t>ISP connection: The existing fibre ISP connection provides sufficient bandwidth for all devices. Only the internal network is designed.</a:t>
            </a:r>
          </a:p>
          <a:p>
            <a:r>
              <a:rPr lang="en-ZA" dirty="0"/>
              <a:t>Wired access points: Refers to wired Ethernet ports, not wireless access points</a:t>
            </a:r>
          </a:p>
          <a:p>
            <a:r>
              <a:rPr lang="en-ZA" dirty="0"/>
              <a:t>Packet Tracer devices: PC devices represent teleconferencing hardware in the meeting room. In real life, these would be dedicated video conferencing equipment.</a:t>
            </a:r>
          </a:p>
          <a:p>
            <a:r>
              <a:rPr lang="en-ZA" dirty="0"/>
              <a:t>Cable run: All cables run 100 metres, given the 100 * 50 metre size, so no repeaters are needed</a:t>
            </a:r>
          </a:p>
          <a:p>
            <a:r>
              <a:rPr lang="en-ZA" dirty="0"/>
              <a:t>Switch Policy: Company policy states that only switches with fewer than 8 ports may be placed outside the machine room. Switch PT is used as it is the smallest available in Packet Tracer.</a:t>
            </a:r>
          </a:p>
        </p:txBody>
      </p:sp>
    </p:spTree>
    <p:extLst>
      <p:ext uri="{BB962C8B-B14F-4D97-AF65-F5344CB8AC3E}">
        <p14:creationId xmlns:p14="http://schemas.microsoft.com/office/powerpoint/2010/main" val="27475001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3A96E2B-BD01-A8B3-838B-BB7D9D245C45}"/>
              </a:ext>
            </a:extLst>
          </p:cNvPr>
          <p:cNvSpPr txBox="1"/>
          <p:nvPr/>
        </p:nvSpPr>
        <p:spPr>
          <a:xfrm>
            <a:off x="70338" y="218049"/>
            <a:ext cx="8932985" cy="3693319"/>
          </a:xfrm>
          <a:prstGeom prst="rect">
            <a:avLst/>
          </a:prstGeom>
          <a:noFill/>
        </p:spPr>
        <p:txBody>
          <a:bodyPr wrap="square" rtlCol="0">
            <a:spAutoFit/>
          </a:bodyPr>
          <a:lstStyle/>
          <a:p>
            <a:r>
              <a:rPr lang="en-US" dirty="0"/>
              <a:t>Aim and objective</a:t>
            </a:r>
          </a:p>
          <a:p>
            <a:endParaRPr lang="en-US" dirty="0"/>
          </a:p>
          <a:p>
            <a:r>
              <a:rPr lang="en-US" dirty="0"/>
              <a:t>The purpose of this project is to design and test a smart, reliable, and affordable office network using Cisco Packet Tracer that makes everyday work easier for everyone. The network will be carefully structured so devices are organized and secure, with each department separated to protect their data while still sharing the same Internet connection. Staff will be able to connect both wired computers and multiple Wi‑Fi devices like laptops, phones, and tablets anywhere in the building, while still having easy access to shared tools such as printers and servers. The system will be built to handle growth, so as the company expands, the network can grow with it without needing a complete redesign. Finally, the entire setup will be simulated and tested in Cisco Packet Tracer to confirm that everything works smoothly before being put into real use. In short, the project aims to deliver a cost‑effective office network that is simple to use, safe for everyone, and ready for the future.</a:t>
            </a:r>
          </a:p>
        </p:txBody>
      </p:sp>
    </p:spTree>
    <p:extLst>
      <p:ext uri="{BB962C8B-B14F-4D97-AF65-F5344CB8AC3E}">
        <p14:creationId xmlns:p14="http://schemas.microsoft.com/office/powerpoint/2010/main" val="10019098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E3A5F"/>
          </a:solidFill>
          <a:ln w="12700">
            <a:solidFill>
              <a:srgbClr val="1E3A5F"/>
            </a:solidFill>
            <a:prstDash val="solid"/>
          </a:ln>
        </p:spPr>
        <p:txBody>
          <a:bodyPr/>
          <a:lstStyle/>
          <a:p>
            <a:endParaRPr lang="en-ZA"/>
          </a:p>
        </p:txBody>
      </p:sp>
      <p:sp>
        <p:nvSpPr>
          <p:cNvPr id="3" name="Text 1"/>
          <p:cNvSpPr/>
          <p:nvPr/>
        </p:nvSpPr>
        <p:spPr>
          <a:xfrm>
            <a:off x="365760" y="0"/>
            <a:ext cx="8412480" cy="100584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Network Topology</a:t>
            </a:r>
            <a:endParaRPr lang="en-US" sz="2600" dirty="0"/>
          </a:p>
        </p:txBody>
      </p:sp>
      <p:sp>
        <p:nvSpPr>
          <p:cNvPr id="4" name="Text 2"/>
          <p:cNvSpPr/>
          <p:nvPr/>
        </p:nvSpPr>
        <p:spPr>
          <a:xfrm>
            <a:off x="365760" y="1051560"/>
            <a:ext cx="8412480" cy="347472"/>
          </a:xfrm>
          <a:prstGeom prst="rect">
            <a:avLst/>
          </a:prstGeom>
          <a:noFill/>
          <a:ln/>
        </p:spPr>
        <p:txBody>
          <a:bodyPr wrap="square" rtlCol="0" anchor="ctr"/>
          <a:lstStyle/>
          <a:p>
            <a:pPr marL="0" indent="0">
              <a:buNone/>
            </a:pPr>
            <a:r>
              <a:rPr lang="en-US" sz="1300" b="1" dirty="0">
                <a:solidFill>
                  <a:srgbClr val="2E75B6"/>
                </a:solidFill>
                <a:latin typeface="Calibri" pitchFamily="34" charset="0"/>
                <a:ea typeface="Calibri" pitchFamily="34" charset="-122"/>
                <a:cs typeface="Calibri" pitchFamily="34" charset="-120"/>
              </a:rPr>
              <a:t>Centralised Hierarchical Design with Router-on-a-Stick</a:t>
            </a:r>
            <a:endParaRPr lang="en-US" sz="1300" dirty="0"/>
          </a:p>
        </p:txBody>
      </p:sp>
      <p:sp>
        <p:nvSpPr>
          <p:cNvPr id="5" name="Shape 3"/>
          <p:cNvSpPr/>
          <p:nvPr/>
        </p:nvSpPr>
        <p:spPr>
          <a:xfrm>
            <a:off x="3383280" y="1463040"/>
            <a:ext cx="2377440" cy="411480"/>
          </a:xfrm>
          <a:prstGeom prst="rect">
            <a:avLst/>
          </a:prstGeom>
          <a:solidFill>
            <a:srgbClr val="FF6B35"/>
          </a:solidFill>
          <a:ln w="12700">
            <a:solidFill>
              <a:srgbClr val="FF6B35"/>
            </a:solidFill>
            <a:prstDash val="solid"/>
          </a:ln>
        </p:spPr>
        <p:txBody>
          <a:bodyPr/>
          <a:lstStyle/>
          <a:p>
            <a:endParaRPr lang="en-ZA"/>
          </a:p>
        </p:txBody>
      </p:sp>
      <p:sp>
        <p:nvSpPr>
          <p:cNvPr id="6" name="Text 4"/>
          <p:cNvSpPr/>
          <p:nvPr/>
        </p:nvSpPr>
        <p:spPr>
          <a:xfrm>
            <a:off x="3383280" y="1463040"/>
            <a:ext cx="2377440" cy="41148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ISP Cloud / Internet</a:t>
            </a:r>
            <a:endParaRPr lang="en-US" sz="1000" dirty="0"/>
          </a:p>
        </p:txBody>
      </p:sp>
      <p:sp>
        <p:nvSpPr>
          <p:cNvPr id="7" name="Shape 5"/>
          <p:cNvSpPr/>
          <p:nvPr/>
        </p:nvSpPr>
        <p:spPr>
          <a:xfrm>
            <a:off x="4572000" y="1874520"/>
            <a:ext cx="0" cy="256032"/>
          </a:xfrm>
          <a:prstGeom prst="line">
            <a:avLst/>
          </a:prstGeom>
          <a:noFill/>
          <a:ln w="12700">
            <a:solidFill>
              <a:srgbClr val="1E3A5F"/>
            </a:solidFill>
            <a:prstDash val="solid"/>
          </a:ln>
        </p:spPr>
        <p:txBody>
          <a:bodyPr/>
          <a:lstStyle/>
          <a:p>
            <a:endParaRPr lang="en-ZA"/>
          </a:p>
        </p:txBody>
      </p:sp>
      <p:sp>
        <p:nvSpPr>
          <p:cNvPr id="8" name="Shape 6"/>
          <p:cNvSpPr/>
          <p:nvPr/>
        </p:nvSpPr>
        <p:spPr>
          <a:xfrm>
            <a:off x="3017520" y="2130552"/>
            <a:ext cx="3108960" cy="411480"/>
          </a:xfrm>
          <a:prstGeom prst="rect">
            <a:avLst/>
          </a:prstGeom>
          <a:solidFill>
            <a:srgbClr val="1E3A5F"/>
          </a:solidFill>
          <a:ln w="12700">
            <a:solidFill>
              <a:srgbClr val="1E3A5F"/>
            </a:solidFill>
            <a:prstDash val="solid"/>
          </a:ln>
        </p:spPr>
        <p:txBody>
          <a:bodyPr/>
          <a:lstStyle/>
          <a:p>
            <a:endParaRPr lang="en-ZA"/>
          </a:p>
        </p:txBody>
      </p:sp>
      <p:sp>
        <p:nvSpPr>
          <p:cNvPr id="9" name="Text 7"/>
          <p:cNvSpPr/>
          <p:nvPr/>
        </p:nvSpPr>
        <p:spPr>
          <a:xfrm>
            <a:off x="3017520" y="2130552"/>
            <a:ext cx="3108960" cy="411480"/>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1941 Router — Router-on-a-Stick (8 sub-interfaces)</a:t>
            </a:r>
            <a:endParaRPr lang="en-US" sz="950" dirty="0"/>
          </a:p>
        </p:txBody>
      </p:sp>
      <p:sp>
        <p:nvSpPr>
          <p:cNvPr id="10" name="Shape 8"/>
          <p:cNvSpPr/>
          <p:nvPr/>
        </p:nvSpPr>
        <p:spPr>
          <a:xfrm>
            <a:off x="4572000" y="2542032"/>
            <a:ext cx="0" cy="256032"/>
          </a:xfrm>
          <a:prstGeom prst="line">
            <a:avLst/>
          </a:prstGeom>
          <a:noFill/>
          <a:ln w="12700">
            <a:solidFill>
              <a:srgbClr val="1E3A5F"/>
            </a:solidFill>
            <a:prstDash val="solid"/>
          </a:ln>
        </p:spPr>
        <p:txBody>
          <a:bodyPr/>
          <a:lstStyle/>
          <a:p>
            <a:endParaRPr lang="en-ZA"/>
          </a:p>
        </p:txBody>
      </p:sp>
      <p:sp>
        <p:nvSpPr>
          <p:cNvPr id="11" name="Shape 9"/>
          <p:cNvSpPr/>
          <p:nvPr/>
        </p:nvSpPr>
        <p:spPr>
          <a:xfrm>
            <a:off x="3017520" y="2798064"/>
            <a:ext cx="3108960" cy="384048"/>
          </a:xfrm>
          <a:prstGeom prst="rect">
            <a:avLst/>
          </a:prstGeom>
          <a:solidFill>
            <a:srgbClr val="2E75B6"/>
          </a:solidFill>
          <a:ln w="12700">
            <a:solidFill>
              <a:srgbClr val="2E75B6"/>
            </a:solidFill>
            <a:prstDash val="solid"/>
          </a:ln>
        </p:spPr>
        <p:txBody>
          <a:bodyPr/>
          <a:lstStyle/>
          <a:p>
            <a:endParaRPr lang="en-ZA"/>
          </a:p>
        </p:txBody>
      </p:sp>
      <p:sp>
        <p:nvSpPr>
          <p:cNvPr id="12" name="Text 10"/>
          <p:cNvSpPr/>
          <p:nvPr/>
        </p:nvSpPr>
        <p:spPr>
          <a:xfrm>
            <a:off x="3017520" y="2798064"/>
            <a:ext cx="3108960" cy="384048"/>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Core Switch + DHCP-DNS Server + Servers</a:t>
            </a:r>
            <a:endParaRPr lang="en-US" sz="950" dirty="0"/>
          </a:p>
        </p:txBody>
      </p:sp>
      <p:sp>
        <p:nvSpPr>
          <p:cNvPr id="13" name="Shape 11"/>
          <p:cNvSpPr/>
          <p:nvPr/>
        </p:nvSpPr>
        <p:spPr>
          <a:xfrm>
            <a:off x="2560320" y="3182112"/>
            <a:ext cx="0" cy="274320"/>
          </a:xfrm>
          <a:prstGeom prst="line">
            <a:avLst/>
          </a:prstGeom>
          <a:noFill/>
          <a:ln w="12700">
            <a:solidFill>
              <a:srgbClr val="64748B"/>
            </a:solidFill>
            <a:prstDash val="solid"/>
          </a:ln>
        </p:spPr>
        <p:txBody>
          <a:bodyPr/>
          <a:lstStyle/>
          <a:p>
            <a:endParaRPr lang="en-ZA"/>
          </a:p>
        </p:txBody>
      </p:sp>
      <p:sp>
        <p:nvSpPr>
          <p:cNvPr id="14" name="Shape 12"/>
          <p:cNvSpPr/>
          <p:nvPr/>
        </p:nvSpPr>
        <p:spPr>
          <a:xfrm>
            <a:off x="6583680" y="3182112"/>
            <a:ext cx="0" cy="274320"/>
          </a:xfrm>
          <a:prstGeom prst="line">
            <a:avLst/>
          </a:prstGeom>
          <a:noFill/>
          <a:ln w="12700">
            <a:solidFill>
              <a:srgbClr val="64748B"/>
            </a:solidFill>
            <a:prstDash val="solid"/>
          </a:ln>
        </p:spPr>
        <p:txBody>
          <a:bodyPr/>
          <a:lstStyle/>
          <a:p>
            <a:endParaRPr lang="en-ZA"/>
          </a:p>
        </p:txBody>
      </p:sp>
      <p:sp>
        <p:nvSpPr>
          <p:cNvPr id="15" name="Shape 13"/>
          <p:cNvSpPr/>
          <p:nvPr/>
        </p:nvSpPr>
        <p:spPr>
          <a:xfrm>
            <a:off x="1097280" y="3456432"/>
            <a:ext cx="2926080" cy="347472"/>
          </a:xfrm>
          <a:prstGeom prst="rect">
            <a:avLst/>
          </a:prstGeom>
          <a:solidFill>
            <a:srgbClr val="00A3E0"/>
          </a:solidFill>
          <a:ln w="12700">
            <a:solidFill>
              <a:srgbClr val="00A3E0"/>
            </a:solidFill>
            <a:prstDash val="solid"/>
          </a:ln>
        </p:spPr>
        <p:txBody>
          <a:bodyPr/>
          <a:lstStyle/>
          <a:p>
            <a:endParaRPr lang="en-ZA"/>
          </a:p>
        </p:txBody>
      </p:sp>
      <p:sp>
        <p:nvSpPr>
          <p:cNvPr id="16" name="Text 14"/>
          <p:cNvSpPr/>
          <p:nvPr/>
        </p:nvSpPr>
        <p:spPr>
          <a:xfrm>
            <a:off x="1097280" y="3456432"/>
            <a:ext cx="2926080" cy="347472"/>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Dist-Switch-1: Reception, Kitchen, Open Floor, Guest</a:t>
            </a:r>
            <a:endParaRPr lang="en-US" sz="900" dirty="0"/>
          </a:p>
        </p:txBody>
      </p:sp>
      <p:sp>
        <p:nvSpPr>
          <p:cNvPr id="17" name="Shape 15"/>
          <p:cNvSpPr/>
          <p:nvPr/>
        </p:nvSpPr>
        <p:spPr>
          <a:xfrm>
            <a:off x="5120640" y="3456432"/>
            <a:ext cx="2926080" cy="347472"/>
          </a:xfrm>
          <a:prstGeom prst="rect">
            <a:avLst/>
          </a:prstGeom>
          <a:solidFill>
            <a:srgbClr val="00A3E0"/>
          </a:solidFill>
          <a:ln w="12700">
            <a:solidFill>
              <a:srgbClr val="00A3E0"/>
            </a:solidFill>
            <a:prstDash val="solid"/>
          </a:ln>
        </p:spPr>
        <p:txBody>
          <a:bodyPr/>
          <a:lstStyle/>
          <a:p>
            <a:endParaRPr lang="en-ZA"/>
          </a:p>
        </p:txBody>
      </p:sp>
      <p:sp>
        <p:nvSpPr>
          <p:cNvPr id="18" name="Text 16"/>
          <p:cNvSpPr/>
          <p:nvPr/>
        </p:nvSpPr>
        <p:spPr>
          <a:xfrm>
            <a:off x="5120640" y="3456432"/>
            <a:ext cx="2926080" cy="347472"/>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Dist-Switch-2: Offices, Technicians, Meeting Room</a:t>
            </a:r>
            <a:endParaRPr lang="en-US" sz="900" dirty="0"/>
          </a:p>
        </p:txBody>
      </p:sp>
      <p:sp>
        <p:nvSpPr>
          <p:cNvPr id="19" name="Shape 17"/>
          <p:cNvSpPr/>
          <p:nvPr/>
        </p:nvSpPr>
        <p:spPr>
          <a:xfrm>
            <a:off x="822960" y="3803904"/>
            <a:ext cx="0" cy="274320"/>
          </a:xfrm>
          <a:prstGeom prst="line">
            <a:avLst/>
          </a:prstGeom>
          <a:noFill/>
          <a:ln w="12700">
            <a:solidFill>
              <a:srgbClr val="64748B"/>
            </a:solidFill>
            <a:prstDash val="solid"/>
          </a:ln>
        </p:spPr>
        <p:txBody>
          <a:bodyPr/>
          <a:lstStyle/>
          <a:p>
            <a:endParaRPr lang="en-ZA"/>
          </a:p>
        </p:txBody>
      </p:sp>
      <p:sp>
        <p:nvSpPr>
          <p:cNvPr id="20" name="Shape 18"/>
          <p:cNvSpPr/>
          <p:nvPr/>
        </p:nvSpPr>
        <p:spPr>
          <a:xfrm>
            <a:off x="274320" y="4078224"/>
            <a:ext cx="1005840" cy="502920"/>
          </a:xfrm>
          <a:prstGeom prst="rect">
            <a:avLst/>
          </a:prstGeom>
          <a:solidFill>
            <a:srgbClr val="E8F0F8"/>
          </a:solidFill>
          <a:ln w="12700">
            <a:solidFill>
              <a:srgbClr val="2E75B6"/>
            </a:solidFill>
            <a:prstDash val="solid"/>
          </a:ln>
        </p:spPr>
        <p:txBody>
          <a:bodyPr/>
          <a:lstStyle/>
          <a:p>
            <a:endParaRPr lang="en-ZA"/>
          </a:p>
        </p:txBody>
      </p:sp>
      <p:sp>
        <p:nvSpPr>
          <p:cNvPr id="21" name="Text 19"/>
          <p:cNvSpPr/>
          <p:nvPr/>
        </p:nvSpPr>
        <p:spPr>
          <a:xfrm>
            <a:off x="274320" y="4078224"/>
            <a:ext cx="1005840" cy="502920"/>
          </a:xfrm>
          <a:prstGeom prst="rect">
            <a:avLst/>
          </a:prstGeom>
          <a:noFill/>
          <a:ln/>
        </p:spPr>
        <p:txBody>
          <a:bodyPr wrap="square" rtlCol="0" anchor="ctr"/>
          <a:lstStyle/>
          <a:p>
            <a:pPr marL="0" indent="0" algn="ctr">
              <a:buNone/>
            </a:pPr>
            <a:r>
              <a:rPr lang="en-US" sz="850" b="1" dirty="0">
                <a:solidFill>
                  <a:srgbClr val="1E3A5F"/>
                </a:solidFill>
                <a:latin typeface="Calibri" pitchFamily="34" charset="0"/>
                <a:ea typeface="Calibri" pitchFamily="34" charset="-122"/>
                <a:cs typeface="Calibri" pitchFamily="34" charset="-120"/>
              </a:rPr>
              <a:t>VLAN 30</a:t>
            </a:r>
            <a:endParaRPr lang="en-US" sz="850" dirty="0"/>
          </a:p>
          <a:p>
            <a:pPr marL="0" indent="0" algn="ctr">
              <a:buNone/>
            </a:pPr>
            <a:r>
              <a:rPr lang="en-US" sz="850" b="1" dirty="0">
                <a:solidFill>
                  <a:srgbClr val="1E3A5F"/>
                </a:solidFill>
                <a:latin typeface="Calibri" pitchFamily="34" charset="0"/>
                <a:ea typeface="Calibri" pitchFamily="34" charset="-122"/>
                <a:cs typeface="Calibri" pitchFamily="34" charset="-120"/>
              </a:rPr>
              <a:t>Reception</a:t>
            </a:r>
            <a:endParaRPr lang="en-US" sz="850" dirty="0"/>
          </a:p>
        </p:txBody>
      </p:sp>
      <p:sp>
        <p:nvSpPr>
          <p:cNvPr id="22" name="Shape 20"/>
          <p:cNvSpPr/>
          <p:nvPr/>
        </p:nvSpPr>
        <p:spPr>
          <a:xfrm>
            <a:off x="1920240" y="3803904"/>
            <a:ext cx="0" cy="274320"/>
          </a:xfrm>
          <a:prstGeom prst="line">
            <a:avLst/>
          </a:prstGeom>
          <a:noFill/>
          <a:ln w="12700">
            <a:solidFill>
              <a:srgbClr val="64748B"/>
            </a:solidFill>
            <a:prstDash val="solid"/>
          </a:ln>
        </p:spPr>
        <p:txBody>
          <a:bodyPr/>
          <a:lstStyle/>
          <a:p>
            <a:endParaRPr lang="en-ZA"/>
          </a:p>
        </p:txBody>
      </p:sp>
      <p:sp>
        <p:nvSpPr>
          <p:cNvPr id="23" name="Shape 21"/>
          <p:cNvSpPr/>
          <p:nvPr/>
        </p:nvSpPr>
        <p:spPr>
          <a:xfrm>
            <a:off x="1371600" y="4078224"/>
            <a:ext cx="1005840" cy="502920"/>
          </a:xfrm>
          <a:prstGeom prst="rect">
            <a:avLst/>
          </a:prstGeom>
          <a:solidFill>
            <a:srgbClr val="E8F0F8"/>
          </a:solidFill>
          <a:ln w="12700">
            <a:solidFill>
              <a:srgbClr val="2E75B6"/>
            </a:solidFill>
            <a:prstDash val="solid"/>
          </a:ln>
        </p:spPr>
        <p:txBody>
          <a:bodyPr/>
          <a:lstStyle/>
          <a:p>
            <a:endParaRPr lang="en-ZA"/>
          </a:p>
        </p:txBody>
      </p:sp>
      <p:sp>
        <p:nvSpPr>
          <p:cNvPr id="24" name="Text 22"/>
          <p:cNvSpPr/>
          <p:nvPr/>
        </p:nvSpPr>
        <p:spPr>
          <a:xfrm>
            <a:off x="1371600" y="4078224"/>
            <a:ext cx="1005840" cy="502920"/>
          </a:xfrm>
          <a:prstGeom prst="rect">
            <a:avLst/>
          </a:prstGeom>
          <a:noFill/>
          <a:ln/>
        </p:spPr>
        <p:txBody>
          <a:bodyPr wrap="square" rtlCol="0" anchor="ctr"/>
          <a:lstStyle/>
          <a:p>
            <a:pPr marL="0" indent="0" algn="ctr">
              <a:buNone/>
            </a:pPr>
            <a:r>
              <a:rPr lang="en-US" sz="850" b="1" dirty="0">
                <a:solidFill>
                  <a:srgbClr val="1E3A5F"/>
                </a:solidFill>
                <a:latin typeface="Calibri" pitchFamily="34" charset="0"/>
                <a:ea typeface="Calibri" pitchFamily="34" charset="-122"/>
                <a:cs typeface="Calibri" pitchFamily="34" charset="-120"/>
              </a:rPr>
              <a:t>VLAN 40</a:t>
            </a:r>
            <a:endParaRPr lang="en-US" sz="850" dirty="0"/>
          </a:p>
          <a:p>
            <a:pPr marL="0" indent="0" algn="ctr">
              <a:buNone/>
            </a:pPr>
            <a:r>
              <a:rPr lang="en-US" sz="850" b="1" dirty="0">
                <a:solidFill>
                  <a:srgbClr val="1E3A5F"/>
                </a:solidFill>
                <a:latin typeface="Calibri" pitchFamily="34" charset="0"/>
                <a:ea typeface="Calibri" pitchFamily="34" charset="-122"/>
                <a:cs typeface="Calibri" pitchFamily="34" charset="-120"/>
              </a:rPr>
              <a:t>Kitchen</a:t>
            </a:r>
            <a:endParaRPr lang="en-US" sz="850" dirty="0"/>
          </a:p>
        </p:txBody>
      </p:sp>
      <p:sp>
        <p:nvSpPr>
          <p:cNvPr id="25" name="Shape 23"/>
          <p:cNvSpPr/>
          <p:nvPr/>
        </p:nvSpPr>
        <p:spPr>
          <a:xfrm>
            <a:off x="3017520" y="3803904"/>
            <a:ext cx="0" cy="274320"/>
          </a:xfrm>
          <a:prstGeom prst="line">
            <a:avLst/>
          </a:prstGeom>
          <a:noFill/>
          <a:ln w="12700">
            <a:solidFill>
              <a:srgbClr val="64748B"/>
            </a:solidFill>
            <a:prstDash val="solid"/>
          </a:ln>
        </p:spPr>
        <p:txBody>
          <a:bodyPr/>
          <a:lstStyle/>
          <a:p>
            <a:endParaRPr lang="en-ZA"/>
          </a:p>
        </p:txBody>
      </p:sp>
      <p:sp>
        <p:nvSpPr>
          <p:cNvPr id="26" name="Shape 24"/>
          <p:cNvSpPr/>
          <p:nvPr/>
        </p:nvSpPr>
        <p:spPr>
          <a:xfrm>
            <a:off x="2468880" y="4078224"/>
            <a:ext cx="1005840" cy="502920"/>
          </a:xfrm>
          <a:prstGeom prst="rect">
            <a:avLst/>
          </a:prstGeom>
          <a:solidFill>
            <a:srgbClr val="E8F0F8"/>
          </a:solidFill>
          <a:ln w="12700">
            <a:solidFill>
              <a:srgbClr val="2E75B6"/>
            </a:solidFill>
            <a:prstDash val="solid"/>
          </a:ln>
        </p:spPr>
        <p:txBody>
          <a:bodyPr/>
          <a:lstStyle/>
          <a:p>
            <a:endParaRPr lang="en-ZA"/>
          </a:p>
        </p:txBody>
      </p:sp>
      <p:sp>
        <p:nvSpPr>
          <p:cNvPr id="27" name="Text 25"/>
          <p:cNvSpPr/>
          <p:nvPr/>
        </p:nvSpPr>
        <p:spPr>
          <a:xfrm>
            <a:off x="2468880" y="4078224"/>
            <a:ext cx="1005840" cy="502920"/>
          </a:xfrm>
          <a:prstGeom prst="rect">
            <a:avLst/>
          </a:prstGeom>
          <a:noFill/>
          <a:ln/>
        </p:spPr>
        <p:txBody>
          <a:bodyPr wrap="square" rtlCol="0" anchor="ctr"/>
          <a:lstStyle/>
          <a:p>
            <a:pPr marL="0" indent="0" algn="ctr">
              <a:buNone/>
            </a:pPr>
            <a:r>
              <a:rPr lang="en-US" sz="850" b="1" dirty="0">
                <a:solidFill>
                  <a:srgbClr val="1E3A5F"/>
                </a:solidFill>
                <a:latin typeface="Calibri" pitchFamily="34" charset="0"/>
                <a:ea typeface="Calibri" pitchFamily="34" charset="-122"/>
                <a:cs typeface="Calibri" pitchFamily="34" charset="-120"/>
              </a:rPr>
              <a:t>VLAN 60</a:t>
            </a:r>
            <a:endParaRPr lang="en-US" sz="850" dirty="0"/>
          </a:p>
          <a:p>
            <a:pPr marL="0" indent="0" algn="ctr">
              <a:buNone/>
            </a:pPr>
            <a:r>
              <a:rPr lang="en-US" sz="850" b="1" dirty="0">
                <a:solidFill>
                  <a:srgbClr val="1E3A5F"/>
                </a:solidFill>
                <a:latin typeface="Calibri" pitchFamily="34" charset="0"/>
                <a:ea typeface="Calibri" pitchFamily="34" charset="-122"/>
                <a:cs typeface="Calibri" pitchFamily="34" charset="-120"/>
              </a:rPr>
              <a:t>Open Floor</a:t>
            </a:r>
            <a:endParaRPr lang="en-US" sz="850" dirty="0"/>
          </a:p>
        </p:txBody>
      </p:sp>
      <p:sp>
        <p:nvSpPr>
          <p:cNvPr id="28" name="Shape 26"/>
          <p:cNvSpPr/>
          <p:nvPr/>
        </p:nvSpPr>
        <p:spPr>
          <a:xfrm>
            <a:off x="4114800" y="3803904"/>
            <a:ext cx="0" cy="274320"/>
          </a:xfrm>
          <a:prstGeom prst="line">
            <a:avLst/>
          </a:prstGeom>
          <a:noFill/>
          <a:ln w="12700">
            <a:solidFill>
              <a:srgbClr val="64748B"/>
            </a:solidFill>
            <a:prstDash val="solid"/>
          </a:ln>
        </p:spPr>
        <p:txBody>
          <a:bodyPr/>
          <a:lstStyle/>
          <a:p>
            <a:endParaRPr lang="en-ZA"/>
          </a:p>
        </p:txBody>
      </p:sp>
      <p:sp>
        <p:nvSpPr>
          <p:cNvPr id="29" name="Shape 27"/>
          <p:cNvSpPr/>
          <p:nvPr/>
        </p:nvSpPr>
        <p:spPr>
          <a:xfrm>
            <a:off x="3566160" y="4078224"/>
            <a:ext cx="1005840" cy="502920"/>
          </a:xfrm>
          <a:prstGeom prst="rect">
            <a:avLst/>
          </a:prstGeom>
          <a:solidFill>
            <a:srgbClr val="E8F0F8"/>
          </a:solidFill>
          <a:ln w="12700">
            <a:solidFill>
              <a:srgbClr val="2E75B6"/>
            </a:solidFill>
            <a:prstDash val="solid"/>
          </a:ln>
        </p:spPr>
        <p:txBody>
          <a:bodyPr/>
          <a:lstStyle/>
          <a:p>
            <a:endParaRPr lang="en-ZA"/>
          </a:p>
        </p:txBody>
      </p:sp>
      <p:sp>
        <p:nvSpPr>
          <p:cNvPr id="30" name="Text 28"/>
          <p:cNvSpPr/>
          <p:nvPr/>
        </p:nvSpPr>
        <p:spPr>
          <a:xfrm>
            <a:off x="3566160" y="4078224"/>
            <a:ext cx="1005840" cy="502920"/>
          </a:xfrm>
          <a:prstGeom prst="rect">
            <a:avLst/>
          </a:prstGeom>
          <a:noFill/>
          <a:ln/>
        </p:spPr>
        <p:txBody>
          <a:bodyPr wrap="square" rtlCol="0" anchor="ctr"/>
          <a:lstStyle/>
          <a:p>
            <a:pPr marL="0" indent="0" algn="ctr">
              <a:buNone/>
            </a:pPr>
            <a:r>
              <a:rPr lang="en-US" sz="850" b="1" dirty="0">
                <a:solidFill>
                  <a:srgbClr val="1E3A5F"/>
                </a:solidFill>
                <a:latin typeface="Calibri" pitchFamily="34" charset="0"/>
                <a:ea typeface="Calibri" pitchFamily="34" charset="-122"/>
                <a:cs typeface="Calibri" pitchFamily="34" charset="-120"/>
              </a:rPr>
              <a:t>VLAN 99</a:t>
            </a:r>
            <a:endParaRPr lang="en-US" sz="850" dirty="0"/>
          </a:p>
          <a:p>
            <a:pPr marL="0" indent="0" algn="ctr">
              <a:buNone/>
            </a:pPr>
            <a:r>
              <a:rPr lang="en-US" sz="850" b="1" dirty="0">
                <a:solidFill>
                  <a:srgbClr val="1E3A5F"/>
                </a:solidFill>
                <a:latin typeface="Calibri" pitchFamily="34" charset="0"/>
                <a:ea typeface="Calibri" pitchFamily="34" charset="-122"/>
                <a:cs typeface="Calibri" pitchFamily="34" charset="-120"/>
              </a:rPr>
              <a:t>Guest WiFi</a:t>
            </a:r>
            <a:endParaRPr lang="en-US" sz="850" dirty="0"/>
          </a:p>
        </p:txBody>
      </p:sp>
      <p:sp>
        <p:nvSpPr>
          <p:cNvPr id="31" name="Shape 29"/>
          <p:cNvSpPr/>
          <p:nvPr/>
        </p:nvSpPr>
        <p:spPr>
          <a:xfrm>
            <a:off x="5669280" y="3803904"/>
            <a:ext cx="0" cy="274320"/>
          </a:xfrm>
          <a:prstGeom prst="line">
            <a:avLst/>
          </a:prstGeom>
          <a:noFill/>
          <a:ln w="12700">
            <a:solidFill>
              <a:srgbClr val="64748B"/>
            </a:solidFill>
            <a:prstDash val="solid"/>
          </a:ln>
        </p:spPr>
        <p:txBody>
          <a:bodyPr/>
          <a:lstStyle/>
          <a:p>
            <a:endParaRPr lang="en-ZA"/>
          </a:p>
        </p:txBody>
      </p:sp>
      <p:sp>
        <p:nvSpPr>
          <p:cNvPr id="32" name="Shape 30"/>
          <p:cNvSpPr/>
          <p:nvPr/>
        </p:nvSpPr>
        <p:spPr>
          <a:xfrm>
            <a:off x="5120640" y="4078224"/>
            <a:ext cx="1005840" cy="502920"/>
          </a:xfrm>
          <a:prstGeom prst="rect">
            <a:avLst/>
          </a:prstGeom>
          <a:solidFill>
            <a:srgbClr val="E8F0F8"/>
          </a:solidFill>
          <a:ln w="12700">
            <a:solidFill>
              <a:srgbClr val="2E75B6"/>
            </a:solidFill>
            <a:prstDash val="solid"/>
          </a:ln>
        </p:spPr>
        <p:txBody>
          <a:bodyPr/>
          <a:lstStyle/>
          <a:p>
            <a:endParaRPr lang="en-ZA"/>
          </a:p>
        </p:txBody>
      </p:sp>
      <p:sp>
        <p:nvSpPr>
          <p:cNvPr id="33" name="Text 31"/>
          <p:cNvSpPr/>
          <p:nvPr/>
        </p:nvSpPr>
        <p:spPr>
          <a:xfrm>
            <a:off x="5120640" y="4078224"/>
            <a:ext cx="1005840" cy="502920"/>
          </a:xfrm>
          <a:prstGeom prst="rect">
            <a:avLst/>
          </a:prstGeom>
          <a:noFill/>
          <a:ln/>
        </p:spPr>
        <p:txBody>
          <a:bodyPr wrap="square" rtlCol="0" anchor="ctr"/>
          <a:lstStyle/>
          <a:p>
            <a:pPr marL="0" indent="0" algn="ctr">
              <a:buNone/>
            </a:pPr>
            <a:r>
              <a:rPr lang="en-US" sz="850" b="1" dirty="0">
                <a:solidFill>
                  <a:srgbClr val="1E3A5F"/>
                </a:solidFill>
                <a:latin typeface="Calibri" pitchFamily="34" charset="0"/>
                <a:ea typeface="Calibri" pitchFamily="34" charset="-122"/>
                <a:cs typeface="Calibri" pitchFamily="34" charset="-120"/>
              </a:rPr>
              <a:t>VLAN 10</a:t>
            </a:r>
            <a:endParaRPr lang="en-US" sz="850" dirty="0"/>
          </a:p>
          <a:p>
            <a:pPr marL="0" indent="0" algn="ctr">
              <a:buNone/>
            </a:pPr>
            <a:r>
              <a:rPr lang="en-US" sz="850" b="1" dirty="0">
                <a:solidFill>
                  <a:srgbClr val="1E3A5F"/>
                </a:solidFill>
                <a:latin typeface="Calibri" pitchFamily="34" charset="0"/>
                <a:ea typeface="Calibri" pitchFamily="34" charset="-122"/>
                <a:cs typeface="Calibri" pitchFamily="34" charset="-120"/>
              </a:rPr>
              <a:t>Offices</a:t>
            </a:r>
            <a:endParaRPr lang="en-US" sz="850" dirty="0"/>
          </a:p>
        </p:txBody>
      </p:sp>
      <p:sp>
        <p:nvSpPr>
          <p:cNvPr id="34" name="Shape 32"/>
          <p:cNvSpPr/>
          <p:nvPr/>
        </p:nvSpPr>
        <p:spPr>
          <a:xfrm>
            <a:off x="6766560" y="3803904"/>
            <a:ext cx="0" cy="274320"/>
          </a:xfrm>
          <a:prstGeom prst="line">
            <a:avLst/>
          </a:prstGeom>
          <a:noFill/>
          <a:ln w="12700">
            <a:solidFill>
              <a:srgbClr val="64748B"/>
            </a:solidFill>
            <a:prstDash val="solid"/>
          </a:ln>
        </p:spPr>
        <p:txBody>
          <a:bodyPr/>
          <a:lstStyle/>
          <a:p>
            <a:endParaRPr lang="en-ZA"/>
          </a:p>
        </p:txBody>
      </p:sp>
      <p:sp>
        <p:nvSpPr>
          <p:cNvPr id="35" name="Shape 33"/>
          <p:cNvSpPr/>
          <p:nvPr/>
        </p:nvSpPr>
        <p:spPr>
          <a:xfrm>
            <a:off x="6217920" y="4078224"/>
            <a:ext cx="1005840" cy="502920"/>
          </a:xfrm>
          <a:prstGeom prst="rect">
            <a:avLst/>
          </a:prstGeom>
          <a:solidFill>
            <a:srgbClr val="E8F0F8"/>
          </a:solidFill>
          <a:ln w="12700">
            <a:solidFill>
              <a:srgbClr val="2E75B6"/>
            </a:solidFill>
            <a:prstDash val="solid"/>
          </a:ln>
        </p:spPr>
        <p:txBody>
          <a:bodyPr/>
          <a:lstStyle/>
          <a:p>
            <a:endParaRPr lang="en-ZA"/>
          </a:p>
        </p:txBody>
      </p:sp>
      <p:sp>
        <p:nvSpPr>
          <p:cNvPr id="36" name="Text 34"/>
          <p:cNvSpPr/>
          <p:nvPr/>
        </p:nvSpPr>
        <p:spPr>
          <a:xfrm>
            <a:off x="6217920" y="4078224"/>
            <a:ext cx="1005840" cy="502920"/>
          </a:xfrm>
          <a:prstGeom prst="rect">
            <a:avLst/>
          </a:prstGeom>
          <a:noFill/>
          <a:ln/>
        </p:spPr>
        <p:txBody>
          <a:bodyPr wrap="square" rtlCol="0" anchor="ctr"/>
          <a:lstStyle/>
          <a:p>
            <a:pPr marL="0" indent="0" algn="ctr">
              <a:buNone/>
            </a:pPr>
            <a:r>
              <a:rPr lang="en-US" sz="850" b="1" dirty="0">
                <a:solidFill>
                  <a:srgbClr val="1E3A5F"/>
                </a:solidFill>
                <a:latin typeface="Calibri" pitchFamily="34" charset="0"/>
                <a:ea typeface="Calibri" pitchFamily="34" charset="-122"/>
                <a:cs typeface="Calibri" pitchFamily="34" charset="-120"/>
              </a:rPr>
              <a:t>VLAN 20</a:t>
            </a:r>
            <a:endParaRPr lang="en-US" sz="850" dirty="0"/>
          </a:p>
          <a:p>
            <a:pPr marL="0" indent="0" algn="ctr">
              <a:buNone/>
            </a:pPr>
            <a:r>
              <a:rPr lang="en-US" sz="850" b="1" dirty="0">
                <a:solidFill>
                  <a:srgbClr val="1E3A5F"/>
                </a:solidFill>
                <a:latin typeface="Calibri" pitchFamily="34" charset="0"/>
                <a:ea typeface="Calibri" pitchFamily="34" charset="-122"/>
                <a:cs typeface="Calibri" pitchFamily="34" charset="-120"/>
              </a:rPr>
              <a:t>Technicians</a:t>
            </a:r>
            <a:endParaRPr lang="en-US" sz="850" dirty="0"/>
          </a:p>
        </p:txBody>
      </p:sp>
      <p:sp>
        <p:nvSpPr>
          <p:cNvPr id="37" name="Shape 35"/>
          <p:cNvSpPr/>
          <p:nvPr/>
        </p:nvSpPr>
        <p:spPr>
          <a:xfrm>
            <a:off x="7863840" y="3803904"/>
            <a:ext cx="0" cy="274320"/>
          </a:xfrm>
          <a:prstGeom prst="line">
            <a:avLst/>
          </a:prstGeom>
          <a:noFill/>
          <a:ln w="12700">
            <a:solidFill>
              <a:srgbClr val="64748B"/>
            </a:solidFill>
            <a:prstDash val="solid"/>
          </a:ln>
        </p:spPr>
        <p:txBody>
          <a:bodyPr/>
          <a:lstStyle/>
          <a:p>
            <a:endParaRPr lang="en-ZA"/>
          </a:p>
        </p:txBody>
      </p:sp>
      <p:sp>
        <p:nvSpPr>
          <p:cNvPr id="38" name="Shape 36"/>
          <p:cNvSpPr/>
          <p:nvPr/>
        </p:nvSpPr>
        <p:spPr>
          <a:xfrm>
            <a:off x="7315200" y="4078224"/>
            <a:ext cx="1005840" cy="502920"/>
          </a:xfrm>
          <a:prstGeom prst="rect">
            <a:avLst/>
          </a:prstGeom>
          <a:solidFill>
            <a:srgbClr val="E8F0F8"/>
          </a:solidFill>
          <a:ln w="12700">
            <a:solidFill>
              <a:srgbClr val="2E75B6"/>
            </a:solidFill>
            <a:prstDash val="solid"/>
          </a:ln>
        </p:spPr>
        <p:txBody>
          <a:bodyPr/>
          <a:lstStyle/>
          <a:p>
            <a:endParaRPr lang="en-ZA"/>
          </a:p>
        </p:txBody>
      </p:sp>
      <p:sp>
        <p:nvSpPr>
          <p:cNvPr id="39" name="Text 37"/>
          <p:cNvSpPr/>
          <p:nvPr/>
        </p:nvSpPr>
        <p:spPr>
          <a:xfrm>
            <a:off x="7315200" y="4078224"/>
            <a:ext cx="1005840" cy="502920"/>
          </a:xfrm>
          <a:prstGeom prst="rect">
            <a:avLst/>
          </a:prstGeom>
          <a:noFill/>
          <a:ln/>
        </p:spPr>
        <p:txBody>
          <a:bodyPr wrap="square" rtlCol="0" anchor="ctr"/>
          <a:lstStyle/>
          <a:p>
            <a:pPr marL="0" indent="0" algn="ctr">
              <a:buNone/>
            </a:pPr>
            <a:r>
              <a:rPr lang="en-US" sz="850" b="1" dirty="0">
                <a:solidFill>
                  <a:srgbClr val="1E3A5F"/>
                </a:solidFill>
                <a:latin typeface="Calibri" pitchFamily="34" charset="0"/>
                <a:ea typeface="Calibri" pitchFamily="34" charset="-122"/>
                <a:cs typeface="Calibri" pitchFamily="34" charset="-120"/>
              </a:rPr>
              <a:t>VLAN 50</a:t>
            </a:r>
            <a:endParaRPr lang="en-US" sz="850" dirty="0"/>
          </a:p>
          <a:p>
            <a:pPr marL="0" indent="0" algn="ctr">
              <a:buNone/>
            </a:pPr>
            <a:r>
              <a:rPr lang="en-US" sz="850" b="1" dirty="0">
                <a:solidFill>
                  <a:srgbClr val="1E3A5F"/>
                </a:solidFill>
                <a:latin typeface="Calibri" pitchFamily="34" charset="0"/>
                <a:ea typeface="Calibri" pitchFamily="34" charset="-122"/>
                <a:cs typeface="Calibri" pitchFamily="34" charset="-120"/>
              </a:rPr>
              <a:t>Meeting Rm</a:t>
            </a:r>
            <a:endParaRPr lang="en-US" sz="850" dirty="0"/>
          </a:p>
        </p:txBody>
      </p:sp>
      <p:sp>
        <p:nvSpPr>
          <p:cNvPr id="40" name="Shape 38"/>
          <p:cNvSpPr/>
          <p:nvPr/>
        </p:nvSpPr>
        <p:spPr>
          <a:xfrm>
            <a:off x="0" y="4937760"/>
            <a:ext cx="9144000" cy="457200"/>
          </a:xfrm>
          <a:prstGeom prst="rect">
            <a:avLst/>
          </a:prstGeom>
          <a:solidFill>
            <a:srgbClr val="1E3A5F"/>
          </a:solidFill>
          <a:ln w="12700">
            <a:solidFill>
              <a:srgbClr val="1E3A5F"/>
            </a:solidFill>
            <a:prstDash val="solid"/>
          </a:ln>
        </p:spPr>
        <p:txBody>
          <a:bodyPr/>
          <a:lstStyle/>
          <a:p>
            <a:endParaRPr lang="en-ZA"/>
          </a:p>
        </p:txBody>
      </p:sp>
      <p:sp>
        <p:nvSpPr>
          <p:cNvPr id="41" name="Text 39"/>
          <p:cNvSpPr/>
          <p:nvPr/>
        </p:nvSpPr>
        <p:spPr>
          <a:xfrm>
            <a:off x="274320" y="4937760"/>
            <a:ext cx="8595360" cy="457200"/>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All sections connect to machine room switches only — no large switches outside machine room</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A97C2C-96C5-0181-A502-AA24EFED9702}"/>
              </a:ext>
            </a:extLst>
          </p:cNvPr>
          <p:cNvSpPr>
            <a:spLocks noGrp="1"/>
          </p:cNvSpPr>
          <p:nvPr>
            <p:ph type="title"/>
          </p:nvPr>
        </p:nvSpPr>
        <p:spPr/>
        <p:txBody>
          <a:bodyPr/>
          <a:lstStyle/>
          <a:p>
            <a:r>
              <a:rPr lang="en-ZA" dirty="0"/>
              <a:t>Network topology</a:t>
            </a:r>
          </a:p>
        </p:txBody>
      </p:sp>
      <p:sp>
        <p:nvSpPr>
          <p:cNvPr id="4" name="Shape 28">
            <a:extLst>
              <a:ext uri="{FF2B5EF4-FFF2-40B4-BE49-F238E27FC236}">
                <a16:creationId xmlns:a16="http://schemas.microsoft.com/office/drawing/2014/main" id="{0F54FDA8-0E5F-E654-990D-ED52A9FFE8D9}"/>
              </a:ext>
            </a:extLst>
          </p:cNvPr>
          <p:cNvSpPr>
            <a:spLocks noGrp="1"/>
          </p:cNvSpPr>
          <p:nvPr>
            <p:ph idx="1"/>
          </p:nvPr>
        </p:nvSpPr>
        <p:spPr>
          <a:xfrm>
            <a:off x="1089025" y="1511300"/>
            <a:ext cx="7202488" cy="2589213"/>
          </a:xfrm>
          <a:prstGeom prst="rect">
            <a:avLst/>
          </a:prstGeom>
          <a:solidFill>
            <a:srgbClr val="FFFFFF"/>
          </a:solidFill>
          <a:ln w="12700">
            <a:solidFill>
              <a:srgbClr val="AADDBB"/>
            </a:solidFill>
            <a:prstDash val="solid"/>
          </a:ln>
        </p:spPr>
        <p:txBody>
          <a:bodyPr>
            <a:normAutofit fontScale="92500"/>
          </a:bodyPr>
          <a:lstStyle/>
          <a:p>
            <a:r>
              <a:rPr lang="en-US" dirty="0"/>
              <a:t>The proposed network design follows a centralized hierarchical topology, where all critical networking infrastructure is in the machine room. This approach was selected to simplify management, enhance security, improve troubleshooting, and comply with company policy, which mandates that routers, servers, and major switches be housed in a single, secure location. By having all core components in one place, the network can be monitored and controlled more effectively, security policies can be enforced from a single point, and maintenance is streamlined. The building’s single-story layout  supports this design, as the central machine room ensures all cable runs remain within the 100-meter Cat6 Ethernet limit, eliminating the need for repeaters or intermediate distribution layers.</a:t>
            </a:r>
          </a:p>
          <a:p>
            <a:endParaRPr lang="en-ZA" dirty="0"/>
          </a:p>
        </p:txBody>
      </p:sp>
    </p:spTree>
    <p:extLst>
      <p:ext uri="{BB962C8B-B14F-4D97-AF65-F5344CB8AC3E}">
        <p14:creationId xmlns:p14="http://schemas.microsoft.com/office/powerpoint/2010/main" val="1996074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AF38CBB2-04B5-4ED2-92CA-ABA779049D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9143771"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3" name="Straight Connector 32">
            <a:extLst>
              <a:ext uri="{FF2B5EF4-FFF2-40B4-BE49-F238E27FC236}">
                <a16:creationId xmlns:a16="http://schemas.microsoft.com/office/drawing/2014/main" id="{99ECE436-E5C5-4600-9DAE-6A66A788E0D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90422" y="1385316"/>
            <a:ext cx="4161030"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a:extLst>
              <a:ext uri="{FF2B5EF4-FFF2-40B4-BE49-F238E27FC236}">
                <a16:creationId xmlns:a16="http://schemas.microsoft.com/office/drawing/2014/main" id="{8C70C0B0-3901-DEFA-40E6-75CDBA9BABCD}"/>
              </a:ext>
            </a:extLst>
          </p:cNvPr>
          <p:cNvSpPr>
            <a:spLocks noGrp="1"/>
          </p:cNvSpPr>
          <p:nvPr>
            <p:ph type="title"/>
          </p:nvPr>
        </p:nvSpPr>
        <p:spPr>
          <a:xfrm>
            <a:off x="1088684" y="603389"/>
            <a:ext cx="4162768" cy="786926"/>
          </a:xfrm>
        </p:spPr>
        <p:txBody>
          <a:bodyPr>
            <a:normAutofit/>
          </a:bodyPr>
          <a:lstStyle/>
          <a:p>
            <a:r>
              <a:rPr lang="en-ZA"/>
              <a:t>Physical network design</a:t>
            </a:r>
          </a:p>
        </p:txBody>
      </p:sp>
      <p:sp>
        <p:nvSpPr>
          <p:cNvPr id="35" name="Rectangle 34">
            <a:extLst>
              <a:ext uri="{FF2B5EF4-FFF2-40B4-BE49-F238E27FC236}">
                <a16:creationId xmlns:a16="http://schemas.microsoft.com/office/drawing/2014/main" id="{A81BF76C-52E4-494B-86F2-4CBAC20E38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514607"/>
            <a:ext cx="9144000" cy="3079455"/>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3" name="Content Placeholder 2">
            <a:extLst>
              <a:ext uri="{FF2B5EF4-FFF2-40B4-BE49-F238E27FC236}">
                <a16:creationId xmlns:a16="http://schemas.microsoft.com/office/drawing/2014/main" id="{A521094D-68D3-64D9-9CD7-7D3AFDDFF31A}"/>
              </a:ext>
            </a:extLst>
          </p:cNvPr>
          <p:cNvSpPr>
            <a:spLocks noGrp="1"/>
          </p:cNvSpPr>
          <p:nvPr>
            <p:ph idx="1"/>
          </p:nvPr>
        </p:nvSpPr>
        <p:spPr>
          <a:xfrm>
            <a:off x="1088684" y="1511799"/>
            <a:ext cx="4162768" cy="2587959"/>
          </a:xfrm>
        </p:spPr>
        <p:txBody>
          <a:bodyPr>
            <a:normAutofit/>
          </a:bodyPr>
          <a:lstStyle/>
          <a:p>
            <a:r>
              <a:rPr lang="en-GB" dirty="0"/>
              <a:t>The logical and physical views in Packet Tracer both reflect the actual building layout as provided in the project diagram. Each section is placed in its correct position, matching the building floor plan.</a:t>
            </a:r>
          </a:p>
          <a:p>
            <a:endParaRPr lang="en-GB" dirty="0"/>
          </a:p>
          <a:p>
            <a:endParaRPr lang="en-ZA" dirty="0"/>
          </a:p>
        </p:txBody>
      </p:sp>
      <p:grpSp>
        <p:nvGrpSpPr>
          <p:cNvPr id="37" name="Group 36">
            <a:extLst>
              <a:ext uri="{FF2B5EF4-FFF2-40B4-BE49-F238E27FC236}">
                <a16:creationId xmlns:a16="http://schemas.microsoft.com/office/drawing/2014/main" id="{CD0703AE-95DE-4C43-8272-BB33A5AD46D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608041" y="361628"/>
            <a:ext cx="3055899" cy="3861826"/>
            <a:chOff x="7463259" y="583365"/>
            <a:chExt cx="4074533" cy="5181928"/>
          </a:xfrm>
        </p:grpSpPr>
        <p:sp>
          <p:nvSpPr>
            <p:cNvPr id="38" name="Rectangle 37">
              <a:extLst>
                <a:ext uri="{FF2B5EF4-FFF2-40B4-BE49-F238E27FC236}">
                  <a16:creationId xmlns:a16="http://schemas.microsoft.com/office/drawing/2014/main" id="{2FF4B413-F360-4A9A-8F55-79C3961709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463259" y="583365"/>
              <a:ext cx="4074533" cy="5181928"/>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D129C2B7-6BA1-4DC0-8ED1-044AFBE47E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76318" y="915807"/>
              <a:ext cx="3450289" cy="4494927"/>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5" name="Picture 4">
            <a:extLst>
              <a:ext uri="{FF2B5EF4-FFF2-40B4-BE49-F238E27FC236}">
                <a16:creationId xmlns:a16="http://schemas.microsoft.com/office/drawing/2014/main" id="{4EB040A4-9095-DD89-46A4-27C827A5B41F}"/>
              </a:ext>
            </a:extLst>
          </p:cNvPr>
          <p:cNvPicPr>
            <a:picLocks noChangeAspect="1"/>
          </p:cNvPicPr>
          <p:nvPr/>
        </p:nvPicPr>
        <p:blipFill>
          <a:blip r:embed="rId2"/>
          <a:srcRect r="14924" b="-5"/>
          <a:stretch>
            <a:fillRect/>
          </a:stretch>
        </p:blipFill>
        <p:spPr>
          <a:xfrm>
            <a:off x="6111475" y="811989"/>
            <a:ext cx="2099328" cy="1388091"/>
          </a:xfrm>
          <a:prstGeom prst="rect">
            <a:avLst/>
          </a:prstGeom>
        </p:spPr>
      </p:pic>
      <p:pic>
        <p:nvPicPr>
          <p:cNvPr id="7" name="Picture 6">
            <a:extLst>
              <a:ext uri="{FF2B5EF4-FFF2-40B4-BE49-F238E27FC236}">
                <a16:creationId xmlns:a16="http://schemas.microsoft.com/office/drawing/2014/main" id="{E99F02E9-454F-1A98-4C61-E1D23AE16B55}"/>
              </a:ext>
            </a:extLst>
          </p:cNvPr>
          <p:cNvPicPr>
            <a:picLocks noChangeAspect="1"/>
          </p:cNvPicPr>
          <p:nvPr/>
        </p:nvPicPr>
        <p:blipFill>
          <a:blip r:embed="rId3"/>
          <a:srcRect r="14924" b="-5"/>
          <a:stretch>
            <a:fillRect/>
          </a:stretch>
        </p:blipFill>
        <p:spPr>
          <a:xfrm>
            <a:off x="6086326" y="2414910"/>
            <a:ext cx="2099328" cy="1388093"/>
          </a:xfrm>
          <a:prstGeom prst="rect">
            <a:avLst/>
          </a:prstGeom>
        </p:spPr>
      </p:pic>
      <p:pic>
        <p:nvPicPr>
          <p:cNvPr id="41" name="Picture 40">
            <a:extLst>
              <a:ext uri="{FF2B5EF4-FFF2-40B4-BE49-F238E27FC236}">
                <a16:creationId xmlns:a16="http://schemas.microsoft.com/office/drawing/2014/main" id="{0C24E7C2-F39B-4280-9B81-F15BBD93C3A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1538" b="-1538"/>
          <a:stretch/>
        </p:blipFill>
        <p:spPr bwMode="black">
          <a:xfrm>
            <a:off x="0" y="4594860"/>
            <a:ext cx="9144000" cy="557212"/>
          </a:xfrm>
          <a:prstGeom prst="rect">
            <a:avLst/>
          </a:prstGeom>
        </p:spPr>
      </p:pic>
      <p:cxnSp>
        <p:nvCxnSpPr>
          <p:cNvPr id="43" name="Straight Connector 42">
            <a:extLst>
              <a:ext uri="{FF2B5EF4-FFF2-40B4-BE49-F238E27FC236}">
                <a16:creationId xmlns:a16="http://schemas.microsoft.com/office/drawing/2014/main" id="{F381DAA9-C4BA-4BB3-8F4B-3BC4B43EB33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4596309"/>
            <a:ext cx="9144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759407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E3A5F"/>
          </a:solidFill>
          <a:ln w="12700">
            <a:solidFill>
              <a:srgbClr val="1E3A5F"/>
            </a:solidFill>
            <a:prstDash val="solid"/>
          </a:ln>
        </p:spPr>
        <p:txBody>
          <a:bodyPr/>
          <a:lstStyle/>
          <a:p>
            <a:endParaRPr lang="en-ZA"/>
          </a:p>
        </p:txBody>
      </p:sp>
      <p:sp>
        <p:nvSpPr>
          <p:cNvPr id="3" name="Text 1"/>
          <p:cNvSpPr/>
          <p:nvPr/>
        </p:nvSpPr>
        <p:spPr>
          <a:xfrm>
            <a:off x="365760" y="0"/>
            <a:ext cx="8412480" cy="100584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VLAN Segmentation &amp; Isolation</a:t>
            </a:r>
            <a:endParaRPr lang="en-US" sz="26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274320" y="1097280"/>
          <a:ext cx="8595360" cy="3456432"/>
        </p:xfrm>
        <a:graphic>
          <a:graphicData uri="http://schemas.openxmlformats.org/drawingml/2006/table">
            <a:tbl>
              <a:tblPr/>
              <a:tblGrid>
                <a:gridCol w="1371600">
                  <a:extLst>
                    <a:ext uri="{9D8B030D-6E8A-4147-A177-3AD203B41FA5}">
                      <a16:colId xmlns:a16="http://schemas.microsoft.com/office/drawing/2014/main" val="20000"/>
                    </a:ext>
                  </a:extLst>
                </a:gridCol>
                <a:gridCol w="64008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1554480">
                  <a:extLst>
                    <a:ext uri="{9D8B030D-6E8A-4147-A177-3AD203B41FA5}">
                      <a16:colId xmlns:a16="http://schemas.microsoft.com/office/drawing/2014/main" val="20003"/>
                    </a:ext>
                  </a:extLst>
                </a:gridCol>
                <a:gridCol w="1645920">
                  <a:extLst>
                    <a:ext uri="{9D8B030D-6E8A-4147-A177-3AD203B41FA5}">
                      <a16:colId xmlns:a16="http://schemas.microsoft.com/office/drawing/2014/main" val="20004"/>
                    </a:ext>
                  </a:extLst>
                </a:gridCol>
                <a:gridCol w="1737360">
                  <a:extLst>
                    <a:ext uri="{9D8B030D-6E8A-4147-A177-3AD203B41FA5}">
                      <a16:colId xmlns:a16="http://schemas.microsoft.com/office/drawing/2014/main" val="20005"/>
                    </a:ext>
                  </a:extLst>
                </a:gridCol>
              </a:tblGrid>
              <a:tr h="384048">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Section</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E3A5F"/>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VLAN</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E3A5F"/>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Subnet</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E3A5F"/>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Gateway</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E3A5F"/>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Dist Switch</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E3A5F"/>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Devices</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E3A5F"/>
                    </a:solidFill>
                  </a:tcPr>
                </a:tc>
                <a:extLst>
                  <a:ext uri="{0D108BD9-81ED-4DB2-BD59-A6C34878D82A}">
                    <a16:rowId xmlns:a16="http://schemas.microsoft.com/office/drawing/2014/main" val="10000"/>
                  </a:ext>
                </a:extLst>
              </a:tr>
              <a:tr h="384048">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Offices (13)</a:t>
                      </a:r>
                      <a:endParaRPr lang="en-US" sz="105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10</a:t>
                      </a:r>
                      <a:endParaRPr lang="en-US" sz="105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192.168.10.0/24</a:t>
                      </a:r>
                      <a:endParaRPr lang="en-US" sz="105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192.168.10.1</a:t>
                      </a:r>
                      <a:endParaRPr lang="en-US" sz="105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Dist-Switch-2</a:t>
                      </a:r>
                      <a:endParaRPr lang="en-US" sz="105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36 wired + 108 WiFi</a:t>
                      </a:r>
                      <a:endParaRPr lang="en-US" sz="105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Technicians</a:t>
                      </a:r>
                      <a:endParaRPr lang="en-US" sz="105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20</a:t>
                      </a:r>
                      <a:endParaRPr lang="en-US" sz="105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192.168.20.0/24</a:t>
                      </a:r>
                      <a:endParaRPr lang="en-US" sz="105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192.168.20.1</a:t>
                      </a:r>
                      <a:endParaRPr lang="en-US" sz="105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Dist-Switch-2</a:t>
                      </a:r>
                      <a:endParaRPr lang="en-US" sz="105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6 wired + 16 WiFi</a:t>
                      </a:r>
                      <a:endParaRPr lang="en-US" sz="105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Reception</a:t>
                      </a:r>
                      <a:endParaRPr lang="en-US" sz="105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30</a:t>
                      </a:r>
                      <a:endParaRPr lang="en-US" sz="105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192.168.30.0/24</a:t>
                      </a:r>
                      <a:endParaRPr lang="en-US" sz="105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192.168.30.1</a:t>
                      </a:r>
                      <a:endParaRPr lang="en-US" sz="105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Dist-Switch-1</a:t>
                      </a:r>
                      <a:endParaRPr lang="en-US" sz="105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2 wired + staff/guest WiFi</a:t>
                      </a:r>
                      <a:endParaRPr lang="en-US" sz="105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3"/>
                  </a:ext>
                </a:extLst>
              </a:tr>
              <a:tr h="384048">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Kitchen</a:t>
                      </a:r>
                      <a:endParaRPr lang="en-US" sz="105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40</a:t>
                      </a:r>
                      <a:endParaRPr lang="en-US" sz="105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192.168.40.0/24</a:t>
                      </a:r>
                      <a:endParaRPr lang="en-US" sz="105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192.168.40.1</a:t>
                      </a:r>
                      <a:endParaRPr lang="en-US" sz="105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Dist-Switch-1</a:t>
                      </a:r>
                      <a:endParaRPr lang="en-US" sz="105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4 IoT wired + 10 WiFi</a:t>
                      </a:r>
                      <a:endParaRPr lang="en-US" sz="105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4"/>
                  </a:ext>
                </a:extLst>
              </a:tr>
              <a:tr h="384048">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Meeting Room</a:t>
                      </a:r>
                      <a:endParaRPr lang="en-US" sz="105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50</a:t>
                      </a:r>
                      <a:endParaRPr lang="en-US" sz="105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192.168.50.0/24</a:t>
                      </a:r>
                      <a:endParaRPr lang="en-US" sz="105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192.168.50.1</a:t>
                      </a:r>
                      <a:endParaRPr lang="en-US" sz="105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Dist-Switch-2</a:t>
                      </a:r>
                      <a:endParaRPr lang="en-US" sz="105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2 wired + up to 120 WiFi</a:t>
                      </a:r>
                      <a:endParaRPr lang="en-US" sz="105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5"/>
                  </a:ext>
                </a:extLst>
              </a:tr>
              <a:tr h="384048">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Open Floor</a:t>
                      </a:r>
                      <a:endParaRPr lang="en-US" sz="105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60</a:t>
                      </a:r>
                      <a:endParaRPr lang="en-US" sz="105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192.168.60.0/23</a:t>
                      </a:r>
                      <a:endParaRPr lang="en-US" sz="105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192.168.60.1</a:t>
                      </a:r>
                      <a:endParaRPr lang="en-US" sz="105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Dist-Switch-1</a:t>
                      </a:r>
                      <a:endParaRPr lang="en-US" sz="105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100 wired + 300 WiFi</a:t>
                      </a:r>
                      <a:endParaRPr lang="en-US" sz="105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6"/>
                  </a:ext>
                </a:extLst>
              </a:tr>
              <a:tr h="384048">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Machine Room</a:t>
                      </a:r>
                      <a:endParaRPr lang="en-US" sz="105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70</a:t>
                      </a:r>
                      <a:endParaRPr lang="en-US" sz="105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192.168.70.0/24</a:t>
                      </a:r>
                      <a:endParaRPr lang="en-US" sz="105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192.168.70.1</a:t>
                      </a:r>
                      <a:endParaRPr lang="en-US" sz="105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Core Switch</a:t>
                      </a:r>
                      <a:endParaRPr lang="en-US" sz="105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Servers + core equipment</a:t>
                      </a:r>
                      <a:endParaRPr lang="en-US" sz="105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7"/>
                  </a:ext>
                </a:extLst>
              </a:tr>
              <a:tr h="384048">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Guest WiFi</a:t>
                      </a:r>
                      <a:endParaRPr lang="en-US" sz="105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99</a:t>
                      </a:r>
                      <a:endParaRPr lang="en-US" sz="105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192.168.99.0/24</a:t>
                      </a:r>
                      <a:endParaRPr lang="en-US" sz="105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192.168.99.1</a:t>
                      </a:r>
                      <a:endParaRPr lang="en-US" sz="105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Dist-Switch-1</a:t>
                      </a:r>
                      <a:endParaRPr lang="en-US" sz="105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Sandboxed — internet only</a:t>
                      </a:r>
                      <a:endParaRPr lang="en-US" sz="105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4" name="Shape 2"/>
          <p:cNvSpPr/>
          <p:nvPr/>
        </p:nvSpPr>
        <p:spPr>
          <a:xfrm>
            <a:off x="0" y="4937760"/>
            <a:ext cx="9144000" cy="457200"/>
          </a:xfrm>
          <a:prstGeom prst="rect">
            <a:avLst/>
          </a:prstGeom>
          <a:solidFill>
            <a:srgbClr val="1E3A5F"/>
          </a:solidFill>
          <a:ln w="12700">
            <a:solidFill>
              <a:srgbClr val="1E3A5F"/>
            </a:solidFill>
            <a:prstDash val="solid"/>
          </a:ln>
        </p:spPr>
        <p:txBody>
          <a:bodyPr/>
          <a:lstStyle/>
          <a:p>
            <a:endParaRPr lang="en-ZA"/>
          </a:p>
        </p:txBody>
      </p:sp>
      <p:sp>
        <p:nvSpPr>
          <p:cNvPr id="6" name="Text 3"/>
          <p:cNvSpPr/>
          <p:nvPr/>
        </p:nvSpPr>
        <p:spPr>
          <a:xfrm>
            <a:off x="274320" y="4937760"/>
            <a:ext cx="8595360" cy="457200"/>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All inter-VLAN traffic blocked by ACLs  |  Internet access permitted for all VLANs  |  Guest WiFi sandboxed</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E3A5F"/>
          </a:solidFill>
          <a:ln w="12700">
            <a:solidFill>
              <a:srgbClr val="1E3A5F"/>
            </a:solidFill>
            <a:prstDash val="solid"/>
          </a:ln>
        </p:spPr>
        <p:txBody>
          <a:bodyPr/>
          <a:lstStyle/>
          <a:p>
            <a:endParaRPr lang="en-ZA"/>
          </a:p>
        </p:txBody>
      </p:sp>
      <p:sp>
        <p:nvSpPr>
          <p:cNvPr id="3" name="Text 1"/>
          <p:cNvSpPr/>
          <p:nvPr/>
        </p:nvSpPr>
        <p:spPr>
          <a:xfrm>
            <a:off x="365760" y="0"/>
            <a:ext cx="6400800" cy="100584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Machine Room</a:t>
            </a:r>
            <a:endParaRPr lang="en-US" sz="2600" dirty="0"/>
          </a:p>
        </p:txBody>
      </p:sp>
      <p:sp>
        <p:nvSpPr>
          <p:cNvPr id="4" name="Shape 2"/>
          <p:cNvSpPr/>
          <p:nvPr/>
        </p:nvSpPr>
        <p:spPr>
          <a:xfrm>
            <a:off x="6858000" y="182880"/>
            <a:ext cx="2011680" cy="640080"/>
          </a:xfrm>
          <a:prstGeom prst="rect">
            <a:avLst/>
          </a:prstGeom>
          <a:solidFill>
            <a:srgbClr val="2E75B6"/>
          </a:solidFill>
          <a:ln w="12700">
            <a:solidFill>
              <a:srgbClr val="2E75B6"/>
            </a:solidFill>
            <a:prstDash val="solid"/>
          </a:ln>
        </p:spPr>
        <p:txBody>
          <a:bodyPr/>
          <a:lstStyle/>
          <a:p>
            <a:endParaRPr lang="en-ZA"/>
          </a:p>
        </p:txBody>
      </p:sp>
      <p:sp>
        <p:nvSpPr>
          <p:cNvPr id="5" name="Text 3"/>
          <p:cNvSpPr/>
          <p:nvPr/>
        </p:nvSpPr>
        <p:spPr>
          <a:xfrm>
            <a:off x="6858000" y="182880"/>
            <a:ext cx="2011680" cy="6400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VLAN 70</a:t>
            </a:r>
            <a:endParaRPr lang="en-US" sz="1100" dirty="0"/>
          </a:p>
        </p:txBody>
      </p:sp>
      <p:sp>
        <p:nvSpPr>
          <p:cNvPr id="6" name="Shape 4"/>
          <p:cNvSpPr/>
          <p:nvPr/>
        </p:nvSpPr>
        <p:spPr>
          <a:xfrm>
            <a:off x="274320" y="1051560"/>
            <a:ext cx="3931920" cy="347472"/>
          </a:xfrm>
          <a:prstGeom prst="rect">
            <a:avLst/>
          </a:prstGeom>
          <a:solidFill>
            <a:srgbClr val="2E75B6"/>
          </a:solidFill>
          <a:ln w="12700">
            <a:solidFill>
              <a:srgbClr val="2E75B6"/>
            </a:solidFill>
            <a:prstDash val="solid"/>
          </a:ln>
        </p:spPr>
        <p:txBody>
          <a:bodyPr/>
          <a:lstStyle/>
          <a:p>
            <a:endParaRPr lang="en-ZA"/>
          </a:p>
        </p:txBody>
      </p:sp>
      <p:sp>
        <p:nvSpPr>
          <p:cNvPr id="7" name="Text 5"/>
          <p:cNvSpPr/>
          <p:nvPr/>
        </p:nvSpPr>
        <p:spPr>
          <a:xfrm>
            <a:off x="274320" y="1051560"/>
            <a:ext cx="3931920" cy="347472"/>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Role &amp; Requirements</a:t>
            </a:r>
            <a:endParaRPr lang="en-US" sz="1200" dirty="0"/>
          </a:p>
        </p:txBody>
      </p:sp>
      <p:sp>
        <p:nvSpPr>
          <p:cNvPr id="8" name="Shape 6"/>
          <p:cNvSpPr/>
          <p:nvPr/>
        </p:nvSpPr>
        <p:spPr>
          <a:xfrm>
            <a:off x="274320" y="1426464"/>
            <a:ext cx="3931920" cy="365760"/>
          </a:xfrm>
          <a:prstGeom prst="rect">
            <a:avLst/>
          </a:prstGeom>
          <a:solidFill>
            <a:srgbClr val="E8F0F8"/>
          </a:solidFill>
          <a:ln w="12700">
            <a:solidFill>
              <a:srgbClr val="CCDDEE"/>
            </a:solidFill>
            <a:prstDash val="solid"/>
          </a:ln>
        </p:spPr>
        <p:txBody>
          <a:bodyPr/>
          <a:lstStyle/>
          <a:p>
            <a:endParaRPr lang="en-ZA"/>
          </a:p>
        </p:txBody>
      </p:sp>
      <p:sp>
        <p:nvSpPr>
          <p:cNvPr id="9" name="Text 7"/>
          <p:cNvSpPr/>
          <p:nvPr/>
        </p:nvSpPr>
        <p:spPr>
          <a:xfrm>
            <a:off x="365760" y="1426464"/>
            <a:ext cx="3749040" cy="365760"/>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Houses all core networking equipment</a:t>
            </a:r>
            <a:endParaRPr lang="en-US" sz="1050" dirty="0"/>
          </a:p>
        </p:txBody>
      </p:sp>
      <p:sp>
        <p:nvSpPr>
          <p:cNvPr id="10" name="Shape 8"/>
          <p:cNvSpPr/>
          <p:nvPr/>
        </p:nvSpPr>
        <p:spPr>
          <a:xfrm>
            <a:off x="274320" y="1810512"/>
            <a:ext cx="3931920" cy="365760"/>
          </a:xfrm>
          <a:prstGeom prst="rect">
            <a:avLst/>
          </a:prstGeom>
          <a:solidFill>
            <a:srgbClr val="FFFFFF"/>
          </a:solidFill>
          <a:ln w="12700">
            <a:solidFill>
              <a:srgbClr val="CCDDEE"/>
            </a:solidFill>
            <a:prstDash val="solid"/>
          </a:ln>
        </p:spPr>
        <p:txBody>
          <a:bodyPr/>
          <a:lstStyle/>
          <a:p>
            <a:endParaRPr lang="en-ZA"/>
          </a:p>
        </p:txBody>
      </p:sp>
      <p:sp>
        <p:nvSpPr>
          <p:cNvPr id="11" name="Text 9"/>
          <p:cNvSpPr/>
          <p:nvPr/>
        </p:nvSpPr>
        <p:spPr>
          <a:xfrm>
            <a:off x="365760" y="1810512"/>
            <a:ext cx="3749040" cy="365760"/>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Single ISP fibre connection point</a:t>
            </a:r>
            <a:endParaRPr lang="en-US" sz="1050" dirty="0"/>
          </a:p>
        </p:txBody>
      </p:sp>
      <p:sp>
        <p:nvSpPr>
          <p:cNvPr id="12" name="Shape 10"/>
          <p:cNvSpPr/>
          <p:nvPr/>
        </p:nvSpPr>
        <p:spPr>
          <a:xfrm>
            <a:off x="274320" y="2194560"/>
            <a:ext cx="3931920" cy="365760"/>
          </a:xfrm>
          <a:prstGeom prst="rect">
            <a:avLst/>
          </a:prstGeom>
          <a:solidFill>
            <a:srgbClr val="E8F0F8"/>
          </a:solidFill>
          <a:ln w="12700">
            <a:solidFill>
              <a:srgbClr val="CCDDEE"/>
            </a:solidFill>
            <a:prstDash val="solid"/>
          </a:ln>
        </p:spPr>
        <p:txBody>
          <a:bodyPr/>
          <a:lstStyle/>
          <a:p>
            <a:endParaRPr lang="en-ZA"/>
          </a:p>
        </p:txBody>
      </p:sp>
      <p:sp>
        <p:nvSpPr>
          <p:cNvPr id="13" name="Text 11"/>
          <p:cNvSpPr/>
          <p:nvPr/>
        </p:nvSpPr>
        <p:spPr>
          <a:xfrm>
            <a:off x="365760" y="2194560"/>
            <a:ext cx="3749040" cy="365760"/>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All servers already owned by company</a:t>
            </a:r>
            <a:endParaRPr lang="en-US" sz="1050" dirty="0"/>
          </a:p>
        </p:txBody>
      </p:sp>
      <p:sp>
        <p:nvSpPr>
          <p:cNvPr id="14" name="Shape 12"/>
          <p:cNvSpPr/>
          <p:nvPr/>
        </p:nvSpPr>
        <p:spPr>
          <a:xfrm>
            <a:off x="274320" y="2578608"/>
            <a:ext cx="3931920" cy="365760"/>
          </a:xfrm>
          <a:prstGeom prst="rect">
            <a:avLst/>
          </a:prstGeom>
          <a:solidFill>
            <a:srgbClr val="FFFFFF"/>
          </a:solidFill>
          <a:ln w="12700">
            <a:solidFill>
              <a:srgbClr val="CCDDEE"/>
            </a:solidFill>
            <a:prstDash val="solid"/>
          </a:ln>
        </p:spPr>
        <p:txBody>
          <a:bodyPr/>
          <a:lstStyle/>
          <a:p>
            <a:endParaRPr lang="en-ZA"/>
          </a:p>
        </p:txBody>
      </p:sp>
      <p:sp>
        <p:nvSpPr>
          <p:cNvPr id="15" name="Text 13"/>
          <p:cNvSpPr/>
          <p:nvPr/>
        </p:nvSpPr>
        <p:spPr>
          <a:xfrm>
            <a:off x="365760" y="2578608"/>
            <a:ext cx="3749040" cy="365760"/>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Router-on-a-Stick for inter-VLAN routing</a:t>
            </a:r>
            <a:endParaRPr lang="en-US" sz="1050" dirty="0"/>
          </a:p>
        </p:txBody>
      </p:sp>
      <p:sp>
        <p:nvSpPr>
          <p:cNvPr id="16" name="Shape 14"/>
          <p:cNvSpPr/>
          <p:nvPr/>
        </p:nvSpPr>
        <p:spPr>
          <a:xfrm>
            <a:off x="274320" y="2962656"/>
            <a:ext cx="3931920" cy="365760"/>
          </a:xfrm>
          <a:prstGeom prst="rect">
            <a:avLst/>
          </a:prstGeom>
          <a:solidFill>
            <a:srgbClr val="E8F0F8"/>
          </a:solidFill>
          <a:ln w="12700">
            <a:solidFill>
              <a:srgbClr val="CCDDEE"/>
            </a:solidFill>
            <a:prstDash val="solid"/>
          </a:ln>
        </p:spPr>
        <p:txBody>
          <a:bodyPr/>
          <a:lstStyle/>
          <a:p>
            <a:endParaRPr lang="en-ZA"/>
          </a:p>
        </p:txBody>
      </p:sp>
      <p:sp>
        <p:nvSpPr>
          <p:cNvPr id="17" name="Text 15"/>
          <p:cNvSpPr/>
          <p:nvPr/>
        </p:nvSpPr>
        <p:spPr>
          <a:xfrm>
            <a:off x="365760" y="2962656"/>
            <a:ext cx="3749040" cy="365760"/>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DHCP and DNS for all sections</a:t>
            </a:r>
            <a:endParaRPr lang="en-US" sz="1050" dirty="0"/>
          </a:p>
        </p:txBody>
      </p:sp>
      <p:sp>
        <p:nvSpPr>
          <p:cNvPr id="18" name="Shape 16"/>
          <p:cNvSpPr/>
          <p:nvPr/>
        </p:nvSpPr>
        <p:spPr>
          <a:xfrm>
            <a:off x="274320" y="3346704"/>
            <a:ext cx="3931920" cy="365760"/>
          </a:xfrm>
          <a:prstGeom prst="rect">
            <a:avLst/>
          </a:prstGeom>
          <a:solidFill>
            <a:srgbClr val="FFFFFF"/>
          </a:solidFill>
          <a:ln w="12700">
            <a:solidFill>
              <a:srgbClr val="CCDDEE"/>
            </a:solidFill>
            <a:prstDash val="solid"/>
          </a:ln>
        </p:spPr>
        <p:txBody>
          <a:bodyPr/>
          <a:lstStyle/>
          <a:p>
            <a:endParaRPr lang="en-ZA"/>
          </a:p>
        </p:txBody>
      </p:sp>
      <p:sp>
        <p:nvSpPr>
          <p:cNvPr id="19" name="Text 17"/>
          <p:cNvSpPr/>
          <p:nvPr/>
        </p:nvSpPr>
        <p:spPr>
          <a:xfrm>
            <a:off x="365760" y="3346704"/>
            <a:ext cx="3749040" cy="365760"/>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FTP and HTTP intranet services</a:t>
            </a:r>
            <a:endParaRPr lang="en-US" sz="1050" dirty="0"/>
          </a:p>
        </p:txBody>
      </p:sp>
      <p:sp>
        <p:nvSpPr>
          <p:cNvPr id="20" name="Shape 18"/>
          <p:cNvSpPr/>
          <p:nvPr/>
        </p:nvSpPr>
        <p:spPr>
          <a:xfrm>
            <a:off x="274320" y="3730752"/>
            <a:ext cx="3931920" cy="365760"/>
          </a:xfrm>
          <a:prstGeom prst="rect">
            <a:avLst/>
          </a:prstGeom>
          <a:solidFill>
            <a:srgbClr val="E8F0F8"/>
          </a:solidFill>
          <a:ln w="12700">
            <a:solidFill>
              <a:srgbClr val="CCDDEE"/>
            </a:solidFill>
            <a:prstDash val="solid"/>
          </a:ln>
        </p:spPr>
        <p:txBody>
          <a:bodyPr/>
          <a:lstStyle/>
          <a:p>
            <a:endParaRPr lang="en-ZA"/>
          </a:p>
        </p:txBody>
      </p:sp>
      <p:sp>
        <p:nvSpPr>
          <p:cNvPr id="21" name="Text 19"/>
          <p:cNvSpPr/>
          <p:nvPr/>
        </p:nvSpPr>
        <p:spPr>
          <a:xfrm>
            <a:off x="365760" y="3730752"/>
            <a:ext cx="3749040" cy="365760"/>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Only location for switches &gt;8 ports</a:t>
            </a:r>
            <a:endParaRPr lang="en-US" sz="1050" dirty="0"/>
          </a:p>
        </p:txBody>
      </p:sp>
      <p:sp>
        <p:nvSpPr>
          <p:cNvPr id="22" name="Shape 20"/>
          <p:cNvSpPr/>
          <p:nvPr/>
        </p:nvSpPr>
        <p:spPr>
          <a:xfrm>
            <a:off x="4480560" y="1051560"/>
            <a:ext cx="4389120" cy="347472"/>
          </a:xfrm>
          <a:prstGeom prst="rect">
            <a:avLst/>
          </a:prstGeom>
          <a:solidFill>
            <a:srgbClr val="2D6A4F"/>
          </a:solidFill>
          <a:ln w="12700">
            <a:solidFill>
              <a:srgbClr val="2D6A4F"/>
            </a:solidFill>
            <a:prstDash val="solid"/>
          </a:ln>
        </p:spPr>
        <p:txBody>
          <a:bodyPr/>
          <a:lstStyle/>
          <a:p>
            <a:endParaRPr lang="en-ZA"/>
          </a:p>
        </p:txBody>
      </p:sp>
      <p:sp>
        <p:nvSpPr>
          <p:cNvPr id="23" name="Text 21"/>
          <p:cNvSpPr/>
          <p:nvPr/>
        </p:nvSpPr>
        <p:spPr>
          <a:xfrm>
            <a:off x="4480560" y="1051560"/>
            <a:ext cx="4389120" cy="347472"/>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Packet Tracer Devices</a:t>
            </a:r>
            <a:endParaRPr lang="en-US" sz="1200" dirty="0"/>
          </a:p>
        </p:txBody>
      </p:sp>
      <p:sp>
        <p:nvSpPr>
          <p:cNvPr id="24" name="Shape 22"/>
          <p:cNvSpPr/>
          <p:nvPr/>
        </p:nvSpPr>
        <p:spPr>
          <a:xfrm>
            <a:off x="4480560" y="1426464"/>
            <a:ext cx="4389120" cy="365760"/>
          </a:xfrm>
          <a:prstGeom prst="rect">
            <a:avLst/>
          </a:prstGeom>
          <a:solidFill>
            <a:srgbClr val="F0FFF4"/>
          </a:solidFill>
          <a:ln w="12700">
            <a:solidFill>
              <a:srgbClr val="AADDBB"/>
            </a:solidFill>
            <a:prstDash val="solid"/>
          </a:ln>
        </p:spPr>
        <p:txBody>
          <a:bodyPr/>
          <a:lstStyle/>
          <a:p>
            <a:endParaRPr lang="en-ZA"/>
          </a:p>
        </p:txBody>
      </p:sp>
      <p:sp>
        <p:nvSpPr>
          <p:cNvPr id="25" name="Text 23"/>
          <p:cNvSpPr/>
          <p:nvPr/>
        </p:nvSpPr>
        <p:spPr>
          <a:xfrm>
            <a:off x="4572000" y="1426464"/>
            <a:ext cx="4206240" cy="365760"/>
          </a:xfrm>
          <a:prstGeom prst="rect">
            <a:avLst/>
          </a:prstGeom>
          <a:noFill/>
          <a:ln/>
        </p:spPr>
        <p:txBody>
          <a:bodyPr wrap="square" rtlCol="0" anchor="ctr"/>
          <a:lstStyle/>
          <a:p>
            <a:pPr marL="0" indent="0">
              <a:buNone/>
            </a:pPr>
            <a:r>
              <a:rPr lang="en-US" sz="1050" b="1" dirty="0">
                <a:solidFill>
                  <a:srgbClr val="2D6A4F"/>
                </a:solidFill>
                <a:latin typeface="Calibri" pitchFamily="34" charset="0"/>
                <a:ea typeface="Calibri" pitchFamily="34" charset="-122"/>
                <a:cs typeface="Calibri" pitchFamily="34" charset="-120"/>
              </a:rPr>
              <a:t>ISP-Router (1941): </a:t>
            </a:r>
            <a:r>
              <a:rPr lang="en-US" sz="1050" dirty="0">
                <a:solidFill>
                  <a:srgbClr val="1A1A2E"/>
                </a:solidFill>
                <a:latin typeface="Calibri" pitchFamily="34" charset="0"/>
                <a:ea typeface="Calibri" pitchFamily="34" charset="-122"/>
                <a:cs typeface="Calibri" pitchFamily="34" charset="-120"/>
              </a:rPr>
              <a:t>Router-on-a-Stick, NAT, firewall</a:t>
            </a:r>
            <a:endParaRPr lang="en-US" sz="1050" dirty="0"/>
          </a:p>
        </p:txBody>
      </p:sp>
      <p:sp>
        <p:nvSpPr>
          <p:cNvPr id="26" name="Shape 24"/>
          <p:cNvSpPr/>
          <p:nvPr/>
        </p:nvSpPr>
        <p:spPr>
          <a:xfrm>
            <a:off x="4480560" y="1810512"/>
            <a:ext cx="4389120" cy="365760"/>
          </a:xfrm>
          <a:prstGeom prst="rect">
            <a:avLst/>
          </a:prstGeom>
          <a:solidFill>
            <a:srgbClr val="FFFFFF"/>
          </a:solidFill>
          <a:ln w="12700">
            <a:solidFill>
              <a:srgbClr val="AADDBB"/>
            </a:solidFill>
            <a:prstDash val="solid"/>
          </a:ln>
        </p:spPr>
        <p:txBody>
          <a:bodyPr/>
          <a:lstStyle/>
          <a:p>
            <a:endParaRPr lang="en-ZA"/>
          </a:p>
        </p:txBody>
      </p:sp>
      <p:sp>
        <p:nvSpPr>
          <p:cNvPr id="27" name="Text 25"/>
          <p:cNvSpPr/>
          <p:nvPr/>
        </p:nvSpPr>
        <p:spPr>
          <a:xfrm>
            <a:off x="4572000" y="1810512"/>
            <a:ext cx="4206240" cy="365760"/>
          </a:xfrm>
          <a:prstGeom prst="rect">
            <a:avLst/>
          </a:prstGeom>
          <a:noFill/>
          <a:ln/>
        </p:spPr>
        <p:txBody>
          <a:bodyPr wrap="square" rtlCol="0" anchor="ctr"/>
          <a:lstStyle/>
          <a:p>
            <a:pPr marL="0" indent="0">
              <a:buNone/>
            </a:pPr>
            <a:r>
              <a:rPr lang="en-US" sz="1050" b="1" dirty="0">
                <a:solidFill>
                  <a:srgbClr val="2D6A4F"/>
                </a:solidFill>
                <a:latin typeface="Calibri" pitchFamily="34" charset="0"/>
                <a:ea typeface="Calibri" pitchFamily="34" charset="-122"/>
                <a:cs typeface="Calibri" pitchFamily="34" charset="-120"/>
              </a:rPr>
              <a:t>Core-Switch (3650): </a:t>
            </a:r>
            <a:r>
              <a:rPr lang="en-US" sz="1050" dirty="0">
                <a:solidFill>
                  <a:srgbClr val="1A1A2E"/>
                </a:solidFill>
                <a:latin typeface="Calibri" pitchFamily="34" charset="0"/>
                <a:ea typeface="Calibri" pitchFamily="34" charset="-122"/>
                <a:cs typeface="Calibri" pitchFamily="34" charset="-120"/>
              </a:rPr>
              <a:t>Backbone, all VLANs and trunks</a:t>
            </a:r>
            <a:endParaRPr lang="en-US" sz="1050" dirty="0"/>
          </a:p>
        </p:txBody>
      </p:sp>
      <p:sp>
        <p:nvSpPr>
          <p:cNvPr id="28" name="Shape 26"/>
          <p:cNvSpPr/>
          <p:nvPr/>
        </p:nvSpPr>
        <p:spPr>
          <a:xfrm>
            <a:off x="4480560" y="2194560"/>
            <a:ext cx="4389120" cy="365760"/>
          </a:xfrm>
          <a:prstGeom prst="rect">
            <a:avLst/>
          </a:prstGeom>
          <a:solidFill>
            <a:srgbClr val="F0FFF4"/>
          </a:solidFill>
          <a:ln w="12700">
            <a:solidFill>
              <a:srgbClr val="AADDBB"/>
            </a:solidFill>
            <a:prstDash val="solid"/>
          </a:ln>
        </p:spPr>
        <p:txBody>
          <a:bodyPr/>
          <a:lstStyle/>
          <a:p>
            <a:endParaRPr lang="en-ZA"/>
          </a:p>
        </p:txBody>
      </p:sp>
      <p:sp>
        <p:nvSpPr>
          <p:cNvPr id="29" name="Text 27"/>
          <p:cNvSpPr/>
          <p:nvPr/>
        </p:nvSpPr>
        <p:spPr>
          <a:xfrm>
            <a:off x="4572000" y="2194560"/>
            <a:ext cx="4206240" cy="365760"/>
          </a:xfrm>
          <a:prstGeom prst="rect">
            <a:avLst/>
          </a:prstGeom>
          <a:noFill/>
          <a:ln/>
        </p:spPr>
        <p:txBody>
          <a:bodyPr wrap="square" rtlCol="0" anchor="ctr"/>
          <a:lstStyle/>
          <a:p>
            <a:pPr marL="0" indent="0">
              <a:buNone/>
            </a:pPr>
            <a:r>
              <a:rPr lang="en-US" sz="1050" b="1" dirty="0">
                <a:solidFill>
                  <a:srgbClr val="2D6A4F"/>
                </a:solidFill>
                <a:latin typeface="Calibri" pitchFamily="34" charset="0"/>
                <a:ea typeface="Calibri" pitchFamily="34" charset="-122"/>
                <a:cs typeface="Calibri" pitchFamily="34" charset="-120"/>
              </a:rPr>
              <a:t>Dist-Switch-1: </a:t>
            </a:r>
            <a:r>
              <a:rPr lang="en-US" sz="1050" dirty="0">
                <a:solidFill>
                  <a:srgbClr val="1A1A2E"/>
                </a:solidFill>
                <a:latin typeface="Calibri" pitchFamily="34" charset="0"/>
                <a:ea typeface="Calibri" pitchFamily="34" charset="-122"/>
                <a:cs typeface="Calibri" pitchFamily="34" charset="-120"/>
              </a:rPr>
              <a:t>Reception, Kitchen, Open Floor, Guest</a:t>
            </a:r>
            <a:endParaRPr lang="en-US" sz="1050" dirty="0"/>
          </a:p>
        </p:txBody>
      </p:sp>
      <p:sp>
        <p:nvSpPr>
          <p:cNvPr id="30" name="Shape 28"/>
          <p:cNvSpPr/>
          <p:nvPr/>
        </p:nvSpPr>
        <p:spPr>
          <a:xfrm>
            <a:off x="4480560" y="2578608"/>
            <a:ext cx="4389120" cy="365760"/>
          </a:xfrm>
          <a:prstGeom prst="rect">
            <a:avLst/>
          </a:prstGeom>
          <a:solidFill>
            <a:srgbClr val="FFFFFF"/>
          </a:solidFill>
          <a:ln w="12700">
            <a:solidFill>
              <a:srgbClr val="AADDBB"/>
            </a:solidFill>
            <a:prstDash val="solid"/>
          </a:ln>
        </p:spPr>
        <p:txBody>
          <a:bodyPr/>
          <a:lstStyle/>
          <a:p>
            <a:endParaRPr lang="en-ZA"/>
          </a:p>
        </p:txBody>
      </p:sp>
      <p:sp>
        <p:nvSpPr>
          <p:cNvPr id="31" name="Text 29"/>
          <p:cNvSpPr/>
          <p:nvPr/>
        </p:nvSpPr>
        <p:spPr>
          <a:xfrm>
            <a:off x="4572000" y="2578608"/>
            <a:ext cx="4206240" cy="365760"/>
          </a:xfrm>
          <a:prstGeom prst="rect">
            <a:avLst/>
          </a:prstGeom>
          <a:noFill/>
          <a:ln/>
        </p:spPr>
        <p:txBody>
          <a:bodyPr wrap="square" rtlCol="0" anchor="ctr"/>
          <a:lstStyle/>
          <a:p>
            <a:pPr marL="0" indent="0">
              <a:buNone/>
            </a:pPr>
            <a:r>
              <a:rPr lang="en-US" sz="1050" b="1" dirty="0">
                <a:solidFill>
                  <a:srgbClr val="2D6A4F"/>
                </a:solidFill>
                <a:latin typeface="Calibri" pitchFamily="34" charset="0"/>
                <a:ea typeface="Calibri" pitchFamily="34" charset="-122"/>
                <a:cs typeface="Calibri" pitchFamily="34" charset="-120"/>
              </a:rPr>
              <a:t>Dist-Switch-2: </a:t>
            </a:r>
            <a:r>
              <a:rPr lang="en-US" sz="1050" dirty="0">
                <a:solidFill>
                  <a:srgbClr val="1A1A2E"/>
                </a:solidFill>
                <a:latin typeface="Calibri" pitchFamily="34" charset="0"/>
                <a:ea typeface="Calibri" pitchFamily="34" charset="-122"/>
                <a:cs typeface="Calibri" pitchFamily="34" charset="-120"/>
              </a:rPr>
              <a:t>Offices, Technicians, Meeting Room</a:t>
            </a:r>
            <a:endParaRPr lang="en-US" sz="1050" dirty="0"/>
          </a:p>
        </p:txBody>
      </p:sp>
      <p:sp>
        <p:nvSpPr>
          <p:cNvPr id="32" name="Shape 30"/>
          <p:cNvSpPr/>
          <p:nvPr/>
        </p:nvSpPr>
        <p:spPr>
          <a:xfrm>
            <a:off x="4480560" y="2962656"/>
            <a:ext cx="4389120" cy="365760"/>
          </a:xfrm>
          <a:prstGeom prst="rect">
            <a:avLst/>
          </a:prstGeom>
          <a:solidFill>
            <a:srgbClr val="F0FFF4"/>
          </a:solidFill>
          <a:ln w="12700">
            <a:solidFill>
              <a:srgbClr val="AADDBB"/>
            </a:solidFill>
            <a:prstDash val="solid"/>
          </a:ln>
        </p:spPr>
        <p:txBody>
          <a:bodyPr/>
          <a:lstStyle/>
          <a:p>
            <a:endParaRPr lang="en-ZA"/>
          </a:p>
        </p:txBody>
      </p:sp>
      <p:sp>
        <p:nvSpPr>
          <p:cNvPr id="33" name="Text 31"/>
          <p:cNvSpPr/>
          <p:nvPr/>
        </p:nvSpPr>
        <p:spPr>
          <a:xfrm>
            <a:off x="4572000" y="2962656"/>
            <a:ext cx="4206240" cy="365760"/>
          </a:xfrm>
          <a:prstGeom prst="rect">
            <a:avLst/>
          </a:prstGeom>
          <a:noFill/>
          <a:ln/>
        </p:spPr>
        <p:txBody>
          <a:bodyPr wrap="square" rtlCol="0" anchor="ctr"/>
          <a:lstStyle/>
          <a:p>
            <a:pPr marL="0" indent="0">
              <a:buNone/>
            </a:pPr>
            <a:r>
              <a:rPr lang="en-US" sz="1050" b="1" dirty="0">
                <a:solidFill>
                  <a:srgbClr val="2D6A4F"/>
                </a:solidFill>
                <a:latin typeface="Calibri" pitchFamily="34" charset="0"/>
                <a:ea typeface="Calibri" pitchFamily="34" charset="-122"/>
                <a:cs typeface="Calibri" pitchFamily="34" charset="-120"/>
              </a:rPr>
              <a:t>DHCP-DNS-Server: </a:t>
            </a:r>
            <a:r>
              <a:rPr lang="en-US" sz="1050" dirty="0">
                <a:solidFill>
                  <a:srgbClr val="1A1A2E"/>
                </a:solidFill>
                <a:latin typeface="Calibri" pitchFamily="34" charset="0"/>
                <a:ea typeface="Calibri" pitchFamily="34" charset="-122"/>
                <a:cs typeface="Calibri" pitchFamily="34" charset="-120"/>
              </a:rPr>
              <a:t>IP assignment + DNS for all VLANs</a:t>
            </a:r>
            <a:endParaRPr lang="en-US" sz="1050" dirty="0"/>
          </a:p>
        </p:txBody>
      </p:sp>
      <p:sp>
        <p:nvSpPr>
          <p:cNvPr id="34" name="Shape 32"/>
          <p:cNvSpPr/>
          <p:nvPr/>
        </p:nvSpPr>
        <p:spPr>
          <a:xfrm>
            <a:off x="4480560" y="3346704"/>
            <a:ext cx="4389120" cy="365760"/>
          </a:xfrm>
          <a:prstGeom prst="rect">
            <a:avLst/>
          </a:prstGeom>
          <a:solidFill>
            <a:srgbClr val="FFFFFF"/>
          </a:solidFill>
          <a:ln w="12700">
            <a:solidFill>
              <a:srgbClr val="AADDBB"/>
            </a:solidFill>
            <a:prstDash val="solid"/>
          </a:ln>
        </p:spPr>
        <p:txBody>
          <a:bodyPr/>
          <a:lstStyle/>
          <a:p>
            <a:endParaRPr lang="en-ZA"/>
          </a:p>
        </p:txBody>
      </p:sp>
      <p:sp>
        <p:nvSpPr>
          <p:cNvPr id="35" name="Text 33"/>
          <p:cNvSpPr/>
          <p:nvPr/>
        </p:nvSpPr>
        <p:spPr>
          <a:xfrm>
            <a:off x="4572000" y="3346704"/>
            <a:ext cx="4206240" cy="365760"/>
          </a:xfrm>
          <a:prstGeom prst="rect">
            <a:avLst/>
          </a:prstGeom>
          <a:noFill/>
          <a:ln/>
        </p:spPr>
        <p:txBody>
          <a:bodyPr wrap="square" rtlCol="0" anchor="ctr"/>
          <a:lstStyle/>
          <a:p>
            <a:pPr marL="0" indent="0">
              <a:buNone/>
            </a:pPr>
            <a:r>
              <a:rPr lang="en-US" sz="1050" b="1" dirty="0">
                <a:solidFill>
                  <a:srgbClr val="2D6A4F"/>
                </a:solidFill>
                <a:latin typeface="Calibri" pitchFamily="34" charset="0"/>
                <a:ea typeface="Calibri" pitchFamily="34" charset="-122"/>
                <a:cs typeface="Calibri" pitchFamily="34" charset="-120"/>
              </a:rPr>
              <a:t>File-Server: </a:t>
            </a:r>
            <a:r>
              <a:rPr lang="en-US" sz="1050" dirty="0">
                <a:solidFill>
                  <a:srgbClr val="1A1A2E"/>
                </a:solidFill>
                <a:latin typeface="Calibri" pitchFamily="34" charset="0"/>
                <a:ea typeface="Calibri" pitchFamily="34" charset="-122"/>
                <a:cs typeface="Calibri" pitchFamily="34" charset="-120"/>
              </a:rPr>
              <a:t>Centralised file storage</a:t>
            </a:r>
            <a:endParaRPr lang="en-US" sz="1050" dirty="0"/>
          </a:p>
        </p:txBody>
      </p:sp>
      <p:sp>
        <p:nvSpPr>
          <p:cNvPr id="36" name="Shape 34"/>
          <p:cNvSpPr/>
          <p:nvPr/>
        </p:nvSpPr>
        <p:spPr>
          <a:xfrm>
            <a:off x="4480560" y="3730752"/>
            <a:ext cx="4389120" cy="365760"/>
          </a:xfrm>
          <a:prstGeom prst="rect">
            <a:avLst/>
          </a:prstGeom>
          <a:solidFill>
            <a:srgbClr val="F0FFF4"/>
          </a:solidFill>
          <a:ln w="12700">
            <a:solidFill>
              <a:srgbClr val="AADDBB"/>
            </a:solidFill>
            <a:prstDash val="solid"/>
          </a:ln>
        </p:spPr>
        <p:txBody>
          <a:bodyPr/>
          <a:lstStyle/>
          <a:p>
            <a:endParaRPr lang="en-ZA"/>
          </a:p>
        </p:txBody>
      </p:sp>
      <p:sp>
        <p:nvSpPr>
          <p:cNvPr id="37" name="Text 35"/>
          <p:cNvSpPr/>
          <p:nvPr/>
        </p:nvSpPr>
        <p:spPr>
          <a:xfrm>
            <a:off x="4572000" y="3730752"/>
            <a:ext cx="4206240" cy="365760"/>
          </a:xfrm>
          <a:prstGeom prst="rect">
            <a:avLst/>
          </a:prstGeom>
          <a:noFill/>
          <a:ln/>
        </p:spPr>
        <p:txBody>
          <a:bodyPr wrap="square" rtlCol="0" anchor="ctr"/>
          <a:lstStyle/>
          <a:p>
            <a:pPr marL="0" indent="0">
              <a:buNone/>
            </a:pPr>
            <a:r>
              <a:rPr lang="en-US" sz="1050" b="1" dirty="0">
                <a:solidFill>
                  <a:srgbClr val="2D6A4F"/>
                </a:solidFill>
                <a:latin typeface="Calibri" pitchFamily="34" charset="0"/>
                <a:ea typeface="Calibri" pitchFamily="34" charset="-122"/>
                <a:cs typeface="Calibri" pitchFamily="34" charset="-120"/>
              </a:rPr>
              <a:t>Intranet-Server: </a:t>
            </a:r>
            <a:r>
              <a:rPr lang="en-US" sz="1050" dirty="0">
                <a:solidFill>
                  <a:srgbClr val="1A1A2E"/>
                </a:solidFill>
                <a:latin typeface="Calibri" pitchFamily="34" charset="0"/>
                <a:ea typeface="Calibri" pitchFamily="34" charset="-122"/>
                <a:cs typeface="Calibri" pitchFamily="34" charset="-120"/>
              </a:rPr>
              <a:t>HTTP intranet hosting</a:t>
            </a:r>
            <a:endParaRPr lang="en-US" sz="1050" dirty="0"/>
          </a:p>
        </p:txBody>
      </p:sp>
      <p:sp>
        <p:nvSpPr>
          <p:cNvPr id="38" name="Shape 36"/>
          <p:cNvSpPr/>
          <p:nvPr/>
        </p:nvSpPr>
        <p:spPr>
          <a:xfrm>
            <a:off x="4480560" y="4114800"/>
            <a:ext cx="4389120" cy="365760"/>
          </a:xfrm>
          <a:prstGeom prst="rect">
            <a:avLst/>
          </a:prstGeom>
          <a:solidFill>
            <a:srgbClr val="FFFFFF"/>
          </a:solidFill>
          <a:ln w="12700">
            <a:solidFill>
              <a:srgbClr val="AADDBB"/>
            </a:solidFill>
            <a:prstDash val="solid"/>
          </a:ln>
        </p:spPr>
        <p:txBody>
          <a:bodyPr/>
          <a:lstStyle/>
          <a:p>
            <a:endParaRPr lang="en-ZA"/>
          </a:p>
        </p:txBody>
      </p:sp>
      <p:sp>
        <p:nvSpPr>
          <p:cNvPr id="39" name="Text 37"/>
          <p:cNvSpPr/>
          <p:nvPr/>
        </p:nvSpPr>
        <p:spPr>
          <a:xfrm>
            <a:off x="4572000" y="4114800"/>
            <a:ext cx="4206240" cy="365760"/>
          </a:xfrm>
          <a:prstGeom prst="rect">
            <a:avLst/>
          </a:prstGeom>
          <a:noFill/>
          <a:ln/>
        </p:spPr>
        <p:txBody>
          <a:bodyPr wrap="square" rtlCol="0" anchor="ctr"/>
          <a:lstStyle/>
          <a:p>
            <a:pPr marL="0" indent="0">
              <a:buNone/>
            </a:pPr>
            <a:r>
              <a:rPr lang="en-US" sz="1050" b="1" dirty="0">
                <a:solidFill>
                  <a:srgbClr val="2D6A4F"/>
                </a:solidFill>
                <a:latin typeface="Calibri" pitchFamily="34" charset="0"/>
                <a:ea typeface="Calibri" pitchFamily="34" charset="-122"/>
                <a:cs typeface="Calibri" pitchFamily="34" charset="-120"/>
              </a:rPr>
              <a:t>Backup-Server: </a:t>
            </a:r>
            <a:r>
              <a:rPr lang="en-US" sz="1050" dirty="0">
                <a:solidFill>
                  <a:srgbClr val="1A1A2E"/>
                </a:solidFill>
                <a:latin typeface="Calibri" pitchFamily="34" charset="0"/>
                <a:ea typeface="Calibri" pitchFamily="34" charset="-122"/>
                <a:cs typeface="Calibri" pitchFamily="34" charset="-120"/>
              </a:rPr>
              <a:t>Data backup and recovery</a:t>
            </a:r>
            <a:endParaRPr lang="en-US" sz="1050" dirty="0"/>
          </a:p>
        </p:txBody>
      </p:sp>
      <p:sp>
        <p:nvSpPr>
          <p:cNvPr id="40" name="Shape 38"/>
          <p:cNvSpPr/>
          <p:nvPr/>
        </p:nvSpPr>
        <p:spPr>
          <a:xfrm>
            <a:off x="0" y="4937760"/>
            <a:ext cx="9144000" cy="457200"/>
          </a:xfrm>
          <a:prstGeom prst="rect">
            <a:avLst/>
          </a:prstGeom>
          <a:solidFill>
            <a:srgbClr val="1E3A5F"/>
          </a:solidFill>
          <a:ln w="12700">
            <a:solidFill>
              <a:srgbClr val="1E3A5F"/>
            </a:solidFill>
            <a:prstDash val="solid"/>
          </a:ln>
        </p:spPr>
        <p:txBody>
          <a:bodyPr/>
          <a:lstStyle/>
          <a:p>
            <a:endParaRPr lang="en-ZA"/>
          </a:p>
        </p:txBody>
      </p:sp>
      <p:sp>
        <p:nvSpPr>
          <p:cNvPr id="41" name="Text 39"/>
          <p:cNvSpPr/>
          <p:nvPr/>
        </p:nvSpPr>
        <p:spPr>
          <a:xfrm>
            <a:off x="274320" y="4937760"/>
            <a:ext cx="8595360" cy="457200"/>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Subnet: 192.168.70.0/24  |  Gateway: 192.168.70.1  |  All major equipment centralised here to minimise cost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37" name="Rectangle 36">
            <a:extLst>
              <a:ext uri="{FF2B5EF4-FFF2-40B4-BE49-F238E27FC236}">
                <a16:creationId xmlns:a16="http://schemas.microsoft.com/office/drawing/2014/main" id="{CDDE5CDF-1512-4CDA-B956-23D223F8DE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514607"/>
            <a:ext cx="9144000" cy="3079455"/>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38" name="Picture 37">
            <a:extLst>
              <a:ext uri="{FF2B5EF4-FFF2-40B4-BE49-F238E27FC236}">
                <a16:creationId xmlns:a16="http://schemas.microsoft.com/office/drawing/2014/main" id="{B029D7D8-5A6B-4C76-94C8-15798C6C5AD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bwMode="black">
          <a:xfrm>
            <a:off x="0" y="4594860"/>
            <a:ext cx="9144000" cy="557212"/>
          </a:xfrm>
          <a:prstGeom prst="rect">
            <a:avLst/>
          </a:prstGeom>
        </p:spPr>
      </p:pic>
      <p:cxnSp>
        <p:nvCxnSpPr>
          <p:cNvPr id="39" name="Straight Connector 38">
            <a:extLst>
              <a:ext uri="{FF2B5EF4-FFF2-40B4-BE49-F238E27FC236}">
                <a16:creationId xmlns:a16="http://schemas.microsoft.com/office/drawing/2014/main" id="{A5C9319C-E20D-4884-952F-60B6A58C3E3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4596309"/>
            <a:ext cx="9144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 useBgFill="1">
        <p:nvSpPr>
          <p:cNvPr id="40" name="Rectangle 39">
            <a:extLst>
              <a:ext uri="{FF2B5EF4-FFF2-40B4-BE49-F238E27FC236}">
                <a16:creationId xmlns:a16="http://schemas.microsoft.com/office/drawing/2014/main" id="{62C9703D-C8F9-44AD-A7C0-C2F3871F8C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462012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DD7AF5AC-22E2-1A57-C106-5C895473BBA6}"/>
              </a:ext>
            </a:extLst>
          </p:cNvPr>
          <p:cNvPicPr>
            <a:picLocks noChangeAspect="1"/>
          </p:cNvPicPr>
          <p:nvPr/>
        </p:nvPicPr>
        <p:blipFill>
          <a:blip r:embed="rId3"/>
          <a:stretch>
            <a:fillRect/>
          </a:stretch>
        </p:blipFill>
        <p:spPr>
          <a:xfrm>
            <a:off x="891540" y="482600"/>
            <a:ext cx="7223759" cy="4028440"/>
          </a:xfrm>
          <a:prstGeom prst="rect">
            <a:avLst/>
          </a:prstGeom>
        </p:spPr>
      </p:pic>
    </p:spTree>
    <p:extLst>
      <p:ext uri="{BB962C8B-B14F-4D97-AF65-F5344CB8AC3E}">
        <p14:creationId xmlns:p14="http://schemas.microsoft.com/office/powerpoint/2010/main" val="14466909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E3A5F"/>
          </a:solidFill>
          <a:ln w="12700">
            <a:solidFill>
              <a:srgbClr val="1E3A5F"/>
            </a:solidFill>
            <a:prstDash val="solid"/>
          </a:ln>
        </p:spPr>
        <p:txBody>
          <a:bodyPr/>
          <a:lstStyle/>
          <a:p>
            <a:endParaRPr lang="en-ZA"/>
          </a:p>
        </p:txBody>
      </p:sp>
      <p:sp>
        <p:nvSpPr>
          <p:cNvPr id="3" name="Text 1"/>
          <p:cNvSpPr/>
          <p:nvPr/>
        </p:nvSpPr>
        <p:spPr>
          <a:xfrm>
            <a:off x="365760" y="0"/>
            <a:ext cx="6400800" cy="100584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Offices (13 Active Offices)</a:t>
            </a:r>
            <a:endParaRPr lang="en-US" sz="2600" dirty="0"/>
          </a:p>
        </p:txBody>
      </p:sp>
      <p:sp>
        <p:nvSpPr>
          <p:cNvPr id="4" name="Shape 2"/>
          <p:cNvSpPr/>
          <p:nvPr/>
        </p:nvSpPr>
        <p:spPr>
          <a:xfrm>
            <a:off x="6858000" y="182880"/>
            <a:ext cx="2011680" cy="640080"/>
          </a:xfrm>
          <a:prstGeom prst="rect">
            <a:avLst/>
          </a:prstGeom>
          <a:solidFill>
            <a:srgbClr val="2E75B6"/>
          </a:solidFill>
          <a:ln w="12700">
            <a:solidFill>
              <a:srgbClr val="2E75B6"/>
            </a:solidFill>
            <a:prstDash val="solid"/>
          </a:ln>
        </p:spPr>
        <p:txBody>
          <a:bodyPr/>
          <a:lstStyle/>
          <a:p>
            <a:endParaRPr lang="en-ZA"/>
          </a:p>
        </p:txBody>
      </p:sp>
      <p:sp>
        <p:nvSpPr>
          <p:cNvPr id="5" name="Text 3"/>
          <p:cNvSpPr/>
          <p:nvPr/>
        </p:nvSpPr>
        <p:spPr>
          <a:xfrm>
            <a:off x="6858000" y="182880"/>
            <a:ext cx="2011680" cy="6400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VLAN 10</a:t>
            </a:r>
            <a:endParaRPr lang="en-US" sz="1100" dirty="0"/>
          </a:p>
        </p:txBody>
      </p:sp>
      <p:sp>
        <p:nvSpPr>
          <p:cNvPr id="6" name="Shape 4"/>
          <p:cNvSpPr/>
          <p:nvPr/>
        </p:nvSpPr>
        <p:spPr>
          <a:xfrm>
            <a:off x="274320" y="1051560"/>
            <a:ext cx="3931920" cy="347472"/>
          </a:xfrm>
          <a:prstGeom prst="rect">
            <a:avLst/>
          </a:prstGeom>
          <a:solidFill>
            <a:srgbClr val="2E75B6"/>
          </a:solidFill>
          <a:ln w="12700">
            <a:solidFill>
              <a:srgbClr val="2E75B6"/>
            </a:solidFill>
            <a:prstDash val="solid"/>
          </a:ln>
        </p:spPr>
        <p:txBody>
          <a:bodyPr/>
          <a:lstStyle/>
          <a:p>
            <a:endParaRPr lang="en-ZA"/>
          </a:p>
        </p:txBody>
      </p:sp>
      <p:sp>
        <p:nvSpPr>
          <p:cNvPr id="7" name="Text 5"/>
          <p:cNvSpPr/>
          <p:nvPr/>
        </p:nvSpPr>
        <p:spPr>
          <a:xfrm>
            <a:off x="274320" y="1051560"/>
            <a:ext cx="3931920" cy="347472"/>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Requirements</a:t>
            </a:r>
            <a:endParaRPr lang="en-US" sz="1200" dirty="0"/>
          </a:p>
        </p:txBody>
      </p:sp>
      <p:sp>
        <p:nvSpPr>
          <p:cNvPr id="8" name="Shape 6"/>
          <p:cNvSpPr/>
          <p:nvPr/>
        </p:nvSpPr>
        <p:spPr>
          <a:xfrm>
            <a:off x="274320" y="1426464"/>
            <a:ext cx="3931920" cy="365760"/>
          </a:xfrm>
          <a:prstGeom prst="rect">
            <a:avLst/>
          </a:prstGeom>
          <a:solidFill>
            <a:srgbClr val="E8F0F8"/>
          </a:solidFill>
          <a:ln w="12700">
            <a:solidFill>
              <a:srgbClr val="CCDDEE"/>
            </a:solidFill>
            <a:prstDash val="solid"/>
          </a:ln>
        </p:spPr>
        <p:txBody>
          <a:bodyPr/>
          <a:lstStyle/>
          <a:p>
            <a:endParaRPr lang="en-ZA"/>
          </a:p>
        </p:txBody>
      </p:sp>
      <p:sp>
        <p:nvSpPr>
          <p:cNvPr id="9" name="Text 7"/>
          <p:cNvSpPr/>
          <p:nvPr/>
        </p:nvSpPr>
        <p:spPr>
          <a:xfrm>
            <a:off x="365760" y="1426464"/>
            <a:ext cx="3749040" cy="365760"/>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13 active offices, 3 people per office</a:t>
            </a:r>
            <a:endParaRPr lang="en-US" sz="1050" dirty="0"/>
          </a:p>
        </p:txBody>
      </p:sp>
      <p:sp>
        <p:nvSpPr>
          <p:cNvPr id="10" name="Shape 8"/>
          <p:cNvSpPr/>
          <p:nvPr/>
        </p:nvSpPr>
        <p:spPr>
          <a:xfrm>
            <a:off x="274320" y="1810512"/>
            <a:ext cx="3931920" cy="365760"/>
          </a:xfrm>
          <a:prstGeom prst="rect">
            <a:avLst/>
          </a:prstGeom>
          <a:solidFill>
            <a:srgbClr val="FFFFFF"/>
          </a:solidFill>
          <a:ln w="12700">
            <a:solidFill>
              <a:srgbClr val="CCDDEE"/>
            </a:solidFill>
            <a:prstDash val="solid"/>
          </a:ln>
        </p:spPr>
        <p:txBody>
          <a:bodyPr/>
          <a:lstStyle/>
          <a:p>
            <a:endParaRPr lang="en-ZA"/>
          </a:p>
        </p:txBody>
      </p:sp>
      <p:sp>
        <p:nvSpPr>
          <p:cNvPr id="11" name="Text 9"/>
          <p:cNvSpPr/>
          <p:nvPr/>
        </p:nvSpPr>
        <p:spPr>
          <a:xfrm>
            <a:off x="365760" y="1810512"/>
            <a:ext cx="3749040" cy="365760"/>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36 wired network points for staff PCs</a:t>
            </a:r>
            <a:endParaRPr lang="en-US" sz="1050" dirty="0"/>
          </a:p>
        </p:txBody>
      </p:sp>
      <p:sp>
        <p:nvSpPr>
          <p:cNvPr id="12" name="Shape 10"/>
          <p:cNvSpPr/>
          <p:nvPr/>
        </p:nvSpPr>
        <p:spPr>
          <a:xfrm>
            <a:off x="274320" y="2194560"/>
            <a:ext cx="3931920" cy="365760"/>
          </a:xfrm>
          <a:prstGeom prst="rect">
            <a:avLst/>
          </a:prstGeom>
          <a:solidFill>
            <a:srgbClr val="E8F0F8"/>
          </a:solidFill>
          <a:ln w="12700">
            <a:solidFill>
              <a:srgbClr val="CCDDEE"/>
            </a:solidFill>
            <a:prstDash val="solid"/>
          </a:ln>
        </p:spPr>
        <p:txBody>
          <a:bodyPr/>
          <a:lstStyle/>
          <a:p>
            <a:endParaRPr lang="en-ZA"/>
          </a:p>
        </p:txBody>
      </p:sp>
      <p:sp>
        <p:nvSpPr>
          <p:cNvPr id="13" name="Text 11"/>
          <p:cNvSpPr/>
          <p:nvPr/>
        </p:nvSpPr>
        <p:spPr>
          <a:xfrm>
            <a:off x="365760" y="2194560"/>
            <a:ext cx="3749040" cy="365760"/>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Each staff member: up to 4 WiFi devices</a:t>
            </a:r>
            <a:endParaRPr lang="en-US" sz="1050" dirty="0"/>
          </a:p>
        </p:txBody>
      </p:sp>
      <p:sp>
        <p:nvSpPr>
          <p:cNvPr id="14" name="Shape 12"/>
          <p:cNvSpPr/>
          <p:nvPr/>
        </p:nvSpPr>
        <p:spPr>
          <a:xfrm>
            <a:off x="274320" y="2578608"/>
            <a:ext cx="3931920" cy="365760"/>
          </a:xfrm>
          <a:prstGeom prst="rect">
            <a:avLst/>
          </a:prstGeom>
          <a:solidFill>
            <a:srgbClr val="FFFFFF"/>
          </a:solidFill>
          <a:ln w="12700">
            <a:solidFill>
              <a:srgbClr val="CCDDEE"/>
            </a:solidFill>
            <a:prstDash val="solid"/>
          </a:ln>
        </p:spPr>
        <p:txBody>
          <a:bodyPr/>
          <a:lstStyle/>
          <a:p>
            <a:endParaRPr lang="en-ZA"/>
          </a:p>
        </p:txBody>
      </p:sp>
      <p:sp>
        <p:nvSpPr>
          <p:cNvPr id="15" name="Text 13"/>
          <p:cNvSpPr/>
          <p:nvPr/>
        </p:nvSpPr>
        <p:spPr>
          <a:xfrm>
            <a:off x="365760" y="2578608"/>
            <a:ext cx="3749040" cy="365760"/>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108 WiFi devices total</a:t>
            </a:r>
            <a:endParaRPr lang="en-US" sz="1050" dirty="0"/>
          </a:p>
        </p:txBody>
      </p:sp>
      <p:sp>
        <p:nvSpPr>
          <p:cNvPr id="16" name="Shape 14"/>
          <p:cNvSpPr/>
          <p:nvPr/>
        </p:nvSpPr>
        <p:spPr>
          <a:xfrm>
            <a:off x="274320" y="2962656"/>
            <a:ext cx="3931920" cy="365760"/>
          </a:xfrm>
          <a:prstGeom prst="rect">
            <a:avLst/>
          </a:prstGeom>
          <a:solidFill>
            <a:srgbClr val="E8F0F8"/>
          </a:solidFill>
          <a:ln w="12700">
            <a:solidFill>
              <a:srgbClr val="CCDDEE"/>
            </a:solidFill>
            <a:prstDash val="solid"/>
          </a:ln>
        </p:spPr>
        <p:txBody>
          <a:bodyPr/>
          <a:lstStyle/>
          <a:p>
            <a:endParaRPr lang="en-ZA"/>
          </a:p>
        </p:txBody>
      </p:sp>
      <p:sp>
        <p:nvSpPr>
          <p:cNvPr id="17" name="Text 15"/>
          <p:cNvSpPr/>
          <p:nvPr/>
        </p:nvSpPr>
        <p:spPr>
          <a:xfrm>
            <a:off x="365760" y="2962656"/>
            <a:ext cx="3749040" cy="365760"/>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Printer accessible within section</a:t>
            </a:r>
            <a:endParaRPr lang="en-US" sz="1050" dirty="0"/>
          </a:p>
        </p:txBody>
      </p:sp>
      <p:sp>
        <p:nvSpPr>
          <p:cNvPr id="18" name="Shape 16"/>
          <p:cNvSpPr/>
          <p:nvPr/>
        </p:nvSpPr>
        <p:spPr>
          <a:xfrm>
            <a:off x="274320" y="3346704"/>
            <a:ext cx="3931920" cy="365760"/>
          </a:xfrm>
          <a:prstGeom prst="rect">
            <a:avLst/>
          </a:prstGeom>
          <a:solidFill>
            <a:srgbClr val="FFFFFF"/>
          </a:solidFill>
          <a:ln w="12700">
            <a:solidFill>
              <a:srgbClr val="CCDDEE"/>
            </a:solidFill>
            <a:prstDash val="solid"/>
          </a:ln>
        </p:spPr>
        <p:txBody>
          <a:bodyPr/>
          <a:lstStyle/>
          <a:p>
            <a:endParaRPr lang="en-ZA"/>
          </a:p>
        </p:txBody>
      </p:sp>
      <p:sp>
        <p:nvSpPr>
          <p:cNvPr id="19" name="Text 17"/>
          <p:cNvSpPr/>
          <p:nvPr/>
        </p:nvSpPr>
        <p:spPr>
          <a:xfrm>
            <a:off x="365760" y="3346704"/>
            <a:ext cx="3749040" cy="365760"/>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Isolated from all other sections</a:t>
            </a:r>
            <a:endParaRPr lang="en-US" sz="1050" dirty="0"/>
          </a:p>
        </p:txBody>
      </p:sp>
      <p:sp>
        <p:nvSpPr>
          <p:cNvPr id="20" name="Shape 18"/>
          <p:cNvSpPr/>
          <p:nvPr/>
        </p:nvSpPr>
        <p:spPr>
          <a:xfrm>
            <a:off x="274320" y="3730752"/>
            <a:ext cx="3931920" cy="365760"/>
          </a:xfrm>
          <a:prstGeom prst="rect">
            <a:avLst/>
          </a:prstGeom>
          <a:solidFill>
            <a:srgbClr val="E8F0F8"/>
          </a:solidFill>
          <a:ln w="12700">
            <a:solidFill>
              <a:srgbClr val="CCDDEE"/>
            </a:solidFill>
            <a:prstDash val="solid"/>
          </a:ln>
        </p:spPr>
        <p:txBody>
          <a:bodyPr/>
          <a:lstStyle/>
          <a:p>
            <a:endParaRPr lang="en-ZA"/>
          </a:p>
        </p:txBody>
      </p:sp>
      <p:sp>
        <p:nvSpPr>
          <p:cNvPr id="21" name="Text 19"/>
          <p:cNvSpPr/>
          <p:nvPr/>
        </p:nvSpPr>
        <p:spPr>
          <a:xfrm>
            <a:off x="365760" y="3730752"/>
            <a:ext cx="3749040" cy="365760"/>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Full internet access required</a:t>
            </a:r>
            <a:endParaRPr lang="en-US" sz="1050" dirty="0"/>
          </a:p>
        </p:txBody>
      </p:sp>
      <p:sp>
        <p:nvSpPr>
          <p:cNvPr id="22" name="Shape 20"/>
          <p:cNvSpPr/>
          <p:nvPr/>
        </p:nvSpPr>
        <p:spPr>
          <a:xfrm>
            <a:off x="4480560" y="1051560"/>
            <a:ext cx="4389120" cy="347472"/>
          </a:xfrm>
          <a:prstGeom prst="rect">
            <a:avLst/>
          </a:prstGeom>
          <a:solidFill>
            <a:srgbClr val="2D6A4F"/>
          </a:solidFill>
          <a:ln w="12700">
            <a:solidFill>
              <a:srgbClr val="2D6A4F"/>
            </a:solidFill>
            <a:prstDash val="solid"/>
          </a:ln>
        </p:spPr>
        <p:txBody>
          <a:bodyPr/>
          <a:lstStyle/>
          <a:p>
            <a:endParaRPr lang="en-ZA"/>
          </a:p>
        </p:txBody>
      </p:sp>
      <p:sp>
        <p:nvSpPr>
          <p:cNvPr id="23" name="Text 21"/>
          <p:cNvSpPr/>
          <p:nvPr/>
        </p:nvSpPr>
        <p:spPr>
          <a:xfrm>
            <a:off x="4480560" y="1051560"/>
            <a:ext cx="4389120" cy="347472"/>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Packet Tracer Devices</a:t>
            </a:r>
            <a:endParaRPr lang="en-US" sz="1200" dirty="0"/>
          </a:p>
        </p:txBody>
      </p:sp>
      <p:sp>
        <p:nvSpPr>
          <p:cNvPr id="24" name="Shape 22"/>
          <p:cNvSpPr/>
          <p:nvPr/>
        </p:nvSpPr>
        <p:spPr>
          <a:xfrm>
            <a:off x="4480560" y="1426464"/>
            <a:ext cx="4389120" cy="365760"/>
          </a:xfrm>
          <a:prstGeom prst="rect">
            <a:avLst/>
          </a:prstGeom>
          <a:solidFill>
            <a:srgbClr val="F0FFF4"/>
          </a:solidFill>
          <a:ln w="12700">
            <a:solidFill>
              <a:srgbClr val="AADDBB"/>
            </a:solidFill>
            <a:prstDash val="solid"/>
          </a:ln>
        </p:spPr>
        <p:txBody>
          <a:bodyPr/>
          <a:lstStyle/>
          <a:p>
            <a:endParaRPr lang="en-ZA"/>
          </a:p>
        </p:txBody>
      </p:sp>
      <p:sp>
        <p:nvSpPr>
          <p:cNvPr id="25" name="Text 23"/>
          <p:cNvSpPr/>
          <p:nvPr/>
        </p:nvSpPr>
        <p:spPr>
          <a:xfrm>
            <a:off x="4572000" y="1426464"/>
            <a:ext cx="4206240" cy="365760"/>
          </a:xfrm>
          <a:prstGeom prst="rect">
            <a:avLst/>
          </a:prstGeom>
          <a:noFill/>
          <a:ln/>
        </p:spPr>
        <p:txBody>
          <a:bodyPr wrap="square" rtlCol="0" anchor="ctr"/>
          <a:lstStyle/>
          <a:p>
            <a:pPr marL="0" indent="0">
              <a:buNone/>
            </a:pPr>
            <a:r>
              <a:rPr lang="en-US" sz="1050" b="1" dirty="0">
                <a:solidFill>
                  <a:srgbClr val="2D6A4F"/>
                </a:solidFill>
                <a:latin typeface="Calibri" pitchFamily="34" charset="0"/>
                <a:ea typeface="Calibri" pitchFamily="34" charset="-122"/>
                <a:cs typeface="Calibri" pitchFamily="34" charset="-120"/>
              </a:rPr>
              <a:t>Switch-PT: </a:t>
            </a:r>
            <a:r>
              <a:rPr lang="en-US" sz="1050" dirty="0">
                <a:solidFill>
                  <a:srgbClr val="1A1A2E"/>
                </a:solidFill>
                <a:latin typeface="Calibri" pitchFamily="34" charset="0"/>
                <a:ea typeface="Calibri" pitchFamily="34" charset="-122"/>
                <a:cs typeface="Calibri" pitchFamily="34" charset="-120"/>
              </a:rPr>
              <a:t>One per office (fewer than 8 ports)</a:t>
            </a:r>
            <a:endParaRPr lang="en-US" sz="1050" dirty="0"/>
          </a:p>
        </p:txBody>
      </p:sp>
      <p:sp>
        <p:nvSpPr>
          <p:cNvPr id="26" name="Shape 24"/>
          <p:cNvSpPr/>
          <p:nvPr/>
        </p:nvSpPr>
        <p:spPr>
          <a:xfrm>
            <a:off x="4480560" y="1810512"/>
            <a:ext cx="4389120" cy="365760"/>
          </a:xfrm>
          <a:prstGeom prst="rect">
            <a:avLst/>
          </a:prstGeom>
          <a:solidFill>
            <a:srgbClr val="FFFFFF"/>
          </a:solidFill>
          <a:ln w="12700">
            <a:solidFill>
              <a:srgbClr val="AADDBB"/>
            </a:solidFill>
            <a:prstDash val="solid"/>
          </a:ln>
        </p:spPr>
        <p:txBody>
          <a:bodyPr/>
          <a:lstStyle/>
          <a:p>
            <a:endParaRPr lang="en-ZA"/>
          </a:p>
        </p:txBody>
      </p:sp>
      <p:sp>
        <p:nvSpPr>
          <p:cNvPr id="27" name="Text 25"/>
          <p:cNvSpPr/>
          <p:nvPr/>
        </p:nvSpPr>
        <p:spPr>
          <a:xfrm>
            <a:off x="4572000" y="1810512"/>
            <a:ext cx="4206240" cy="365760"/>
          </a:xfrm>
          <a:prstGeom prst="rect">
            <a:avLst/>
          </a:prstGeom>
          <a:noFill/>
          <a:ln/>
        </p:spPr>
        <p:txBody>
          <a:bodyPr wrap="square" rtlCol="0" anchor="ctr"/>
          <a:lstStyle/>
          <a:p>
            <a:pPr marL="0" indent="0">
              <a:buNone/>
            </a:pPr>
            <a:r>
              <a:rPr lang="en-US" sz="1050" b="1" dirty="0">
                <a:solidFill>
                  <a:srgbClr val="2D6A4F"/>
                </a:solidFill>
                <a:latin typeface="Calibri" pitchFamily="34" charset="0"/>
                <a:ea typeface="Calibri" pitchFamily="34" charset="-122"/>
                <a:cs typeface="Calibri" pitchFamily="34" charset="-120"/>
              </a:rPr>
              <a:t>PC-PT x36: </a:t>
            </a:r>
            <a:r>
              <a:rPr lang="en-US" sz="1050" dirty="0">
                <a:solidFill>
                  <a:srgbClr val="1A1A2E"/>
                </a:solidFill>
                <a:latin typeface="Calibri" pitchFamily="34" charset="0"/>
                <a:ea typeface="Calibri" pitchFamily="34" charset="-122"/>
                <a:cs typeface="Calibri" pitchFamily="34" charset="-120"/>
              </a:rPr>
              <a:t>Wired staff computers</a:t>
            </a:r>
            <a:endParaRPr lang="en-US" sz="1050" dirty="0"/>
          </a:p>
        </p:txBody>
      </p:sp>
      <p:sp>
        <p:nvSpPr>
          <p:cNvPr id="28" name="Shape 26"/>
          <p:cNvSpPr/>
          <p:nvPr/>
        </p:nvSpPr>
        <p:spPr>
          <a:xfrm>
            <a:off x="4480560" y="2194560"/>
            <a:ext cx="4389120" cy="365760"/>
          </a:xfrm>
          <a:prstGeom prst="rect">
            <a:avLst/>
          </a:prstGeom>
          <a:solidFill>
            <a:srgbClr val="F0FFF4"/>
          </a:solidFill>
          <a:ln w="12700">
            <a:solidFill>
              <a:srgbClr val="AADDBB"/>
            </a:solidFill>
            <a:prstDash val="solid"/>
          </a:ln>
        </p:spPr>
        <p:txBody>
          <a:bodyPr/>
          <a:lstStyle/>
          <a:p>
            <a:endParaRPr lang="en-ZA"/>
          </a:p>
        </p:txBody>
      </p:sp>
      <p:sp>
        <p:nvSpPr>
          <p:cNvPr id="29" name="Text 27"/>
          <p:cNvSpPr/>
          <p:nvPr/>
        </p:nvSpPr>
        <p:spPr>
          <a:xfrm>
            <a:off x="4572000" y="2194560"/>
            <a:ext cx="4206240" cy="365760"/>
          </a:xfrm>
          <a:prstGeom prst="rect">
            <a:avLst/>
          </a:prstGeom>
          <a:noFill/>
          <a:ln/>
        </p:spPr>
        <p:txBody>
          <a:bodyPr wrap="square" rtlCol="0" anchor="ctr"/>
          <a:lstStyle/>
          <a:p>
            <a:pPr marL="0" indent="0">
              <a:buNone/>
            </a:pPr>
            <a:r>
              <a:rPr lang="en-US" sz="1050" b="1" dirty="0">
                <a:solidFill>
                  <a:srgbClr val="2D6A4F"/>
                </a:solidFill>
                <a:latin typeface="Calibri" pitchFamily="34" charset="0"/>
                <a:ea typeface="Calibri" pitchFamily="34" charset="-122"/>
                <a:cs typeface="Calibri" pitchFamily="34" charset="-120"/>
              </a:rPr>
              <a:t>AccessPoint-PT: </a:t>
            </a:r>
            <a:r>
              <a:rPr lang="en-US" sz="1050" dirty="0">
                <a:solidFill>
                  <a:srgbClr val="1A1A2E"/>
                </a:solidFill>
                <a:latin typeface="Calibri" pitchFamily="34" charset="0"/>
                <a:ea typeface="Calibri" pitchFamily="34" charset="-122"/>
                <a:cs typeface="Calibri" pitchFamily="34" charset="-120"/>
              </a:rPr>
              <a:t>One per office for staff WiFi</a:t>
            </a:r>
            <a:endParaRPr lang="en-US" sz="1050" dirty="0"/>
          </a:p>
        </p:txBody>
      </p:sp>
      <p:sp>
        <p:nvSpPr>
          <p:cNvPr id="30" name="Shape 28"/>
          <p:cNvSpPr/>
          <p:nvPr/>
        </p:nvSpPr>
        <p:spPr>
          <a:xfrm>
            <a:off x="4480560" y="2578608"/>
            <a:ext cx="4389120" cy="365760"/>
          </a:xfrm>
          <a:prstGeom prst="rect">
            <a:avLst/>
          </a:prstGeom>
          <a:solidFill>
            <a:srgbClr val="FFFFFF"/>
          </a:solidFill>
          <a:ln w="12700">
            <a:solidFill>
              <a:srgbClr val="AADDBB"/>
            </a:solidFill>
            <a:prstDash val="solid"/>
          </a:ln>
        </p:spPr>
        <p:txBody>
          <a:bodyPr/>
          <a:lstStyle/>
          <a:p>
            <a:endParaRPr lang="en-ZA"/>
          </a:p>
        </p:txBody>
      </p:sp>
      <p:sp>
        <p:nvSpPr>
          <p:cNvPr id="31" name="Text 29"/>
          <p:cNvSpPr/>
          <p:nvPr/>
        </p:nvSpPr>
        <p:spPr>
          <a:xfrm>
            <a:off x="4572000" y="2578608"/>
            <a:ext cx="4206240" cy="365760"/>
          </a:xfrm>
          <a:prstGeom prst="rect">
            <a:avLst/>
          </a:prstGeom>
          <a:noFill/>
          <a:ln/>
        </p:spPr>
        <p:txBody>
          <a:bodyPr wrap="square" rtlCol="0" anchor="ctr"/>
          <a:lstStyle/>
          <a:p>
            <a:pPr marL="0" indent="0">
              <a:buNone/>
            </a:pPr>
            <a:r>
              <a:rPr lang="en-US" sz="1050" b="1" dirty="0">
                <a:solidFill>
                  <a:srgbClr val="2D6A4F"/>
                </a:solidFill>
                <a:latin typeface="Calibri" pitchFamily="34" charset="0"/>
                <a:ea typeface="Calibri" pitchFamily="34" charset="-122"/>
                <a:cs typeface="Calibri" pitchFamily="34" charset="-120"/>
              </a:rPr>
              <a:t>Laptop-PT: </a:t>
            </a:r>
            <a:r>
              <a:rPr lang="en-US" sz="1050" dirty="0">
                <a:solidFill>
                  <a:srgbClr val="1A1A2E"/>
                </a:solidFill>
                <a:latin typeface="Calibri" pitchFamily="34" charset="0"/>
                <a:ea typeface="Calibri" pitchFamily="34" charset="-122"/>
                <a:cs typeface="Calibri" pitchFamily="34" charset="-120"/>
              </a:rPr>
              <a:t>Represents staff WiFi devices</a:t>
            </a:r>
            <a:endParaRPr lang="en-US" sz="1050" dirty="0"/>
          </a:p>
        </p:txBody>
      </p:sp>
      <p:sp>
        <p:nvSpPr>
          <p:cNvPr id="32" name="Shape 30"/>
          <p:cNvSpPr/>
          <p:nvPr/>
        </p:nvSpPr>
        <p:spPr>
          <a:xfrm>
            <a:off x="4480560" y="2962656"/>
            <a:ext cx="4389120" cy="365760"/>
          </a:xfrm>
          <a:prstGeom prst="rect">
            <a:avLst/>
          </a:prstGeom>
          <a:solidFill>
            <a:srgbClr val="F0FFF4"/>
          </a:solidFill>
          <a:ln w="12700">
            <a:solidFill>
              <a:srgbClr val="AADDBB"/>
            </a:solidFill>
            <a:prstDash val="solid"/>
          </a:ln>
        </p:spPr>
        <p:txBody>
          <a:bodyPr/>
          <a:lstStyle/>
          <a:p>
            <a:endParaRPr lang="en-ZA"/>
          </a:p>
        </p:txBody>
      </p:sp>
      <p:sp>
        <p:nvSpPr>
          <p:cNvPr id="33" name="Text 31"/>
          <p:cNvSpPr/>
          <p:nvPr/>
        </p:nvSpPr>
        <p:spPr>
          <a:xfrm>
            <a:off x="4572000" y="2962656"/>
            <a:ext cx="4206240" cy="365760"/>
          </a:xfrm>
          <a:prstGeom prst="rect">
            <a:avLst/>
          </a:prstGeom>
          <a:noFill/>
          <a:ln/>
        </p:spPr>
        <p:txBody>
          <a:bodyPr wrap="square" rtlCol="0" anchor="ctr"/>
          <a:lstStyle/>
          <a:p>
            <a:pPr marL="0" indent="0">
              <a:buNone/>
            </a:pPr>
            <a:r>
              <a:rPr lang="en-US" sz="1050" b="1" dirty="0">
                <a:solidFill>
                  <a:srgbClr val="2D6A4F"/>
                </a:solidFill>
                <a:latin typeface="Calibri" pitchFamily="34" charset="0"/>
                <a:ea typeface="Calibri" pitchFamily="34" charset="-122"/>
                <a:cs typeface="Calibri" pitchFamily="34" charset="-120"/>
              </a:rPr>
              <a:t>Printer-PT: </a:t>
            </a:r>
            <a:r>
              <a:rPr lang="en-US" sz="1050" dirty="0">
                <a:solidFill>
                  <a:srgbClr val="1A1A2E"/>
                </a:solidFill>
                <a:latin typeface="Calibri" pitchFamily="34" charset="0"/>
                <a:ea typeface="Calibri" pitchFamily="34" charset="-122"/>
                <a:cs typeface="Calibri" pitchFamily="34" charset="-120"/>
              </a:rPr>
              <a:t>Shared printer per office</a:t>
            </a:r>
            <a:endParaRPr lang="en-US" sz="1050" dirty="0"/>
          </a:p>
        </p:txBody>
      </p:sp>
      <p:sp>
        <p:nvSpPr>
          <p:cNvPr id="34" name="Shape 32"/>
          <p:cNvSpPr/>
          <p:nvPr/>
        </p:nvSpPr>
        <p:spPr>
          <a:xfrm>
            <a:off x="0" y="4937760"/>
            <a:ext cx="9144000" cy="457200"/>
          </a:xfrm>
          <a:prstGeom prst="rect">
            <a:avLst/>
          </a:prstGeom>
          <a:solidFill>
            <a:srgbClr val="1E3A5F"/>
          </a:solidFill>
          <a:ln w="12700">
            <a:solidFill>
              <a:srgbClr val="1E3A5F"/>
            </a:solidFill>
            <a:prstDash val="solid"/>
          </a:ln>
        </p:spPr>
        <p:txBody>
          <a:bodyPr/>
          <a:lstStyle/>
          <a:p>
            <a:endParaRPr lang="en-ZA"/>
          </a:p>
        </p:txBody>
      </p:sp>
      <p:sp>
        <p:nvSpPr>
          <p:cNvPr id="35" name="Text 33"/>
          <p:cNvSpPr/>
          <p:nvPr/>
        </p:nvSpPr>
        <p:spPr>
          <a:xfrm>
            <a:off x="274320" y="4937760"/>
            <a:ext cx="8595360" cy="457200"/>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Subnet: 192.168.10.0/24  |  Gateway: 192.168.10.1  |  Connects to Dist-Switch-2  |  DHCP from machine room  |  ACL blocks inter-section traffic</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48EDF3B-5831-C922-5878-84AC207D0D30}"/>
              </a:ext>
            </a:extLst>
          </p:cNvPr>
          <p:cNvPicPr>
            <a:picLocks noChangeAspect="1"/>
          </p:cNvPicPr>
          <p:nvPr/>
        </p:nvPicPr>
        <p:blipFill>
          <a:blip r:embed="rId2"/>
          <a:stretch>
            <a:fillRect/>
          </a:stretch>
        </p:blipFill>
        <p:spPr>
          <a:xfrm>
            <a:off x="0" y="809591"/>
            <a:ext cx="9144000" cy="3524317"/>
          </a:xfrm>
          <a:prstGeom prst="rect">
            <a:avLst/>
          </a:prstGeom>
        </p:spPr>
      </p:pic>
    </p:spTree>
    <p:extLst>
      <p:ext uri="{BB962C8B-B14F-4D97-AF65-F5344CB8AC3E}">
        <p14:creationId xmlns:p14="http://schemas.microsoft.com/office/powerpoint/2010/main" val="10238324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E3A5F"/>
          </a:solidFill>
          <a:ln w="12700">
            <a:solidFill>
              <a:srgbClr val="1E3A5F"/>
            </a:solidFill>
            <a:prstDash val="solid"/>
          </a:ln>
        </p:spPr>
        <p:txBody>
          <a:bodyPr/>
          <a:lstStyle/>
          <a:p>
            <a:endParaRPr lang="en-ZA"/>
          </a:p>
        </p:txBody>
      </p:sp>
      <p:sp>
        <p:nvSpPr>
          <p:cNvPr id="3" name="Text 1"/>
          <p:cNvSpPr/>
          <p:nvPr/>
        </p:nvSpPr>
        <p:spPr>
          <a:xfrm>
            <a:off x="365760" y="0"/>
            <a:ext cx="6400800" cy="100584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Technicians Office</a:t>
            </a:r>
            <a:endParaRPr lang="en-US" sz="2600" dirty="0"/>
          </a:p>
        </p:txBody>
      </p:sp>
      <p:sp>
        <p:nvSpPr>
          <p:cNvPr id="4" name="Shape 2"/>
          <p:cNvSpPr/>
          <p:nvPr/>
        </p:nvSpPr>
        <p:spPr>
          <a:xfrm>
            <a:off x="6858000" y="182880"/>
            <a:ext cx="2011680" cy="640080"/>
          </a:xfrm>
          <a:prstGeom prst="rect">
            <a:avLst/>
          </a:prstGeom>
          <a:solidFill>
            <a:srgbClr val="2E75B6"/>
          </a:solidFill>
          <a:ln w="12700">
            <a:solidFill>
              <a:srgbClr val="2E75B6"/>
            </a:solidFill>
            <a:prstDash val="solid"/>
          </a:ln>
        </p:spPr>
        <p:txBody>
          <a:bodyPr/>
          <a:lstStyle/>
          <a:p>
            <a:endParaRPr lang="en-ZA"/>
          </a:p>
        </p:txBody>
      </p:sp>
      <p:sp>
        <p:nvSpPr>
          <p:cNvPr id="5" name="Text 3"/>
          <p:cNvSpPr/>
          <p:nvPr/>
        </p:nvSpPr>
        <p:spPr>
          <a:xfrm>
            <a:off x="6858000" y="182880"/>
            <a:ext cx="2011680" cy="6400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VLAN 20</a:t>
            </a:r>
            <a:endParaRPr lang="en-US" sz="1100" dirty="0"/>
          </a:p>
        </p:txBody>
      </p:sp>
      <p:sp>
        <p:nvSpPr>
          <p:cNvPr id="6" name="Shape 4"/>
          <p:cNvSpPr/>
          <p:nvPr/>
        </p:nvSpPr>
        <p:spPr>
          <a:xfrm>
            <a:off x="274320" y="1051560"/>
            <a:ext cx="3931920" cy="347472"/>
          </a:xfrm>
          <a:prstGeom prst="rect">
            <a:avLst/>
          </a:prstGeom>
          <a:solidFill>
            <a:srgbClr val="2E75B6"/>
          </a:solidFill>
          <a:ln w="12700">
            <a:solidFill>
              <a:srgbClr val="2E75B6"/>
            </a:solidFill>
            <a:prstDash val="solid"/>
          </a:ln>
        </p:spPr>
        <p:txBody>
          <a:bodyPr/>
          <a:lstStyle/>
          <a:p>
            <a:endParaRPr lang="en-ZA"/>
          </a:p>
        </p:txBody>
      </p:sp>
      <p:sp>
        <p:nvSpPr>
          <p:cNvPr id="7" name="Text 5"/>
          <p:cNvSpPr/>
          <p:nvPr/>
        </p:nvSpPr>
        <p:spPr>
          <a:xfrm>
            <a:off x="274320" y="1051560"/>
            <a:ext cx="3931920" cy="347472"/>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Requirements</a:t>
            </a:r>
            <a:endParaRPr lang="en-US" sz="1200" dirty="0"/>
          </a:p>
        </p:txBody>
      </p:sp>
      <p:sp>
        <p:nvSpPr>
          <p:cNvPr id="8" name="Shape 6"/>
          <p:cNvSpPr/>
          <p:nvPr/>
        </p:nvSpPr>
        <p:spPr>
          <a:xfrm>
            <a:off x="274320" y="1426464"/>
            <a:ext cx="3931920" cy="365760"/>
          </a:xfrm>
          <a:prstGeom prst="rect">
            <a:avLst/>
          </a:prstGeom>
          <a:solidFill>
            <a:srgbClr val="E8F0F8"/>
          </a:solidFill>
          <a:ln w="12700">
            <a:solidFill>
              <a:srgbClr val="CCDDEE"/>
            </a:solidFill>
            <a:prstDash val="solid"/>
          </a:ln>
        </p:spPr>
        <p:txBody>
          <a:bodyPr/>
          <a:lstStyle/>
          <a:p>
            <a:endParaRPr lang="en-ZA"/>
          </a:p>
        </p:txBody>
      </p:sp>
      <p:sp>
        <p:nvSpPr>
          <p:cNvPr id="9" name="Text 7"/>
          <p:cNvSpPr/>
          <p:nvPr/>
        </p:nvSpPr>
        <p:spPr>
          <a:xfrm>
            <a:off x="365760" y="1426464"/>
            <a:ext cx="3749040" cy="365760"/>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2 technicians managing the network</a:t>
            </a:r>
            <a:endParaRPr lang="en-US" sz="1050" dirty="0"/>
          </a:p>
        </p:txBody>
      </p:sp>
      <p:sp>
        <p:nvSpPr>
          <p:cNvPr id="10" name="Shape 8"/>
          <p:cNvSpPr/>
          <p:nvPr/>
        </p:nvSpPr>
        <p:spPr>
          <a:xfrm>
            <a:off x="274320" y="1810512"/>
            <a:ext cx="3931920" cy="365760"/>
          </a:xfrm>
          <a:prstGeom prst="rect">
            <a:avLst/>
          </a:prstGeom>
          <a:solidFill>
            <a:srgbClr val="FFFFFF"/>
          </a:solidFill>
          <a:ln w="12700">
            <a:solidFill>
              <a:srgbClr val="CCDDEE"/>
            </a:solidFill>
            <a:prstDash val="solid"/>
          </a:ln>
        </p:spPr>
        <p:txBody>
          <a:bodyPr/>
          <a:lstStyle/>
          <a:p>
            <a:endParaRPr lang="en-ZA"/>
          </a:p>
        </p:txBody>
      </p:sp>
      <p:sp>
        <p:nvSpPr>
          <p:cNvPr id="11" name="Text 9"/>
          <p:cNvSpPr/>
          <p:nvPr/>
        </p:nvSpPr>
        <p:spPr>
          <a:xfrm>
            <a:off x="365760" y="1810512"/>
            <a:ext cx="3749040" cy="365760"/>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Direct wired access to machine room</a:t>
            </a:r>
            <a:endParaRPr lang="en-US" sz="1050" dirty="0"/>
          </a:p>
        </p:txBody>
      </p:sp>
      <p:sp>
        <p:nvSpPr>
          <p:cNvPr id="12" name="Shape 10"/>
          <p:cNvSpPr/>
          <p:nvPr/>
        </p:nvSpPr>
        <p:spPr>
          <a:xfrm>
            <a:off x="274320" y="2194560"/>
            <a:ext cx="3931920" cy="365760"/>
          </a:xfrm>
          <a:prstGeom prst="rect">
            <a:avLst/>
          </a:prstGeom>
          <a:solidFill>
            <a:srgbClr val="E8F0F8"/>
          </a:solidFill>
          <a:ln w="12700">
            <a:solidFill>
              <a:srgbClr val="CCDDEE"/>
            </a:solidFill>
            <a:prstDash val="solid"/>
          </a:ln>
        </p:spPr>
        <p:txBody>
          <a:bodyPr/>
          <a:lstStyle/>
          <a:p>
            <a:endParaRPr lang="en-ZA"/>
          </a:p>
        </p:txBody>
      </p:sp>
      <p:sp>
        <p:nvSpPr>
          <p:cNvPr id="13" name="Text 11"/>
          <p:cNvSpPr/>
          <p:nvPr/>
        </p:nvSpPr>
        <p:spPr>
          <a:xfrm>
            <a:off x="365760" y="2194560"/>
            <a:ext cx="3749040" cy="365760"/>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4 wired points for equipment maintenance</a:t>
            </a:r>
            <a:endParaRPr lang="en-US" sz="1050" dirty="0"/>
          </a:p>
        </p:txBody>
      </p:sp>
      <p:sp>
        <p:nvSpPr>
          <p:cNvPr id="14" name="Shape 12"/>
          <p:cNvSpPr/>
          <p:nvPr/>
        </p:nvSpPr>
        <p:spPr>
          <a:xfrm>
            <a:off x="274320" y="2578608"/>
            <a:ext cx="3931920" cy="365760"/>
          </a:xfrm>
          <a:prstGeom prst="rect">
            <a:avLst/>
          </a:prstGeom>
          <a:solidFill>
            <a:srgbClr val="FFFFFF"/>
          </a:solidFill>
          <a:ln w="12700">
            <a:solidFill>
              <a:srgbClr val="CCDDEE"/>
            </a:solidFill>
            <a:prstDash val="solid"/>
          </a:ln>
        </p:spPr>
        <p:txBody>
          <a:bodyPr/>
          <a:lstStyle/>
          <a:p>
            <a:endParaRPr lang="en-ZA"/>
          </a:p>
        </p:txBody>
      </p:sp>
      <p:sp>
        <p:nvSpPr>
          <p:cNvPr id="15" name="Text 13"/>
          <p:cNvSpPr/>
          <p:nvPr/>
        </p:nvSpPr>
        <p:spPr>
          <a:xfrm>
            <a:off x="365760" y="2578608"/>
            <a:ext cx="3749040" cy="365760"/>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2 wired points for technician desktops</a:t>
            </a:r>
            <a:endParaRPr lang="en-US" sz="1050" dirty="0"/>
          </a:p>
        </p:txBody>
      </p:sp>
      <p:sp>
        <p:nvSpPr>
          <p:cNvPr id="16" name="Shape 14"/>
          <p:cNvSpPr/>
          <p:nvPr/>
        </p:nvSpPr>
        <p:spPr>
          <a:xfrm>
            <a:off x="274320" y="2962656"/>
            <a:ext cx="3931920" cy="365760"/>
          </a:xfrm>
          <a:prstGeom prst="rect">
            <a:avLst/>
          </a:prstGeom>
          <a:solidFill>
            <a:srgbClr val="E8F0F8"/>
          </a:solidFill>
          <a:ln w="12700">
            <a:solidFill>
              <a:srgbClr val="CCDDEE"/>
            </a:solidFill>
            <a:prstDash val="solid"/>
          </a:ln>
        </p:spPr>
        <p:txBody>
          <a:bodyPr/>
          <a:lstStyle/>
          <a:p>
            <a:endParaRPr lang="en-ZA"/>
          </a:p>
        </p:txBody>
      </p:sp>
      <p:sp>
        <p:nvSpPr>
          <p:cNvPr id="17" name="Text 15"/>
          <p:cNvSpPr/>
          <p:nvPr/>
        </p:nvSpPr>
        <p:spPr>
          <a:xfrm>
            <a:off x="365760" y="2962656"/>
            <a:ext cx="3749040" cy="365760"/>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Up to 8 WiFi devices per technician</a:t>
            </a:r>
            <a:endParaRPr lang="en-US" sz="1050" dirty="0"/>
          </a:p>
        </p:txBody>
      </p:sp>
      <p:sp>
        <p:nvSpPr>
          <p:cNvPr id="18" name="Shape 16"/>
          <p:cNvSpPr/>
          <p:nvPr/>
        </p:nvSpPr>
        <p:spPr>
          <a:xfrm>
            <a:off x="274320" y="3346704"/>
            <a:ext cx="3931920" cy="365760"/>
          </a:xfrm>
          <a:prstGeom prst="rect">
            <a:avLst/>
          </a:prstGeom>
          <a:solidFill>
            <a:srgbClr val="FFFFFF"/>
          </a:solidFill>
          <a:ln w="12700">
            <a:solidFill>
              <a:srgbClr val="CCDDEE"/>
            </a:solidFill>
            <a:prstDash val="solid"/>
          </a:ln>
        </p:spPr>
        <p:txBody>
          <a:bodyPr/>
          <a:lstStyle/>
          <a:p>
            <a:endParaRPr lang="en-ZA"/>
          </a:p>
        </p:txBody>
      </p:sp>
      <p:sp>
        <p:nvSpPr>
          <p:cNvPr id="19" name="Text 17"/>
          <p:cNvSpPr/>
          <p:nvPr/>
        </p:nvSpPr>
        <p:spPr>
          <a:xfrm>
            <a:off x="365760" y="3346704"/>
            <a:ext cx="3749040" cy="365760"/>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16 WiFi devices total</a:t>
            </a:r>
            <a:endParaRPr lang="en-US" sz="1050" dirty="0"/>
          </a:p>
        </p:txBody>
      </p:sp>
      <p:sp>
        <p:nvSpPr>
          <p:cNvPr id="20" name="Shape 18"/>
          <p:cNvSpPr/>
          <p:nvPr/>
        </p:nvSpPr>
        <p:spPr>
          <a:xfrm>
            <a:off x="274320" y="3730752"/>
            <a:ext cx="3931920" cy="365760"/>
          </a:xfrm>
          <a:prstGeom prst="rect">
            <a:avLst/>
          </a:prstGeom>
          <a:solidFill>
            <a:srgbClr val="E8F0F8"/>
          </a:solidFill>
          <a:ln w="12700">
            <a:solidFill>
              <a:srgbClr val="CCDDEE"/>
            </a:solidFill>
            <a:prstDash val="solid"/>
          </a:ln>
        </p:spPr>
        <p:txBody>
          <a:bodyPr/>
          <a:lstStyle/>
          <a:p>
            <a:endParaRPr lang="en-ZA"/>
          </a:p>
        </p:txBody>
      </p:sp>
      <p:sp>
        <p:nvSpPr>
          <p:cNvPr id="21" name="Text 19"/>
          <p:cNvSpPr/>
          <p:nvPr/>
        </p:nvSpPr>
        <p:spPr>
          <a:xfrm>
            <a:off x="365760" y="3730752"/>
            <a:ext cx="3749040" cy="365760"/>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Isolated from all other sections</a:t>
            </a:r>
            <a:endParaRPr lang="en-US" sz="1050" dirty="0"/>
          </a:p>
        </p:txBody>
      </p:sp>
      <p:sp>
        <p:nvSpPr>
          <p:cNvPr id="22" name="Shape 20"/>
          <p:cNvSpPr/>
          <p:nvPr/>
        </p:nvSpPr>
        <p:spPr>
          <a:xfrm>
            <a:off x="4480560" y="1051560"/>
            <a:ext cx="4389120" cy="347472"/>
          </a:xfrm>
          <a:prstGeom prst="rect">
            <a:avLst/>
          </a:prstGeom>
          <a:solidFill>
            <a:srgbClr val="2D6A4F"/>
          </a:solidFill>
          <a:ln w="12700">
            <a:solidFill>
              <a:srgbClr val="2D6A4F"/>
            </a:solidFill>
            <a:prstDash val="solid"/>
          </a:ln>
        </p:spPr>
        <p:txBody>
          <a:bodyPr/>
          <a:lstStyle/>
          <a:p>
            <a:endParaRPr lang="en-ZA"/>
          </a:p>
        </p:txBody>
      </p:sp>
      <p:sp>
        <p:nvSpPr>
          <p:cNvPr id="23" name="Text 21"/>
          <p:cNvSpPr/>
          <p:nvPr/>
        </p:nvSpPr>
        <p:spPr>
          <a:xfrm>
            <a:off x="4480560" y="1051560"/>
            <a:ext cx="4389120" cy="347472"/>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Packet Tracer Devices</a:t>
            </a:r>
            <a:endParaRPr lang="en-US" sz="1200" dirty="0"/>
          </a:p>
        </p:txBody>
      </p:sp>
      <p:sp>
        <p:nvSpPr>
          <p:cNvPr id="24" name="Shape 22"/>
          <p:cNvSpPr/>
          <p:nvPr/>
        </p:nvSpPr>
        <p:spPr>
          <a:xfrm>
            <a:off x="4480560" y="1426464"/>
            <a:ext cx="4389120" cy="365760"/>
          </a:xfrm>
          <a:prstGeom prst="rect">
            <a:avLst/>
          </a:prstGeom>
          <a:solidFill>
            <a:srgbClr val="F0FFF4"/>
          </a:solidFill>
          <a:ln w="12700">
            <a:solidFill>
              <a:srgbClr val="AADDBB"/>
            </a:solidFill>
            <a:prstDash val="solid"/>
          </a:ln>
        </p:spPr>
        <p:txBody>
          <a:bodyPr/>
          <a:lstStyle/>
          <a:p>
            <a:endParaRPr lang="en-ZA"/>
          </a:p>
        </p:txBody>
      </p:sp>
      <p:sp>
        <p:nvSpPr>
          <p:cNvPr id="25" name="Text 23"/>
          <p:cNvSpPr/>
          <p:nvPr/>
        </p:nvSpPr>
        <p:spPr>
          <a:xfrm>
            <a:off x="4572000" y="1426464"/>
            <a:ext cx="4206240" cy="365760"/>
          </a:xfrm>
          <a:prstGeom prst="rect">
            <a:avLst/>
          </a:prstGeom>
          <a:noFill/>
          <a:ln/>
        </p:spPr>
        <p:txBody>
          <a:bodyPr wrap="square" rtlCol="0" anchor="ctr"/>
          <a:lstStyle/>
          <a:p>
            <a:pPr marL="0" indent="0">
              <a:buNone/>
            </a:pPr>
            <a:r>
              <a:rPr lang="en-US" sz="1050" b="1" dirty="0">
                <a:solidFill>
                  <a:srgbClr val="2D6A4F"/>
                </a:solidFill>
                <a:latin typeface="Calibri" pitchFamily="34" charset="0"/>
                <a:ea typeface="Calibri" pitchFamily="34" charset="-122"/>
                <a:cs typeface="Calibri" pitchFamily="34" charset="-120"/>
              </a:rPr>
              <a:t>Switch-PT: </a:t>
            </a:r>
            <a:r>
              <a:rPr lang="en-US" sz="1050" dirty="0">
                <a:solidFill>
                  <a:srgbClr val="1A1A2E"/>
                </a:solidFill>
                <a:latin typeface="Calibri" pitchFamily="34" charset="0"/>
                <a:ea typeface="Calibri" pitchFamily="34" charset="-122"/>
                <a:cs typeface="Calibri" pitchFamily="34" charset="-120"/>
              </a:rPr>
              <a:t>Small access switch (&lt;8 ports)</a:t>
            </a:r>
            <a:endParaRPr lang="en-US" sz="1050" dirty="0"/>
          </a:p>
        </p:txBody>
      </p:sp>
      <p:sp>
        <p:nvSpPr>
          <p:cNvPr id="26" name="Shape 24"/>
          <p:cNvSpPr/>
          <p:nvPr/>
        </p:nvSpPr>
        <p:spPr>
          <a:xfrm>
            <a:off x="4480560" y="1810512"/>
            <a:ext cx="4389120" cy="365760"/>
          </a:xfrm>
          <a:prstGeom prst="rect">
            <a:avLst/>
          </a:prstGeom>
          <a:solidFill>
            <a:srgbClr val="FFFFFF"/>
          </a:solidFill>
          <a:ln w="12700">
            <a:solidFill>
              <a:srgbClr val="AADDBB"/>
            </a:solidFill>
            <a:prstDash val="solid"/>
          </a:ln>
        </p:spPr>
        <p:txBody>
          <a:bodyPr/>
          <a:lstStyle/>
          <a:p>
            <a:endParaRPr lang="en-ZA"/>
          </a:p>
        </p:txBody>
      </p:sp>
      <p:sp>
        <p:nvSpPr>
          <p:cNvPr id="27" name="Text 25"/>
          <p:cNvSpPr/>
          <p:nvPr/>
        </p:nvSpPr>
        <p:spPr>
          <a:xfrm>
            <a:off x="4572000" y="1810512"/>
            <a:ext cx="4206240" cy="365760"/>
          </a:xfrm>
          <a:prstGeom prst="rect">
            <a:avLst/>
          </a:prstGeom>
          <a:noFill/>
          <a:ln/>
        </p:spPr>
        <p:txBody>
          <a:bodyPr wrap="square" rtlCol="0" anchor="ctr"/>
          <a:lstStyle/>
          <a:p>
            <a:pPr marL="0" indent="0">
              <a:buNone/>
            </a:pPr>
            <a:r>
              <a:rPr lang="en-US" sz="1050" b="1" dirty="0">
                <a:solidFill>
                  <a:srgbClr val="2D6A4F"/>
                </a:solidFill>
                <a:latin typeface="Calibri" pitchFamily="34" charset="0"/>
                <a:ea typeface="Calibri" pitchFamily="34" charset="-122"/>
                <a:cs typeface="Calibri" pitchFamily="34" charset="-120"/>
              </a:rPr>
              <a:t>PC-PT x6: </a:t>
            </a:r>
            <a:r>
              <a:rPr lang="en-US" sz="1050" dirty="0">
                <a:solidFill>
                  <a:srgbClr val="1A1A2E"/>
                </a:solidFill>
                <a:latin typeface="Calibri" pitchFamily="34" charset="0"/>
                <a:ea typeface="Calibri" pitchFamily="34" charset="-122"/>
                <a:cs typeface="Calibri" pitchFamily="34" charset="-120"/>
              </a:rPr>
              <a:t>2 desktops + 4 maintenance ports</a:t>
            </a:r>
            <a:endParaRPr lang="en-US" sz="1050" dirty="0"/>
          </a:p>
        </p:txBody>
      </p:sp>
      <p:sp>
        <p:nvSpPr>
          <p:cNvPr id="28" name="Shape 26"/>
          <p:cNvSpPr/>
          <p:nvPr/>
        </p:nvSpPr>
        <p:spPr>
          <a:xfrm>
            <a:off x="4480560" y="2194560"/>
            <a:ext cx="4389120" cy="365760"/>
          </a:xfrm>
          <a:prstGeom prst="rect">
            <a:avLst/>
          </a:prstGeom>
          <a:solidFill>
            <a:srgbClr val="F0FFF4"/>
          </a:solidFill>
          <a:ln w="12700">
            <a:solidFill>
              <a:srgbClr val="AADDBB"/>
            </a:solidFill>
            <a:prstDash val="solid"/>
          </a:ln>
        </p:spPr>
        <p:txBody>
          <a:bodyPr/>
          <a:lstStyle/>
          <a:p>
            <a:endParaRPr lang="en-ZA"/>
          </a:p>
        </p:txBody>
      </p:sp>
      <p:sp>
        <p:nvSpPr>
          <p:cNvPr id="29" name="Text 27"/>
          <p:cNvSpPr/>
          <p:nvPr/>
        </p:nvSpPr>
        <p:spPr>
          <a:xfrm>
            <a:off x="4572000" y="2194560"/>
            <a:ext cx="4206240" cy="365760"/>
          </a:xfrm>
          <a:prstGeom prst="rect">
            <a:avLst/>
          </a:prstGeom>
          <a:noFill/>
          <a:ln/>
        </p:spPr>
        <p:txBody>
          <a:bodyPr wrap="square" rtlCol="0" anchor="ctr"/>
          <a:lstStyle/>
          <a:p>
            <a:pPr marL="0" indent="0">
              <a:buNone/>
            </a:pPr>
            <a:r>
              <a:rPr lang="en-US" sz="1050" b="1" dirty="0">
                <a:solidFill>
                  <a:srgbClr val="2D6A4F"/>
                </a:solidFill>
                <a:latin typeface="Calibri" pitchFamily="34" charset="0"/>
                <a:ea typeface="Calibri" pitchFamily="34" charset="-122"/>
                <a:cs typeface="Calibri" pitchFamily="34" charset="-120"/>
              </a:rPr>
              <a:t>AccessPoint-PT: </a:t>
            </a:r>
            <a:r>
              <a:rPr lang="en-US" sz="1050" dirty="0">
                <a:solidFill>
                  <a:srgbClr val="1A1A2E"/>
                </a:solidFill>
                <a:latin typeface="Calibri" pitchFamily="34" charset="0"/>
                <a:ea typeface="Calibri" pitchFamily="34" charset="-122"/>
                <a:cs typeface="Calibri" pitchFamily="34" charset="-120"/>
              </a:rPr>
              <a:t>Staff WiFi for technicians</a:t>
            </a:r>
            <a:endParaRPr lang="en-US" sz="1050" dirty="0"/>
          </a:p>
        </p:txBody>
      </p:sp>
      <p:sp>
        <p:nvSpPr>
          <p:cNvPr id="30" name="Shape 28"/>
          <p:cNvSpPr/>
          <p:nvPr/>
        </p:nvSpPr>
        <p:spPr>
          <a:xfrm>
            <a:off x="4480560" y="2578608"/>
            <a:ext cx="4389120" cy="365760"/>
          </a:xfrm>
          <a:prstGeom prst="rect">
            <a:avLst/>
          </a:prstGeom>
          <a:solidFill>
            <a:srgbClr val="FFFFFF"/>
          </a:solidFill>
          <a:ln w="12700">
            <a:solidFill>
              <a:srgbClr val="AADDBB"/>
            </a:solidFill>
            <a:prstDash val="solid"/>
          </a:ln>
        </p:spPr>
        <p:txBody>
          <a:bodyPr/>
          <a:lstStyle/>
          <a:p>
            <a:endParaRPr lang="en-ZA"/>
          </a:p>
        </p:txBody>
      </p:sp>
      <p:sp>
        <p:nvSpPr>
          <p:cNvPr id="31" name="Text 29"/>
          <p:cNvSpPr/>
          <p:nvPr/>
        </p:nvSpPr>
        <p:spPr>
          <a:xfrm>
            <a:off x="4572000" y="2578608"/>
            <a:ext cx="4206240" cy="365760"/>
          </a:xfrm>
          <a:prstGeom prst="rect">
            <a:avLst/>
          </a:prstGeom>
          <a:noFill/>
          <a:ln/>
        </p:spPr>
        <p:txBody>
          <a:bodyPr wrap="square" rtlCol="0" anchor="ctr"/>
          <a:lstStyle/>
          <a:p>
            <a:pPr marL="0" indent="0">
              <a:buNone/>
            </a:pPr>
            <a:r>
              <a:rPr lang="en-US" sz="1050" b="1" dirty="0">
                <a:solidFill>
                  <a:srgbClr val="2D6A4F"/>
                </a:solidFill>
                <a:latin typeface="Calibri" pitchFamily="34" charset="0"/>
                <a:ea typeface="Calibri" pitchFamily="34" charset="-122"/>
                <a:cs typeface="Calibri" pitchFamily="34" charset="-120"/>
              </a:rPr>
              <a:t>Laptop-PT: </a:t>
            </a:r>
            <a:r>
              <a:rPr lang="en-US" sz="1050" dirty="0">
                <a:solidFill>
                  <a:srgbClr val="1A1A2E"/>
                </a:solidFill>
                <a:latin typeface="Calibri" pitchFamily="34" charset="0"/>
                <a:ea typeface="Calibri" pitchFamily="34" charset="-122"/>
                <a:cs typeface="Calibri" pitchFamily="34" charset="-120"/>
              </a:rPr>
              <a:t>Represents WiFi devices</a:t>
            </a:r>
            <a:endParaRPr lang="en-US" sz="1050" dirty="0"/>
          </a:p>
        </p:txBody>
      </p:sp>
      <p:sp>
        <p:nvSpPr>
          <p:cNvPr id="32" name="Shape 30"/>
          <p:cNvSpPr/>
          <p:nvPr/>
        </p:nvSpPr>
        <p:spPr>
          <a:xfrm>
            <a:off x="0" y="4937760"/>
            <a:ext cx="9144000" cy="457200"/>
          </a:xfrm>
          <a:prstGeom prst="rect">
            <a:avLst/>
          </a:prstGeom>
          <a:solidFill>
            <a:srgbClr val="1E3A5F"/>
          </a:solidFill>
          <a:ln w="12700">
            <a:solidFill>
              <a:srgbClr val="1E3A5F"/>
            </a:solidFill>
            <a:prstDash val="solid"/>
          </a:ln>
        </p:spPr>
        <p:txBody>
          <a:bodyPr/>
          <a:lstStyle/>
          <a:p>
            <a:endParaRPr lang="en-ZA"/>
          </a:p>
        </p:txBody>
      </p:sp>
      <p:sp>
        <p:nvSpPr>
          <p:cNvPr id="33" name="Text 31"/>
          <p:cNvSpPr/>
          <p:nvPr/>
        </p:nvSpPr>
        <p:spPr>
          <a:xfrm>
            <a:off x="274320" y="4937760"/>
            <a:ext cx="8595360" cy="457200"/>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Subnet: 192.168.20.0/24  |  Gateway: 192.168.20.1  |  Connects to Dist-Switch-2  |  Direct access to machine room for management</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0408AE9-7728-5362-9392-85B92B9CA6E1}"/>
              </a:ext>
            </a:extLst>
          </p:cNvPr>
          <p:cNvPicPr>
            <a:picLocks noChangeAspect="1"/>
          </p:cNvPicPr>
          <p:nvPr/>
        </p:nvPicPr>
        <p:blipFill>
          <a:blip r:embed="rId2"/>
          <a:stretch>
            <a:fillRect/>
          </a:stretch>
        </p:blipFill>
        <p:spPr>
          <a:xfrm>
            <a:off x="670560" y="552450"/>
            <a:ext cx="7520939" cy="4038599"/>
          </a:xfrm>
          <a:prstGeom prst="rect">
            <a:avLst/>
          </a:prstGeom>
        </p:spPr>
      </p:pic>
    </p:spTree>
    <p:extLst>
      <p:ext uri="{BB962C8B-B14F-4D97-AF65-F5344CB8AC3E}">
        <p14:creationId xmlns:p14="http://schemas.microsoft.com/office/powerpoint/2010/main" val="34437266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E3A5F"/>
          </a:solidFill>
          <a:ln w="12700">
            <a:solidFill>
              <a:srgbClr val="1E3A5F"/>
            </a:solidFill>
            <a:prstDash val="solid"/>
          </a:ln>
        </p:spPr>
        <p:txBody>
          <a:bodyPr/>
          <a:lstStyle/>
          <a:p>
            <a:endParaRPr lang="en-ZA"/>
          </a:p>
        </p:txBody>
      </p:sp>
      <p:sp>
        <p:nvSpPr>
          <p:cNvPr id="3" name="Text 1"/>
          <p:cNvSpPr/>
          <p:nvPr/>
        </p:nvSpPr>
        <p:spPr>
          <a:xfrm>
            <a:off x="365760" y="0"/>
            <a:ext cx="6400800" cy="100584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Reception</a:t>
            </a:r>
            <a:endParaRPr lang="en-US" sz="2600" dirty="0"/>
          </a:p>
        </p:txBody>
      </p:sp>
      <p:sp>
        <p:nvSpPr>
          <p:cNvPr id="4" name="Shape 2"/>
          <p:cNvSpPr/>
          <p:nvPr/>
        </p:nvSpPr>
        <p:spPr>
          <a:xfrm>
            <a:off x="6858000" y="182880"/>
            <a:ext cx="2011680" cy="640080"/>
          </a:xfrm>
          <a:prstGeom prst="rect">
            <a:avLst/>
          </a:prstGeom>
          <a:solidFill>
            <a:srgbClr val="2E75B6"/>
          </a:solidFill>
          <a:ln w="12700">
            <a:solidFill>
              <a:srgbClr val="2E75B6"/>
            </a:solidFill>
            <a:prstDash val="solid"/>
          </a:ln>
        </p:spPr>
        <p:txBody>
          <a:bodyPr/>
          <a:lstStyle/>
          <a:p>
            <a:endParaRPr lang="en-ZA"/>
          </a:p>
        </p:txBody>
      </p:sp>
      <p:sp>
        <p:nvSpPr>
          <p:cNvPr id="5" name="Text 3"/>
          <p:cNvSpPr/>
          <p:nvPr/>
        </p:nvSpPr>
        <p:spPr>
          <a:xfrm>
            <a:off x="6858000" y="182880"/>
            <a:ext cx="2011680" cy="6400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VLAN 30</a:t>
            </a:r>
            <a:endParaRPr lang="en-US" sz="1100" dirty="0"/>
          </a:p>
        </p:txBody>
      </p:sp>
      <p:sp>
        <p:nvSpPr>
          <p:cNvPr id="6" name="Shape 4"/>
          <p:cNvSpPr/>
          <p:nvPr/>
        </p:nvSpPr>
        <p:spPr>
          <a:xfrm>
            <a:off x="274320" y="1051560"/>
            <a:ext cx="3931920" cy="347472"/>
          </a:xfrm>
          <a:prstGeom prst="rect">
            <a:avLst/>
          </a:prstGeom>
          <a:solidFill>
            <a:srgbClr val="2E75B6"/>
          </a:solidFill>
          <a:ln w="12700">
            <a:solidFill>
              <a:srgbClr val="2E75B6"/>
            </a:solidFill>
            <a:prstDash val="solid"/>
          </a:ln>
        </p:spPr>
        <p:txBody>
          <a:bodyPr/>
          <a:lstStyle/>
          <a:p>
            <a:endParaRPr lang="en-ZA"/>
          </a:p>
        </p:txBody>
      </p:sp>
      <p:sp>
        <p:nvSpPr>
          <p:cNvPr id="7" name="Text 5"/>
          <p:cNvSpPr/>
          <p:nvPr/>
        </p:nvSpPr>
        <p:spPr>
          <a:xfrm>
            <a:off x="274320" y="1051560"/>
            <a:ext cx="3931920" cy="347472"/>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Requirements</a:t>
            </a:r>
            <a:endParaRPr lang="en-US" sz="1200" dirty="0"/>
          </a:p>
        </p:txBody>
      </p:sp>
      <p:sp>
        <p:nvSpPr>
          <p:cNvPr id="8" name="Shape 6"/>
          <p:cNvSpPr/>
          <p:nvPr/>
        </p:nvSpPr>
        <p:spPr>
          <a:xfrm>
            <a:off x="274320" y="1426464"/>
            <a:ext cx="3931920" cy="365760"/>
          </a:xfrm>
          <a:prstGeom prst="rect">
            <a:avLst/>
          </a:prstGeom>
          <a:solidFill>
            <a:srgbClr val="E8F0F8"/>
          </a:solidFill>
          <a:ln w="12700">
            <a:solidFill>
              <a:srgbClr val="CCDDEE"/>
            </a:solidFill>
            <a:prstDash val="solid"/>
          </a:ln>
        </p:spPr>
        <p:txBody>
          <a:bodyPr/>
          <a:lstStyle/>
          <a:p>
            <a:endParaRPr lang="en-ZA"/>
          </a:p>
        </p:txBody>
      </p:sp>
      <p:sp>
        <p:nvSpPr>
          <p:cNvPr id="9" name="Text 7"/>
          <p:cNvSpPr/>
          <p:nvPr/>
        </p:nvSpPr>
        <p:spPr>
          <a:xfrm>
            <a:off x="365760" y="1426464"/>
            <a:ext cx="3749040" cy="365760"/>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2 reception staff with wired PCs</a:t>
            </a:r>
            <a:endParaRPr lang="en-US" sz="1050" dirty="0"/>
          </a:p>
        </p:txBody>
      </p:sp>
      <p:sp>
        <p:nvSpPr>
          <p:cNvPr id="10" name="Shape 8"/>
          <p:cNvSpPr/>
          <p:nvPr/>
        </p:nvSpPr>
        <p:spPr>
          <a:xfrm>
            <a:off x="274320" y="1810512"/>
            <a:ext cx="3931920" cy="365760"/>
          </a:xfrm>
          <a:prstGeom prst="rect">
            <a:avLst/>
          </a:prstGeom>
          <a:solidFill>
            <a:srgbClr val="FFFFFF"/>
          </a:solidFill>
          <a:ln w="12700">
            <a:solidFill>
              <a:srgbClr val="CCDDEE"/>
            </a:solidFill>
            <a:prstDash val="solid"/>
          </a:ln>
        </p:spPr>
        <p:txBody>
          <a:bodyPr/>
          <a:lstStyle/>
          <a:p>
            <a:endParaRPr lang="en-ZA"/>
          </a:p>
        </p:txBody>
      </p:sp>
      <p:sp>
        <p:nvSpPr>
          <p:cNvPr id="11" name="Text 9"/>
          <p:cNvSpPr/>
          <p:nvPr/>
        </p:nvSpPr>
        <p:spPr>
          <a:xfrm>
            <a:off x="365760" y="1810512"/>
            <a:ext cx="3749040" cy="365760"/>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2 wired network points</a:t>
            </a:r>
            <a:endParaRPr lang="en-US" sz="1050" dirty="0"/>
          </a:p>
        </p:txBody>
      </p:sp>
      <p:sp>
        <p:nvSpPr>
          <p:cNvPr id="12" name="Shape 10"/>
          <p:cNvSpPr/>
          <p:nvPr/>
        </p:nvSpPr>
        <p:spPr>
          <a:xfrm>
            <a:off x="274320" y="2194560"/>
            <a:ext cx="3931920" cy="365760"/>
          </a:xfrm>
          <a:prstGeom prst="rect">
            <a:avLst/>
          </a:prstGeom>
          <a:solidFill>
            <a:srgbClr val="E8F0F8"/>
          </a:solidFill>
          <a:ln w="12700">
            <a:solidFill>
              <a:srgbClr val="CCDDEE"/>
            </a:solidFill>
            <a:prstDash val="solid"/>
          </a:ln>
        </p:spPr>
        <p:txBody>
          <a:bodyPr/>
          <a:lstStyle/>
          <a:p>
            <a:endParaRPr lang="en-ZA"/>
          </a:p>
        </p:txBody>
      </p:sp>
      <p:sp>
        <p:nvSpPr>
          <p:cNvPr id="13" name="Text 11"/>
          <p:cNvSpPr/>
          <p:nvPr/>
        </p:nvSpPr>
        <p:spPr>
          <a:xfrm>
            <a:off x="365760" y="2194560"/>
            <a:ext cx="3749040" cy="365760"/>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Staff WiFi: up to 4 devices each</a:t>
            </a:r>
            <a:endParaRPr lang="en-US" sz="1050" dirty="0"/>
          </a:p>
        </p:txBody>
      </p:sp>
      <p:sp>
        <p:nvSpPr>
          <p:cNvPr id="14" name="Shape 12"/>
          <p:cNvSpPr/>
          <p:nvPr/>
        </p:nvSpPr>
        <p:spPr>
          <a:xfrm>
            <a:off x="274320" y="2578608"/>
            <a:ext cx="3931920" cy="365760"/>
          </a:xfrm>
          <a:prstGeom prst="rect">
            <a:avLst/>
          </a:prstGeom>
          <a:solidFill>
            <a:srgbClr val="FFFFFF"/>
          </a:solidFill>
          <a:ln w="12700">
            <a:solidFill>
              <a:srgbClr val="CCDDEE"/>
            </a:solidFill>
            <a:prstDash val="solid"/>
          </a:ln>
        </p:spPr>
        <p:txBody>
          <a:bodyPr/>
          <a:lstStyle/>
          <a:p>
            <a:endParaRPr lang="en-ZA"/>
          </a:p>
        </p:txBody>
      </p:sp>
      <p:sp>
        <p:nvSpPr>
          <p:cNvPr id="15" name="Text 13"/>
          <p:cNvSpPr/>
          <p:nvPr/>
        </p:nvSpPr>
        <p:spPr>
          <a:xfrm>
            <a:off x="365760" y="2578608"/>
            <a:ext cx="3749040" cy="365760"/>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Guest WiFi available (VLAN 99)</a:t>
            </a:r>
            <a:endParaRPr lang="en-US" sz="1050" dirty="0"/>
          </a:p>
        </p:txBody>
      </p:sp>
      <p:sp>
        <p:nvSpPr>
          <p:cNvPr id="16" name="Shape 14"/>
          <p:cNvSpPr/>
          <p:nvPr/>
        </p:nvSpPr>
        <p:spPr>
          <a:xfrm>
            <a:off x="274320" y="2962656"/>
            <a:ext cx="3931920" cy="365760"/>
          </a:xfrm>
          <a:prstGeom prst="rect">
            <a:avLst/>
          </a:prstGeom>
          <a:solidFill>
            <a:srgbClr val="E8F0F8"/>
          </a:solidFill>
          <a:ln w="12700">
            <a:solidFill>
              <a:srgbClr val="CCDDEE"/>
            </a:solidFill>
            <a:prstDash val="solid"/>
          </a:ln>
        </p:spPr>
        <p:txBody>
          <a:bodyPr/>
          <a:lstStyle/>
          <a:p>
            <a:endParaRPr lang="en-ZA"/>
          </a:p>
        </p:txBody>
      </p:sp>
      <p:sp>
        <p:nvSpPr>
          <p:cNvPr id="17" name="Text 15"/>
          <p:cNvSpPr/>
          <p:nvPr/>
        </p:nvSpPr>
        <p:spPr>
          <a:xfrm>
            <a:off x="365760" y="2962656"/>
            <a:ext cx="3749040" cy="365760"/>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Printer accessible within section</a:t>
            </a:r>
            <a:endParaRPr lang="en-US" sz="1050" dirty="0"/>
          </a:p>
        </p:txBody>
      </p:sp>
      <p:sp>
        <p:nvSpPr>
          <p:cNvPr id="18" name="Shape 16"/>
          <p:cNvSpPr/>
          <p:nvPr/>
        </p:nvSpPr>
        <p:spPr>
          <a:xfrm>
            <a:off x="274320" y="3346704"/>
            <a:ext cx="3931920" cy="365760"/>
          </a:xfrm>
          <a:prstGeom prst="rect">
            <a:avLst/>
          </a:prstGeom>
          <a:solidFill>
            <a:srgbClr val="FFFFFF"/>
          </a:solidFill>
          <a:ln w="12700">
            <a:solidFill>
              <a:srgbClr val="CCDDEE"/>
            </a:solidFill>
            <a:prstDash val="solid"/>
          </a:ln>
        </p:spPr>
        <p:txBody>
          <a:bodyPr/>
          <a:lstStyle/>
          <a:p>
            <a:endParaRPr lang="en-ZA"/>
          </a:p>
        </p:txBody>
      </p:sp>
      <p:sp>
        <p:nvSpPr>
          <p:cNvPr id="19" name="Text 17"/>
          <p:cNvSpPr/>
          <p:nvPr/>
        </p:nvSpPr>
        <p:spPr>
          <a:xfrm>
            <a:off x="365760" y="3346704"/>
            <a:ext cx="3749040" cy="365760"/>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Isolated from all other sections</a:t>
            </a:r>
            <a:endParaRPr lang="en-US" sz="1050" dirty="0"/>
          </a:p>
        </p:txBody>
      </p:sp>
      <p:sp>
        <p:nvSpPr>
          <p:cNvPr id="20" name="Shape 18"/>
          <p:cNvSpPr/>
          <p:nvPr/>
        </p:nvSpPr>
        <p:spPr>
          <a:xfrm>
            <a:off x="274320" y="3730752"/>
            <a:ext cx="3931920" cy="365760"/>
          </a:xfrm>
          <a:prstGeom prst="rect">
            <a:avLst/>
          </a:prstGeom>
          <a:solidFill>
            <a:srgbClr val="E8F0F8"/>
          </a:solidFill>
          <a:ln w="12700">
            <a:solidFill>
              <a:srgbClr val="CCDDEE"/>
            </a:solidFill>
            <a:prstDash val="solid"/>
          </a:ln>
        </p:spPr>
        <p:txBody>
          <a:bodyPr/>
          <a:lstStyle/>
          <a:p>
            <a:endParaRPr lang="en-ZA"/>
          </a:p>
        </p:txBody>
      </p:sp>
      <p:sp>
        <p:nvSpPr>
          <p:cNvPr id="21" name="Text 19"/>
          <p:cNvSpPr/>
          <p:nvPr/>
        </p:nvSpPr>
        <p:spPr>
          <a:xfrm>
            <a:off x="365760" y="3730752"/>
            <a:ext cx="3749040" cy="365760"/>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Full internet access required</a:t>
            </a:r>
            <a:endParaRPr lang="en-US" sz="1050" dirty="0"/>
          </a:p>
        </p:txBody>
      </p:sp>
      <p:sp>
        <p:nvSpPr>
          <p:cNvPr id="22" name="Shape 20"/>
          <p:cNvSpPr/>
          <p:nvPr/>
        </p:nvSpPr>
        <p:spPr>
          <a:xfrm>
            <a:off x="4480560" y="1051560"/>
            <a:ext cx="4389120" cy="347472"/>
          </a:xfrm>
          <a:prstGeom prst="rect">
            <a:avLst/>
          </a:prstGeom>
          <a:solidFill>
            <a:srgbClr val="2D6A4F"/>
          </a:solidFill>
          <a:ln w="12700">
            <a:solidFill>
              <a:srgbClr val="2D6A4F"/>
            </a:solidFill>
            <a:prstDash val="solid"/>
          </a:ln>
        </p:spPr>
        <p:txBody>
          <a:bodyPr/>
          <a:lstStyle/>
          <a:p>
            <a:endParaRPr lang="en-ZA"/>
          </a:p>
        </p:txBody>
      </p:sp>
      <p:sp>
        <p:nvSpPr>
          <p:cNvPr id="23" name="Text 21"/>
          <p:cNvSpPr/>
          <p:nvPr/>
        </p:nvSpPr>
        <p:spPr>
          <a:xfrm>
            <a:off x="4480560" y="1051560"/>
            <a:ext cx="4389120" cy="347472"/>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Packet Tracer Devices</a:t>
            </a:r>
            <a:endParaRPr lang="en-US" sz="1200" dirty="0"/>
          </a:p>
        </p:txBody>
      </p:sp>
      <p:sp>
        <p:nvSpPr>
          <p:cNvPr id="24" name="Shape 22"/>
          <p:cNvSpPr/>
          <p:nvPr/>
        </p:nvSpPr>
        <p:spPr>
          <a:xfrm>
            <a:off x="4480560" y="1426464"/>
            <a:ext cx="4389120" cy="365760"/>
          </a:xfrm>
          <a:prstGeom prst="rect">
            <a:avLst/>
          </a:prstGeom>
          <a:solidFill>
            <a:srgbClr val="F0FFF4"/>
          </a:solidFill>
          <a:ln w="12700">
            <a:solidFill>
              <a:srgbClr val="AADDBB"/>
            </a:solidFill>
            <a:prstDash val="solid"/>
          </a:ln>
        </p:spPr>
        <p:txBody>
          <a:bodyPr/>
          <a:lstStyle/>
          <a:p>
            <a:endParaRPr lang="en-ZA"/>
          </a:p>
        </p:txBody>
      </p:sp>
      <p:sp>
        <p:nvSpPr>
          <p:cNvPr id="25" name="Text 23"/>
          <p:cNvSpPr/>
          <p:nvPr/>
        </p:nvSpPr>
        <p:spPr>
          <a:xfrm>
            <a:off x="4572000" y="1426464"/>
            <a:ext cx="4206240" cy="365760"/>
          </a:xfrm>
          <a:prstGeom prst="rect">
            <a:avLst/>
          </a:prstGeom>
          <a:noFill/>
          <a:ln/>
        </p:spPr>
        <p:txBody>
          <a:bodyPr wrap="square" rtlCol="0" anchor="ctr"/>
          <a:lstStyle/>
          <a:p>
            <a:pPr marL="0" indent="0">
              <a:buNone/>
            </a:pPr>
            <a:r>
              <a:rPr lang="en-US" sz="1050" b="1" dirty="0">
                <a:solidFill>
                  <a:srgbClr val="2D6A4F"/>
                </a:solidFill>
                <a:latin typeface="Calibri" pitchFamily="34" charset="0"/>
                <a:ea typeface="Calibri" pitchFamily="34" charset="-122"/>
                <a:cs typeface="Calibri" pitchFamily="34" charset="-120"/>
              </a:rPr>
              <a:t>Switch-PT: </a:t>
            </a:r>
            <a:r>
              <a:rPr lang="en-US" sz="1050" dirty="0">
                <a:solidFill>
                  <a:srgbClr val="1A1A2E"/>
                </a:solidFill>
                <a:latin typeface="Calibri" pitchFamily="34" charset="0"/>
                <a:ea typeface="Calibri" pitchFamily="34" charset="-122"/>
                <a:cs typeface="Calibri" pitchFamily="34" charset="-120"/>
              </a:rPr>
              <a:t>Small access switch (&lt;8 ports)</a:t>
            </a:r>
            <a:endParaRPr lang="en-US" sz="1050" dirty="0"/>
          </a:p>
        </p:txBody>
      </p:sp>
      <p:sp>
        <p:nvSpPr>
          <p:cNvPr id="26" name="Shape 24"/>
          <p:cNvSpPr/>
          <p:nvPr/>
        </p:nvSpPr>
        <p:spPr>
          <a:xfrm>
            <a:off x="4480560" y="1810512"/>
            <a:ext cx="4389120" cy="365760"/>
          </a:xfrm>
          <a:prstGeom prst="rect">
            <a:avLst/>
          </a:prstGeom>
          <a:solidFill>
            <a:srgbClr val="FFFFFF"/>
          </a:solidFill>
          <a:ln w="12700">
            <a:solidFill>
              <a:srgbClr val="AADDBB"/>
            </a:solidFill>
            <a:prstDash val="solid"/>
          </a:ln>
        </p:spPr>
        <p:txBody>
          <a:bodyPr/>
          <a:lstStyle/>
          <a:p>
            <a:endParaRPr lang="en-ZA"/>
          </a:p>
        </p:txBody>
      </p:sp>
      <p:sp>
        <p:nvSpPr>
          <p:cNvPr id="27" name="Text 25"/>
          <p:cNvSpPr/>
          <p:nvPr/>
        </p:nvSpPr>
        <p:spPr>
          <a:xfrm>
            <a:off x="4572000" y="1810512"/>
            <a:ext cx="4206240" cy="365760"/>
          </a:xfrm>
          <a:prstGeom prst="rect">
            <a:avLst/>
          </a:prstGeom>
          <a:noFill/>
          <a:ln/>
        </p:spPr>
        <p:txBody>
          <a:bodyPr wrap="square" rtlCol="0" anchor="ctr"/>
          <a:lstStyle/>
          <a:p>
            <a:pPr marL="0" indent="0">
              <a:buNone/>
            </a:pPr>
            <a:r>
              <a:rPr lang="en-US" sz="1050" b="1" dirty="0">
                <a:solidFill>
                  <a:srgbClr val="2D6A4F"/>
                </a:solidFill>
                <a:latin typeface="Calibri" pitchFamily="34" charset="0"/>
                <a:ea typeface="Calibri" pitchFamily="34" charset="-122"/>
                <a:cs typeface="Calibri" pitchFamily="34" charset="-120"/>
              </a:rPr>
              <a:t>PC-PT x2: </a:t>
            </a:r>
            <a:r>
              <a:rPr lang="en-US" sz="1050" dirty="0">
                <a:solidFill>
                  <a:srgbClr val="1A1A2E"/>
                </a:solidFill>
                <a:latin typeface="Calibri" pitchFamily="34" charset="0"/>
                <a:ea typeface="Calibri" pitchFamily="34" charset="-122"/>
                <a:cs typeface="Calibri" pitchFamily="34" charset="-120"/>
              </a:rPr>
              <a:t>Reception staff computers</a:t>
            </a:r>
            <a:endParaRPr lang="en-US" sz="1050" dirty="0"/>
          </a:p>
        </p:txBody>
      </p:sp>
      <p:sp>
        <p:nvSpPr>
          <p:cNvPr id="28" name="Shape 26"/>
          <p:cNvSpPr/>
          <p:nvPr/>
        </p:nvSpPr>
        <p:spPr>
          <a:xfrm>
            <a:off x="4480560" y="2194560"/>
            <a:ext cx="4389120" cy="365760"/>
          </a:xfrm>
          <a:prstGeom prst="rect">
            <a:avLst/>
          </a:prstGeom>
          <a:solidFill>
            <a:srgbClr val="F0FFF4"/>
          </a:solidFill>
          <a:ln w="12700">
            <a:solidFill>
              <a:srgbClr val="AADDBB"/>
            </a:solidFill>
            <a:prstDash val="solid"/>
          </a:ln>
        </p:spPr>
        <p:txBody>
          <a:bodyPr/>
          <a:lstStyle/>
          <a:p>
            <a:endParaRPr lang="en-ZA"/>
          </a:p>
        </p:txBody>
      </p:sp>
      <p:sp>
        <p:nvSpPr>
          <p:cNvPr id="29" name="Text 27"/>
          <p:cNvSpPr/>
          <p:nvPr/>
        </p:nvSpPr>
        <p:spPr>
          <a:xfrm>
            <a:off x="4572000" y="2194560"/>
            <a:ext cx="4206240" cy="365760"/>
          </a:xfrm>
          <a:prstGeom prst="rect">
            <a:avLst/>
          </a:prstGeom>
          <a:noFill/>
          <a:ln/>
        </p:spPr>
        <p:txBody>
          <a:bodyPr wrap="square" rtlCol="0" anchor="ctr"/>
          <a:lstStyle/>
          <a:p>
            <a:pPr marL="0" indent="0">
              <a:buNone/>
            </a:pPr>
            <a:r>
              <a:rPr lang="en-US" sz="1050" b="1" dirty="0">
                <a:solidFill>
                  <a:srgbClr val="2D6A4F"/>
                </a:solidFill>
                <a:latin typeface="Calibri" pitchFamily="34" charset="0"/>
                <a:ea typeface="Calibri" pitchFamily="34" charset="-122"/>
                <a:cs typeface="Calibri" pitchFamily="34" charset="-120"/>
              </a:rPr>
              <a:t>AccessPoint-PT: </a:t>
            </a:r>
            <a:r>
              <a:rPr lang="en-US" sz="1050" dirty="0">
                <a:solidFill>
                  <a:srgbClr val="1A1A2E"/>
                </a:solidFill>
                <a:latin typeface="Calibri" pitchFamily="34" charset="0"/>
                <a:ea typeface="Calibri" pitchFamily="34" charset="-122"/>
                <a:cs typeface="Calibri" pitchFamily="34" charset="-120"/>
              </a:rPr>
              <a:t>Staff WiFi + guest SSID (VLAN 99)</a:t>
            </a:r>
            <a:endParaRPr lang="en-US" sz="1050" dirty="0"/>
          </a:p>
        </p:txBody>
      </p:sp>
      <p:sp>
        <p:nvSpPr>
          <p:cNvPr id="30" name="Shape 28"/>
          <p:cNvSpPr/>
          <p:nvPr/>
        </p:nvSpPr>
        <p:spPr>
          <a:xfrm>
            <a:off x="4480560" y="2578608"/>
            <a:ext cx="4389120" cy="365760"/>
          </a:xfrm>
          <a:prstGeom prst="rect">
            <a:avLst/>
          </a:prstGeom>
          <a:solidFill>
            <a:srgbClr val="FFFFFF"/>
          </a:solidFill>
          <a:ln w="12700">
            <a:solidFill>
              <a:srgbClr val="AADDBB"/>
            </a:solidFill>
            <a:prstDash val="solid"/>
          </a:ln>
        </p:spPr>
        <p:txBody>
          <a:bodyPr/>
          <a:lstStyle/>
          <a:p>
            <a:endParaRPr lang="en-ZA"/>
          </a:p>
        </p:txBody>
      </p:sp>
      <p:sp>
        <p:nvSpPr>
          <p:cNvPr id="31" name="Text 29"/>
          <p:cNvSpPr/>
          <p:nvPr/>
        </p:nvSpPr>
        <p:spPr>
          <a:xfrm>
            <a:off x="4572000" y="2578608"/>
            <a:ext cx="4206240" cy="365760"/>
          </a:xfrm>
          <a:prstGeom prst="rect">
            <a:avLst/>
          </a:prstGeom>
          <a:noFill/>
          <a:ln/>
        </p:spPr>
        <p:txBody>
          <a:bodyPr wrap="square" rtlCol="0" anchor="ctr"/>
          <a:lstStyle/>
          <a:p>
            <a:pPr marL="0" indent="0">
              <a:buNone/>
            </a:pPr>
            <a:r>
              <a:rPr lang="en-US" sz="1050" b="1" dirty="0">
                <a:solidFill>
                  <a:srgbClr val="2D6A4F"/>
                </a:solidFill>
                <a:latin typeface="Calibri" pitchFamily="34" charset="0"/>
                <a:ea typeface="Calibri" pitchFamily="34" charset="-122"/>
                <a:cs typeface="Calibri" pitchFamily="34" charset="-120"/>
              </a:rPr>
              <a:t>Laptop-PT: </a:t>
            </a:r>
            <a:r>
              <a:rPr lang="en-US" sz="1050" dirty="0">
                <a:solidFill>
                  <a:srgbClr val="1A1A2E"/>
                </a:solidFill>
                <a:latin typeface="Calibri" pitchFamily="34" charset="0"/>
                <a:ea typeface="Calibri" pitchFamily="34" charset="-122"/>
                <a:cs typeface="Calibri" pitchFamily="34" charset="-120"/>
              </a:rPr>
              <a:t>Staff WiFi device for testing</a:t>
            </a:r>
            <a:endParaRPr lang="en-US" sz="1050" dirty="0"/>
          </a:p>
        </p:txBody>
      </p:sp>
      <p:sp>
        <p:nvSpPr>
          <p:cNvPr id="32" name="Shape 30"/>
          <p:cNvSpPr/>
          <p:nvPr/>
        </p:nvSpPr>
        <p:spPr>
          <a:xfrm>
            <a:off x="4480560" y="2962656"/>
            <a:ext cx="4389120" cy="365760"/>
          </a:xfrm>
          <a:prstGeom prst="rect">
            <a:avLst/>
          </a:prstGeom>
          <a:solidFill>
            <a:srgbClr val="F0FFF4"/>
          </a:solidFill>
          <a:ln w="12700">
            <a:solidFill>
              <a:srgbClr val="AADDBB"/>
            </a:solidFill>
            <a:prstDash val="solid"/>
          </a:ln>
        </p:spPr>
        <p:txBody>
          <a:bodyPr/>
          <a:lstStyle/>
          <a:p>
            <a:endParaRPr lang="en-ZA"/>
          </a:p>
        </p:txBody>
      </p:sp>
      <p:sp>
        <p:nvSpPr>
          <p:cNvPr id="33" name="Text 31"/>
          <p:cNvSpPr/>
          <p:nvPr/>
        </p:nvSpPr>
        <p:spPr>
          <a:xfrm>
            <a:off x="4572000" y="2962656"/>
            <a:ext cx="4206240" cy="365760"/>
          </a:xfrm>
          <a:prstGeom prst="rect">
            <a:avLst/>
          </a:prstGeom>
          <a:noFill/>
          <a:ln/>
        </p:spPr>
        <p:txBody>
          <a:bodyPr wrap="square" rtlCol="0" anchor="ctr"/>
          <a:lstStyle/>
          <a:p>
            <a:pPr marL="0" indent="0">
              <a:buNone/>
            </a:pPr>
            <a:r>
              <a:rPr lang="en-US" sz="1050" b="1" dirty="0">
                <a:solidFill>
                  <a:srgbClr val="2D6A4F"/>
                </a:solidFill>
                <a:latin typeface="Calibri" pitchFamily="34" charset="0"/>
                <a:ea typeface="Calibri" pitchFamily="34" charset="-122"/>
                <a:cs typeface="Calibri" pitchFamily="34" charset="-120"/>
              </a:rPr>
              <a:t>Printer-PT: </a:t>
            </a:r>
            <a:r>
              <a:rPr lang="en-US" sz="1050" dirty="0">
                <a:solidFill>
                  <a:srgbClr val="1A1A2E"/>
                </a:solidFill>
                <a:latin typeface="Calibri" pitchFamily="34" charset="0"/>
                <a:ea typeface="Calibri" pitchFamily="34" charset="-122"/>
                <a:cs typeface="Calibri" pitchFamily="34" charset="-120"/>
              </a:rPr>
              <a:t>Shared reception printer</a:t>
            </a:r>
            <a:endParaRPr lang="en-US" sz="1050" dirty="0"/>
          </a:p>
        </p:txBody>
      </p:sp>
      <p:sp>
        <p:nvSpPr>
          <p:cNvPr id="34" name="Shape 32"/>
          <p:cNvSpPr/>
          <p:nvPr/>
        </p:nvSpPr>
        <p:spPr>
          <a:xfrm>
            <a:off x="0" y="4937760"/>
            <a:ext cx="9144000" cy="457200"/>
          </a:xfrm>
          <a:prstGeom prst="rect">
            <a:avLst/>
          </a:prstGeom>
          <a:solidFill>
            <a:srgbClr val="1E3A5F"/>
          </a:solidFill>
          <a:ln w="12700">
            <a:solidFill>
              <a:srgbClr val="1E3A5F"/>
            </a:solidFill>
            <a:prstDash val="solid"/>
          </a:ln>
        </p:spPr>
        <p:txBody>
          <a:bodyPr/>
          <a:lstStyle/>
          <a:p>
            <a:endParaRPr lang="en-ZA"/>
          </a:p>
        </p:txBody>
      </p:sp>
      <p:sp>
        <p:nvSpPr>
          <p:cNvPr id="35" name="Text 33"/>
          <p:cNvSpPr/>
          <p:nvPr/>
        </p:nvSpPr>
        <p:spPr>
          <a:xfrm>
            <a:off x="274320" y="4937760"/>
            <a:ext cx="8595360" cy="457200"/>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Subnet: 192.168.30.0/24  |  Gateway: 192.168.30.1  |  Connects to Dist-Switch-1  |  Guest WiFi on VLAN 99 — sandboxed internet only</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E4C60A7-45B4-2D9F-5844-CF818D20B2C5}"/>
              </a:ext>
            </a:extLst>
          </p:cNvPr>
          <p:cNvPicPr>
            <a:picLocks noChangeAspect="1"/>
          </p:cNvPicPr>
          <p:nvPr/>
        </p:nvPicPr>
        <p:blipFill>
          <a:blip r:embed="rId2"/>
          <a:stretch>
            <a:fillRect/>
          </a:stretch>
        </p:blipFill>
        <p:spPr>
          <a:xfrm>
            <a:off x="365760" y="683044"/>
            <a:ext cx="8201465" cy="3791479"/>
          </a:xfrm>
          <a:prstGeom prst="rect">
            <a:avLst/>
          </a:prstGeom>
        </p:spPr>
      </p:pic>
    </p:spTree>
    <p:extLst>
      <p:ext uri="{BB962C8B-B14F-4D97-AF65-F5344CB8AC3E}">
        <p14:creationId xmlns:p14="http://schemas.microsoft.com/office/powerpoint/2010/main" val="39963566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E3A5F"/>
          </a:solidFill>
          <a:ln w="12700">
            <a:solidFill>
              <a:srgbClr val="1E3A5F"/>
            </a:solidFill>
            <a:prstDash val="solid"/>
          </a:ln>
        </p:spPr>
        <p:txBody>
          <a:bodyPr/>
          <a:lstStyle/>
          <a:p>
            <a:endParaRPr lang="en-ZA"/>
          </a:p>
        </p:txBody>
      </p:sp>
      <p:sp>
        <p:nvSpPr>
          <p:cNvPr id="3" name="Text 1"/>
          <p:cNvSpPr/>
          <p:nvPr/>
        </p:nvSpPr>
        <p:spPr>
          <a:xfrm>
            <a:off x="365760" y="0"/>
            <a:ext cx="6400800" cy="100584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Kitchen</a:t>
            </a:r>
            <a:endParaRPr lang="en-US" sz="2600" dirty="0"/>
          </a:p>
        </p:txBody>
      </p:sp>
      <p:sp>
        <p:nvSpPr>
          <p:cNvPr id="4" name="Shape 2"/>
          <p:cNvSpPr/>
          <p:nvPr/>
        </p:nvSpPr>
        <p:spPr>
          <a:xfrm>
            <a:off x="6858000" y="182880"/>
            <a:ext cx="2011680" cy="640080"/>
          </a:xfrm>
          <a:prstGeom prst="rect">
            <a:avLst/>
          </a:prstGeom>
          <a:solidFill>
            <a:srgbClr val="2E75B6"/>
          </a:solidFill>
          <a:ln w="12700">
            <a:solidFill>
              <a:srgbClr val="2E75B6"/>
            </a:solidFill>
            <a:prstDash val="solid"/>
          </a:ln>
        </p:spPr>
        <p:txBody>
          <a:bodyPr/>
          <a:lstStyle/>
          <a:p>
            <a:endParaRPr lang="en-ZA"/>
          </a:p>
        </p:txBody>
      </p:sp>
      <p:sp>
        <p:nvSpPr>
          <p:cNvPr id="5" name="Text 3"/>
          <p:cNvSpPr/>
          <p:nvPr/>
        </p:nvSpPr>
        <p:spPr>
          <a:xfrm>
            <a:off x="6858000" y="182880"/>
            <a:ext cx="2011680" cy="6400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VLAN 40</a:t>
            </a:r>
            <a:endParaRPr lang="en-US" sz="1100" dirty="0"/>
          </a:p>
        </p:txBody>
      </p:sp>
      <p:sp>
        <p:nvSpPr>
          <p:cNvPr id="6" name="Shape 4"/>
          <p:cNvSpPr/>
          <p:nvPr/>
        </p:nvSpPr>
        <p:spPr>
          <a:xfrm>
            <a:off x="274320" y="1051560"/>
            <a:ext cx="3931920" cy="347472"/>
          </a:xfrm>
          <a:prstGeom prst="rect">
            <a:avLst/>
          </a:prstGeom>
          <a:solidFill>
            <a:srgbClr val="2E75B6"/>
          </a:solidFill>
          <a:ln w="12700">
            <a:solidFill>
              <a:srgbClr val="2E75B6"/>
            </a:solidFill>
            <a:prstDash val="solid"/>
          </a:ln>
        </p:spPr>
        <p:txBody>
          <a:bodyPr/>
          <a:lstStyle/>
          <a:p>
            <a:endParaRPr lang="en-ZA"/>
          </a:p>
        </p:txBody>
      </p:sp>
      <p:sp>
        <p:nvSpPr>
          <p:cNvPr id="7" name="Text 5"/>
          <p:cNvSpPr/>
          <p:nvPr/>
        </p:nvSpPr>
        <p:spPr>
          <a:xfrm>
            <a:off x="274320" y="1051560"/>
            <a:ext cx="3931920" cy="347472"/>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Requirements</a:t>
            </a:r>
            <a:endParaRPr lang="en-US" sz="1200" dirty="0"/>
          </a:p>
        </p:txBody>
      </p:sp>
      <p:sp>
        <p:nvSpPr>
          <p:cNvPr id="8" name="Shape 6"/>
          <p:cNvSpPr/>
          <p:nvPr/>
        </p:nvSpPr>
        <p:spPr>
          <a:xfrm>
            <a:off x="274320" y="1426464"/>
            <a:ext cx="3931920" cy="365760"/>
          </a:xfrm>
          <a:prstGeom prst="rect">
            <a:avLst/>
          </a:prstGeom>
          <a:solidFill>
            <a:srgbClr val="E8F0F8"/>
          </a:solidFill>
          <a:ln w="12700">
            <a:solidFill>
              <a:srgbClr val="CCDDEE"/>
            </a:solidFill>
            <a:prstDash val="solid"/>
          </a:ln>
        </p:spPr>
        <p:txBody>
          <a:bodyPr/>
          <a:lstStyle/>
          <a:p>
            <a:endParaRPr lang="en-ZA"/>
          </a:p>
        </p:txBody>
      </p:sp>
      <p:sp>
        <p:nvSpPr>
          <p:cNvPr id="9" name="Text 7"/>
          <p:cNvSpPr/>
          <p:nvPr/>
        </p:nvSpPr>
        <p:spPr>
          <a:xfrm>
            <a:off x="365760" y="1426464"/>
            <a:ext cx="3749040" cy="365760"/>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IoT devices — smart appliances</a:t>
            </a:r>
            <a:endParaRPr lang="en-US" sz="1050" dirty="0"/>
          </a:p>
        </p:txBody>
      </p:sp>
      <p:sp>
        <p:nvSpPr>
          <p:cNvPr id="10" name="Shape 8"/>
          <p:cNvSpPr/>
          <p:nvPr/>
        </p:nvSpPr>
        <p:spPr>
          <a:xfrm>
            <a:off x="274320" y="1810512"/>
            <a:ext cx="3931920" cy="365760"/>
          </a:xfrm>
          <a:prstGeom prst="rect">
            <a:avLst/>
          </a:prstGeom>
          <a:solidFill>
            <a:srgbClr val="FFFFFF"/>
          </a:solidFill>
          <a:ln w="12700">
            <a:solidFill>
              <a:srgbClr val="CCDDEE"/>
            </a:solidFill>
            <a:prstDash val="solid"/>
          </a:ln>
        </p:spPr>
        <p:txBody>
          <a:bodyPr/>
          <a:lstStyle/>
          <a:p>
            <a:endParaRPr lang="en-ZA"/>
          </a:p>
        </p:txBody>
      </p:sp>
      <p:sp>
        <p:nvSpPr>
          <p:cNvPr id="11" name="Text 9"/>
          <p:cNvSpPr/>
          <p:nvPr/>
        </p:nvSpPr>
        <p:spPr>
          <a:xfrm>
            <a:off x="365760" y="1810512"/>
            <a:ext cx="3749040" cy="365760"/>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4 wired network points for IoT</a:t>
            </a:r>
            <a:endParaRPr lang="en-US" sz="1050" dirty="0"/>
          </a:p>
        </p:txBody>
      </p:sp>
      <p:sp>
        <p:nvSpPr>
          <p:cNvPr id="12" name="Shape 10"/>
          <p:cNvSpPr/>
          <p:nvPr/>
        </p:nvSpPr>
        <p:spPr>
          <a:xfrm>
            <a:off x="274320" y="2194560"/>
            <a:ext cx="3931920" cy="365760"/>
          </a:xfrm>
          <a:prstGeom prst="rect">
            <a:avLst/>
          </a:prstGeom>
          <a:solidFill>
            <a:srgbClr val="E8F0F8"/>
          </a:solidFill>
          <a:ln w="12700">
            <a:solidFill>
              <a:srgbClr val="CCDDEE"/>
            </a:solidFill>
            <a:prstDash val="solid"/>
          </a:ln>
        </p:spPr>
        <p:txBody>
          <a:bodyPr/>
          <a:lstStyle/>
          <a:p>
            <a:endParaRPr lang="en-ZA"/>
          </a:p>
        </p:txBody>
      </p:sp>
      <p:sp>
        <p:nvSpPr>
          <p:cNvPr id="13" name="Text 11"/>
          <p:cNvSpPr/>
          <p:nvPr/>
        </p:nvSpPr>
        <p:spPr>
          <a:xfrm>
            <a:off x="365760" y="2194560"/>
            <a:ext cx="3749040" cy="365760"/>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10 WiFi devices for staff</a:t>
            </a:r>
            <a:endParaRPr lang="en-US" sz="1050" dirty="0"/>
          </a:p>
        </p:txBody>
      </p:sp>
      <p:sp>
        <p:nvSpPr>
          <p:cNvPr id="14" name="Shape 12"/>
          <p:cNvSpPr/>
          <p:nvPr/>
        </p:nvSpPr>
        <p:spPr>
          <a:xfrm>
            <a:off x="274320" y="2578608"/>
            <a:ext cx="3931920" cy="365760"/>
          </a:xfrm>
          <a:prstGeom prst="rect">
            <a:avLst/>
          </a:prstGeom>
          <a:solidFill>
            <a:srgbClr val="FFFFFF"/>
          </a:solidFill>
          <a:ln w="12700">
            <a:solidFill>
              <a:srgbClr val="CCDDEE"/>
            </a:solidFill>
            <a:prstDash val="solid"/>
          </a:ln>
        </p:spPr>
        <p:txBody>
          <a:bodyPr/>
          <a:lstStyle/>
          <a:p>
            <a:endParaRPr lang="en-ZA"/>
          </a:p>
        </p:txBody>
      </p:sp>
      <p:sp>
        <p:nvSpPr>
          <p:cNvPr id="15" name="Text 13"/>
          <p:cNvSpPr/>
          <p:nvPr/>
        </p:nvSpPr>
        <p:spPr>
          <a:xfrm>
            <a:off x="365760" y="2578608"/>
            <a:ext cx="3749040" cy="365760"/>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No sensitive data in this section</a:t>
            </a:r>
            <a:endParaRPr lang="en-US" sz="1050" dirty="0"/>
          </a:p>
        </p:txBody>
      </p:sp>
      <p:sp>
        <p:nvSpPr>
          <p:cNvPr id="16" name="Shape 14"/>
          <p:cNvSpPr/>
          <p:nvPr/>
        </p:nvSpPr>
        <p:spPr>
          <a:xfrm>
            <a:off x="274320" y="2962656"/>
            <a:ext cx="3931920" cy="365760"/>
          </a:xfrm>
          <a:prstGeom prst="rect">
            <a:avLst/>
          </a:prstGeom>
          <a:solidFill>
            <a:srgbClr val="E8F0F8"/>
          </a:solidFill>
          <a:ln w="12700">
            <a:solidFill>
              <a:srgbClr val="CCDDEE"/>
            </a:solidFill>
            <a:prstDash val="solid"/>
          </a:ln>
        </p:spPr>
        <p:txBody>
          <a:bodyPr/>
          <a:lstStyle/>
          <a:p>
            <a:endParaRPr lang="en-ZA"/>
          </a:p>
        </p:txBody>
      </p:sp>
      <p:sp>
        <p:nvSpPr>
          <p:cNvPr id="17" name="Text 15"/>
          <p:cNvSpPr/>
          <p:nvPr/>
        </p:nvSpPr>
        <p:spPr>
          <a:xfrm>
            <a:off x="365760" y="2962656"/>
            <a:ext cx="3749040" cy="365760"/>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Isolated from all other sections</a:t>
            </a:r>
            <a:endParaRPr lang="en-US" sz="1050" dirty="0"/>
          </a:p>
        </p:txBody>
      </p:sp>
      <p:sp>
        <p:nvSpPr>
          <p:cNvPr id="18" name="Shape 16"/>
          <p:cNvSpPr/>
          <p:nvPr/>
        </p:nvSpPr>
        <p:spPr>
          <a:xfrm>
            <a:off x="274320" y="3346704"/>
            <a:ext cx="3931920" cy="365760"/>
          </a:xfrm>
          <a:prstGeom prst="rect">
            <a:avLst/>
          </a:prstGeom>
          <a:solidFill>
            <a:srgbClr val="FFFFFF"/>
          </a:solidFill>
          <a:ln w="12700">
            <a:solidFill>
              <a:srgbClr val="CCDDEE"/>
            </a:solidFill>
            <a:prstDash val="solid"/>
          </a:ln>
        </p:spPr>
        <p:txBody>
          <a:bodyPr/>
          <a:lstStyle/>
          <a:p>
            <a:endParaRPr lang="en-ZA"/>
          </a:p>
        </p:txBody>
      </p:sp>
      <p:sp>
        <p:nvSpPr>
          <p:cNvPr id="19" name="Text 17"/>
          <p:cNvSpPr/>
          <p:nvPr/>
        </p:nvSpPr>
        <p:spPr>
          <a:xfrm>
            <a:off x="365760" y="3346704"/>
            <a:ext cx="3749040" cy="365760"/>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Full internet access required</a:t>
            </a:r>
            <a:endParaRPr lang="en-US" sz="1050" dirty="0"/>
          </a:p>
        </p:txBody>
      </p:sp>
      <p:sp>
        <p:nvSpPr>
          <p:cNvPr id="20" name="Shape 18"/>
          <p:cNvSpPr/>
          <p:nvPr/>
        </p:nvSpPr>
        <p:spPr>
          <a:xfrm>
            <a:off x="274320" y="3730752"/>
            <a:ext cx="3931920" cy="365760"/>
          </a:xfrm>
          <a:prstGeom prst="rect">
            <a:avLst/>
          </a:prstGeom>
          <a:solidFill>
            <a:srgbClr val="E8F0F8"/>
          </a:solidFill>
          <a:ln w="12700">
            <a:solidFill>
              <a:srgbClr val="CCDDEE"/>
            </a:solidFill>
            <a:prstDash val="solid"/>
          </a:ln>
        </p:spPr>
        <p:txBody>
          <a:bodyPr/>
          <a:lstStyle/>
          <a:p>
            <a:endParaRPr lang="en-ZA"/>
          </a:p>
        </p:txBody>
      </p:sp>
      <p:sp>
        <p:nvSpPr>
          <p:cNvPr id="21" name="Text 19"/>
          <p:cNvSpPr/>
          <p:nvPr/>
        </p:nvSpPr>
        <p:spPr>
          <a:xfrm>
            <a:off x="365760" y="3730752"/>
            <a:ext cx="3749040" cy="365760"/>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No printer required</a:t>
            </a:r>
            <a:endParaRPr lang="en-US" sz="1050" dirty="0"/>
          </a:p>
        </p:txBody>
      </p:sp>
      <p:sp>
        <p:nvSpPr>
          <p:cNvPr id="22" name="Shape 20"/>
          <p:cNvSpPr/>
          <p:nvPr/>
        </p:nvSpPr>
        <p:spPr>
          <a:xfrm>
            <a:off x="4480560" y="1051560"/>
            <a:ext cx="4389120" cy="347472"/>
          </a:xfrm>
          <a:prstGeom prst="rect">
            <a:avLst/>
          </a:prstGeom>
          <a:solidFill>
            <a:srgbClr val="2D6A4F"/>
          </a:solidFill>
          <a:ln w="12700">
            <a:solidFill>
              <a:srgbClr val="2D6A4F"/>
            </a:solidFill>
            <a:prstDash val="solid"/>
          </a:ln>
        </p:spPr>
        <p:txBody>
          <a:bodyPr/>
          <a:lstStyle/>
          <a:p>
            <a:endParaRPr lang="en-ZA"/>
          </a:p>
        </p:txBody>
      </p:sp>
      <p:sp>
        <p:nvSpPr>
          <p:cNvPr id="23" name="Text 21"/>
          <p:cNvSpPr/>
          <p:nvPr/>
        </p:nvSpPr>
        <p:spPr>
          <a:xfrm>
            <a:off x="4480560" y="1051560"/>
            <a:ext cx="4389120" cy="347472"/>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Packet Tracer Devices</a:t>
            </a:r>
            <a:endParaRPr lang="en-US" sz="1200" dirty="0"/>
          </a:p>
        </p:txBody>
      </p:sp>
      <p:sp>
        <p:nvSpPr>
          <p:cNvPr id="24" name="Shape 22"/>
          <p:cNvSpPr/>
          <p:nvPr/>
        </p:nvSpPr>
        <p:spPr>
          <a:xfrm>
            <a:off x="4480560" y="1426464"/>
            <a:ext cx="4389120" cy="365760"/>
          </a:xfrm>
          <a:prstGeom prst="rect">
            <a:avLst/>
          </a:prstGeom>
          <a:solidFill>
            <a:srgbClr val="F0FFF4"/>
          </a:solidFill>
          <a:ln w="12700">
            <a:solidFill>
              <a:srgbClr val="AADDBB"/>
            </a:solidFill>
            <a:prstDash val="solid"/>
          </a:ln>
        </p:spPr>
        <p:txBody>
          <a:bodyPr/>
          <a:lstStyle/>
          <a:p>
            <a:endParaRPr lang="en-ZA"/>
          </a:p>
        </p:txBody>
      </p:sp>
      <p:sp>
        <p:nvSpPr>
          <p:cNvPr id="25" name="Text 23"/>
          <p:cNvSpPr/>
          <p:nvPr/>
        </p:nvSpPr>
        <p:spPr>
          <a:xfrm>
            <a:off x="4572000" y="1426464"/>
            <a:ext cx="4206240" cy="365760"/>
          </a:xfrm>
          <a:prstGeom prst="rect">
            <a:avLst/>
          </a:prstGeom>
          <a:noFill/>
          <a:ln/>
        </p:spPr>
        <p:txBody>
          <a:bodyPr wrap="square" rtlCol="0" anchor="ctr"/>
          <a:lstStyle/>
          <a:p>
            <a:pPr marL="0" indent="0">
              <a:buNone/>
            </a:pPr>
            <a:r>
              <a:rPr lang="en-US" sz="1050" b="1" dirty="0">
                <a:solidFill>
                  <a:srgbClr val="2D6A4F"/>
                </a:solidFill>
                <a:latin typeface="Calibri" pitchFamily="34" charset="0"/>
                <a:ea typeface="Calibri" pitchFamily="34" charset="-122"/>
                <a:cs typeface="Calibri" pitchFamily="34" charset="-120"/>
              </a:rPr>
              <a:t>Switch-PT: </a:t>
            </a:r>
            <a:r>
              <a:rPr lang="en-US" sz="1050" dirty="0">
                <a:solidFill>
                  <a:srgbClr val="1A1A2E"/>
                </a:solidFill>
                <a:latin typeface="Calibri" pitchFamily="34" charset="0"/>
                <a:ea typeface="Calibri" pitchFamily="34" charset="-122"/>
                <a:cs typeface="Calibri" pitchFamily="34" charset="-120"/>
              </a:rPr>
              <a:t>Small access switch (&lt;8 ports)</a:t>
            </a:r>
            <a:endParaRPr lang="en-US" sz="1050" dirty="0"/>
          </a:p>
        </p:txBody>
      </p:sp>
      <p:sp>
        <p:nvSpPr>
          <p:cNvPr id="26" name="Shape 24"/>
          <p:cNvSpPr/>
          <p:nvPr/>
        </p:nvSpPr>
        <p:spPr>
          <a:xfrm>
            <a:off x="4480560" y="1810512"/>
            <a:ext cx="4389120" cy="365760"/>
          </a:xfrm>
          <a:prstGeom prst="rect">
            <a:avLst/>
          </a:prstGeom>
          <a:solidFill>
            <a:srgbClr val="FFFFFF"/>
          </a:solidFill>
          <a:ln w="12700">
            <a:solidFill>
              <a:srgbClr val="AADDBB"/>
            </a:solidFill>
            <a:prstDash val="solid"/>
          </a:ln>
        </p:spPr>
        <p:txBody>
          <a:bodyPr/>
          <a:lstStyle/>
          <a:p>
            <a:endParaRPr lang="en-ZA"/>
          </a:p>
        </p:txBody>
      </p:sp>
      <p:sp>
        <p:nvSpPr>
          <p:cNvPr id="27" name="Text 25"/>
          <p:cNvSpPr/>
          <p:nvPr/>
        </p:nvSpPr>
        <p:spPr>
          <a:xfrm>
            <a:off x="4572000" y="1810512"/>
            <a:ext cx="4206240" cy="365760"/>
          </a:xfrm>
          <a:prstGeom prst="rect">
            <a:avLst/>
          </a:prstGeom>
          <a:noFill/>
          <a:ln/>
        </p:spPr>
        <p:txBody>
          <a:bodyPr wrap="square" rtlCol="0" anchor="ctr"/>
          <a:lstStyle/>
          <a:p>
            <a:pPr marL="0" indent="0">
              <a:buNone/>
            </a:pPr>
            <a:r>
              <a:rPr lang="en-US" sz="1050" b="1" dirty="0">
                <a:solidFill>
                  <a:srgbClr val="2D6A4F"/>
                </a:solidFill>
                <a:latin typeface="Calibri" pitchFamily="34" charset="0"/>
                <a:ea typeface="Calibri" pitchFamily="34" charset="-122"/>
                <a:cs typeface="Calibri" pitchFamily="34" charset="-120"/>
              </a:rPr>
              <a:t>PC-PT x4: </a:t>
            </a:r>
            <a:r>
              <a:rPr lang="en-US" sz="1050" dirty="0">
                <a:solidFill>
                  <a:srgbClr val="1A1A2E"/>
                </a:solidFill>
                <a:latin typeface="Calibri" pitchFamily="34" charset="0"/>
                <a:ea typeface="Calibri" pitchFamily="34" charset="-122"/>
                <a:cs typeface="Calibri" pitchFamily="34" charset="-120"/>
              </a:rPr>
              <a:t>Represents 4 wired IoT devices</a:t>
            </a:r>
            <a:endParaRPr lang="en-US" sz="1050" dirty="0"/>
          </a:p>
        </p:txBody>
      </p:sp>
      <p:sp>
        <p:nvSpPr>
          <p:cNvPr id="28" name="Shape 26"/>
          <p:cNvSpPr/>
          <p:nvPr/>
        </p:nvSpPr>
        <p:spPr>
          <a:xfrm>
            <a:off x="4480560" y="2194560"/>
            <a:ext cx="4389120" cy="365760"/>
          </a:xfrm>
          <a:prstGeom prst="rect">
            <a:avLst/>
          </a:prstGeom>
          <a:solidFill>
            <a:srgbClr val="F0FFF4"/>
          </a:solidFill>
          <a:ln w="12700">
            <a:solidFill>
              <a:srgbClr val="AADDBB"/>
            </a:solidFill>
            <a:prstDash val="solid"/>
          </a:ln>
        </p:spPr>
        <p:txBody>
          <a:bodyPr/>
          <a:lstStyle/>
          <a:p>
            <a:endParaRPr lang="en-ZA"/>
          </a:p>
        </p:txBody>
      </p:sp>
      <p:sp>
        <p:nvSpPr>
          <p:cNvPr id="29" name="Text 27"/>
          <p:cNvSpPr/>
          <p:nvPr/>
        </p:nvSpPr>
        <p:spPr>
          <a:xfrm>
            <a:off x="4572000" y="2194560"/>
            <a:ext cx="4206240" cy="365760"/>
          </a:xfrm>
          <a:prstGeom prst="rect">
            <a:avLst/>
          </a:prstGeom>
          <a:noFill/>
          <a:ln/>
        </p:spPr>
        <p:txBody>
          <a:bodyPr wrap="square" rtlCol="0" anchor="ctr"/>
          <a:lstStyle/>
          <a:p>
            <a:pPr marL="0" indent="0">
              <a:buNone/>
            </a:pPr>
            <a:r>
              <a:rPr lang="en-US" sz="1050" b="1" dirty="0">
                <a:solidFill>
                  <a:srgbClr val="2D6A4F"/>
                </a:solidFill>
                <a:latin typeface="Calibri" pitchFamily="34" charset="0"/>
                <a:ea typeface="Calibri" pitchFamily="34" charset="-122"/>
                <a:cs typeface="Calibri" pitchFamily="34" charset="-120"/>
              </a:rPr>
              <a:t>AccessPoint-PT: </a:t>
            </a:r>
            <a:r>
              <a:rPr lang="en-US" sz="1050" dirty="0">
                <a:solidFill>
                  <a:srgbClr val="1A1A2E"/>
                </a:solidFill>
                <a:latin typeface="Calibri" pitchFamily="34" charset="0"/>
                <a:ea typeface="Calibri" pitchFamily="34" charset="-122"/>
                <a:cs typeface="Calibri" pitchFamily="34" charset="-120"/>
              </a:rPr>
              <a:t>Staff WiFi in kitchen area</a:t>
            </a:r>
            <a:endParaRPr lang="en-US" sz="1050" dirty="0"/>
          </a:p>
        </p:txBody>
      </p:sp>
      <p:sp>
        <p:nvSpPr>
          <p:cNvPr id="30" name="Shape 28"/>
          <p:cNvSpPr/>
          <p:nvPr/>
        </p:nvSpPr>
        <p:spPr>
          <a:xfrm>
            <a:off x="4480560" y="2578608"/>
            <a:ext cx="4389120" cy="365760"/>
          </a:xfrm>
          <a:prstGeom prst="rect">
            <a:avLst/>
          </a:prstGeom>
          <a:solidFill>
            <a:srgbClr val="FFFFFF"/>
          </a:solidFill>
          <a:ln w="12700">
            <a:solidFill>
              <a:srgbClr val="AADDBB"/>
            </a:solidFill>
            <a:prstDash val="solid"/>
          </a:ln>
        </p:spPr>
        <p:txBody>
          <a:bodyPr/>
          <a:lstStyle/>
          <a:p>
            <a:endParaRPr lang="en-ZA"/>
          </a:p>
        </p:txBody>
      </p:sp>
      <p:sp>
        <p:nvSpPr>
          <p:cNvPr id="31" name="Text 29"/>
          <p:cNvSpPr/>
          <p:nvPr/>
        </p:nvSpPr>
        <p:spPr>
          <a:xfrm>
            <a:off x="4572000" y="2578608"/>
            <a:ext cx="4206240" cy="365760"/>
          </a:xfrm>
          <a:prstGeom prst="rect">
            <a:avLst/>
          </a:prstGeom>
          <a:noFill/>
          <a:ln/>
        </p:spPr>
        <p:txBody>
          <a:bodyPr wrap="square" rtlCol="0" anchor="ctr"/>
          <a:lstStyle/>
          <a:p>
            <a:pPr marL="0" indent="0">
              <a:buNone/>
            </a:pPr>
            <a:r>
              <a:rPr lang="en-US" sz="1050" b="1" dirty="0">
                <a:solidFill>
                  <a:srgbClr val="2D6A4F"/>
                </a:solidFill>
                <a:latin typeface="Calibri" pitchFamily="34" charset="0"/>
                <a:ea typeface="Calibri" pitchFamily="34" charset="-122"/>
                <a:cs typeface="Calibri" pitchFamily="34" charset="-120"/>
              </a:rPr>
              <a:t>Laptop-PT: </a:t>
            </a:r>
            <a:r>
              <a:rPr lang="en-US" sz="1050" dirty="0">
                <a:solidFill>
                  <a:srgbClr val="1A1A2E"/>
                </a:solidFill>
                <a:latin typeface="Calibri" pitchFamily="34" charset="0"/>
                <a:ea typeface="Calibri" pitchFamily="34" charset="-122"/>
                <a:cs typeface="Calibri" pitchFamily="34" charset="-120"/>
              </a:rPr>
              <a:t>Represents staff WiFi devices</a:t>
            </a:r>
            <a:endParaRPr lang="en-US" sz="1050" dirty="0"/>
          </a:p>
        </p:txBody>
      </p:sp>
      <p:sp>
        <p:nvSpPr>
          <p:cNvPr id="32" name="Shape 30"/>
          <p:cNvSpPr/>
          <p:nvPr/>
        </p:nvSpPr>
        <p:spPr>
          <a:xfrm>
            <a:off x="0" y="4937760"/>
            <a:ext cx="9144000" cy="457200"/>
          </a:xfrm>
          <a:prstGeom prst="rect">
            <a:avLst/>
          </a:prstGeom>
          <a:solidFill>
            <a:srgbClr val="1E3A5F"/>
          </a:solidFill>
          <a:ln w="12700">
            <a:solidFill>
              <a:srgbClr val="1E3A5F"/>
            </a:solidFill>
            <a:prstDash val="solid"/>
          </a:ln>
        </p:spPr>
        <p:txBody>
          <a:bodyPr/>
          <a:lstStyle/>
          <a:p>
            <a:endParaRPr lang="en-ZA"/>
          </a:p>
        </p:txBody>
      </p:sp>
      <p:sp>
        <p:nvSpPr>
          <p:cNvPr id="33" name="Text 31"/>
          <p:cNvSpPr/>
          <p:nvPr/>
        </p:nvSpPr>
        <p:spPr>
          <a:xfrm>
            <a:off x="274320" y="4937760"/>
            <a:ext cx="8595360" cy="457200"/>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Subnet: 192.168.40.0/24  |  Gateway: 192.168.40.1  |  Connects to Dist-Switch-1  |  IoT devices treated as untrusted  |  Isolated from all sections</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DDE5CDF-1512-4CDA-B956-23D223F8DE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514607"/>
            <a:ext cx="9144000" cy="3079455"/>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10" name="Picture 9">
            <a:extLst>
              <a:ext uri="{FF2B5EF4-FFF2-40B4-BE49-F238E27FC236}">
                <a16:creationId xmlns:a16="http://schemas.microsoft.com/office/drawing/2014/main" id="{B029D7D8-5A6B-4C76-94C8-15798C6C5AD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bwMode="black">
          <a:xfrm>
            <a:off x="0" y="4594860"/>
            <a:ext cx="9144000" cy="557212"/>
          </a:xfrm>
          <a:prstGeom prst="rect">
            <a:avLst/>
          </a:prstGeom>
        </p:spPr>
      </p:pic>
      <p:cxnSp>
        <p:nvCxnSpPr>
          <p:cNvPr id="12" name="Straight Connector 11">
            <a:extLst>
              <a:ext uri="{FF2B5EF4-FFF2-40B4-BE49-F238E27FC236}">
                <a16:creationId xmlns:a16="http://schemas.microsoft.com/office/drawing/2014/main" id="{A5C9319C-E20D-4884-952F-60B6A58C3E3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4596309"/>
            <a:ext cx="9144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 useBgFill="1">
        <p:nvSpPr>
          <p:cNvPr id="14" name="Rectangle 13">
            <a:extLst>
              <a:ext uri="{FF2B5EF4-FFF2-40B4-BE49-F238E27FC236}">
                <a16:creationId xmlns:a16="http://schemas.microsoft.com/office/drawing/2014/main" id="{F1176DA6-4BBF-42A4-9C94-E6613CCD6B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99AAB0AE-172B-4FB4-80C2-86CD6B8242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7759" y="360045"/>
            <a:ext cx="8428482" cy="4423410"/>
          </a:xfrm>
          <a:prstGeom prst="rect">
            <a:avLst/>
          </a:prstGeom>
          <a:solidFill>
            <a:schemeClr val="bg1"/>
          </a:solidFill>
          <a:ln w="22225">
            <a:solidFill>
              <a:srgbClr val="FF9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DBBCC940-05CC-DBE8-515E-8B6A00F52BD1}"/>
              </a:ext>
            </a:extLst>
          </p:cNvPr>
          <p:cNvPicPr>
            <a:picLocks noChangeAspect="1"/>
          </p:cNvPicPr>
          <p:nvPr/>
        </p:nvPicPr>
        <p:blipFill>
          <a:blip r:embed="rId3"/>
          <a:stretch>
            <a:fillRect/>
          </a:stretch>
        </p:blipFill>
        <p:spPr>
          <a:xfrm>
            <a:off x="2175622" y="482600"/>
            <a:ext cx="4792754" cy="4178299"/>
          </a:xfrm>
          <a:prstGeom prst="rect">
            <a:avLst/>
          </a:prstGeom>
        </p:spPr>
      </p:pic>
    </p:spTree>
    <p:extLst>
      <p:ext uri="{BB962C8B-B14F-4D97-AF65-F5344CB8AC3E}">
        <p14:creationId xmlns:p14="http://schemas.microsoft.com/office/powerpoint/2010/main" val="19772636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E3A5F"/>
          </a:solidFill>
          <a:ln w="12700">
            <a:solidFill>
              <a:srgbClr val="1E3A5F"/>
            </a:solidFill>
            <a:prstDash val="solid"/>
          </a:ln>
        </p:spPr>
        <p:txBody>
          <a:bodyPr/>
          <a:lstStyle/>
          <a:p>
            <a:endParaRPr lang="en-ZA"/>
          </a:p>
        </p:txBody>
      </p:sp>
      <p:sp>
        <p:nvSpPr>
          <p:cNvPr id="3" name="Text 1"/>
          <p:cNvSpPr/>
          <p:nvPr/>
        </p:nvSpPr>
        <p:spPr>
          <a:xfrm>
            <a:off x="365760" y="0"/>
            <a:ext cx="6400800" cy="100584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Meeting Room / Board Room</a:t>
            </a:r>
            <a:endParaRPr lang="en-US" sz="2600" dirty="0"/>
          </a:p>
        </p:txBody>
      </p:sp>
      <p:sp>
        <p:nvSpPr>
          <p:cNvPr id="4" name="Shape 2"/>
          <p:cNvSpPr/>
          <p:nvPr/>
        </p:nvSpPr>
        <p:spPr>
          <a:xfrm>
            <a:off x="6858000" y="182880"/>
            <a:ext cx="2011680" cy="640080"/>
          </a:xfrm>
          <a:prstGeom prst="rect">
            <a:avLst/>
          </a:prstGeom>
          <a:solidFill>
            <a:srgbClr val="2E75B6"/>
          </a:solidFill>
          <a:ln w="12700">
            <a:solidFill>
              <a:srgbClr val="2E75B6"/>
            </a:solidFill>
            <a:prstDash val="solid"/>
          </a:ln>
        </p:spPr>
        <p:txBody>
          <a:bodyPr/>
          <a:lstStyle/>
          <a:p>
            <a:endParaRPr lang="en-ZA"/>
          </a:p>
        </p:txBody>
      </p:sp>
      <p:sp>
        <p:nvSpPr>
          <p:cNvPr id="5" name="Text 3"/>
          <p:cNvSpPr/>
          <p:nvPr/>
        </p:nvSpPr>
        <p:spPr>
          <a:xfrm>
            <a:off x="6858000" y="182880"/>
            <a:ext cx="2011680" cy="6400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VLAN 50</a:t>
            </a:r>
            <a:endParaRPr lang="en-US" sz="1100" dirty="0"/>
          </a:p>
        </p:txBody>
      </p:sp>
      <p:sp>
        <p:nvSpPr>
          <p:cNvPr id="6" name="Shape 4"/>
          <p:cNvSpPr/>
          <p:nvPr/>
        </p:nvSpPr>
        <p:spPr>
          <a:xfrm>
            <a:off x="274320" y="1051560"/>
            <a:ext cx="3931920" cy="347472"/>
          </a:xfrm>
          <a:prstGeom prst="rect">
            <a:avLst/>
          </a:prstGeom>
          <a:solidFill>
            <a:srgbClr val="2E75B6"/>
          </a:solidFill>
          <a:ln w="12700">
            <a:solidFill>
              <a:srgbClr val="2E75B6"/>
            </a:solidFill>
            <a:prstDash val="solid"/>
          </a:ln>
        </p:spPr>
        <p:txBody>
          <a:bodyPr/>
          <a:lstStyle/>
          <a:p>
            <a:endParaRPr lang="en-ZA"/>
          </a:p>
        </p:txBody>
      </p:sp>
      <p:sp>
        <p:nvSpPr>
          <p:cNvPr id="7" name="Text 5"/>
          <p:cNvSpPr/>
          <p:nvPr/>
        </p:nvSpPr>
        <p:spPr>
          <a:xfrm>
            <a:off x="274320" y="1051560"/>
            <a:ext cx="3931920" cy="347472"/>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Requirements</a:t>
            </a:r>
            <a:endParaRPr lang="en-US" sz="1200" dirty="0"/>
          </a:p>
        </p:txBody>
      </p:sp>
      <p:sp>
        <p:nvSpPr>
          <p:cNvPr id="8" name="Shape 6"/>
          <p:cNvSpPr/>
          <p:nvPr/>
        </p:nvSpPr>
        <p:spPr>
          <a:xfrm>
            <a:off x="274320" y="1426464"/>
            <a:ext cx="3931920" cy="365760"/>
          </a:xfrm>
          <a:prstGeom prst="rect">
            <a:avLst/>
          </a:prstGeom>
          <a:solidFill>
            <a:srgbClr val="E8F0F8"/>
          </a:solidFill>
          <a:ln w="12700">
            <a:solidFill>
              <a:srgbClr val="CCDDEE"/>
            </a:solidFill>
            <a:prstDash val="solid"/>
          </a:ln>
        </p:spPr>
        <p:txBody>
          <a:bodyPr/>
          <a:lstStyle/>
          <a:p>
            <a:endParaRPr lang="en-ZA"/>
          </a:p>
        </p:txBody>
      </p:sp>
      <p:sp>
        <p:nvSpPr>
          <p:cNvPr id="9" name="Text 7"/>
          <p:cNvSpPr/>
          <p:nvPr/>
        </p:nvSpPr>
        <p:spPr>
          <a:xfrm>
            <a:off x="365760" y="1426464"/>
            <a:ext cx="3749040" cy="365760"/>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20 to 30 people simultaneously</a:t>
            </a:r>
            <a:endParaRPr lang="en-US" sz="1050" dirty="0"/>
          </a:p>
        </p:txBody>
      </p:sp>
      <p:sp>
        <p:nvSpPr>
          <p:cNvPr id="10" name="Shape 8"/>
          <p:cNvSpPr/>
          <p:nvPr/>
        </p:nvSpPr>
        <p:spPr>
          <a:xfrm>
            <a:off x="274320" y="1810512"/>
            <a:ext cx="3931920" cy="365760"/>
          </a:xfrm>
          <a:prstGeom prst="rect">
            <a:avLst/>
          </a:prstGeom>
          <a:solidFill>
            <a:srgbClr val="FFFFFF"/>
          </a:solidFill>
          <a:ln w="12700">
            <a:solidFill>
              <a:srgbClr val="CCDDEE"/>
            </a:solidFill>
            <a:prstDash val="solid"/>
          </a:ln>
        </p:spPr>
        <p:txBody>
          <a:bodyPr/>
          <a:lstStyle/>
          <a:p>
            <a:endParaRPr lang="en-ZA"/>
          </a:p>
        </p:txBody>
      </p:sp>
      <p:sp>
        <p:nvSpPr>
          <p:cNvPr id="11" name="Text 9"/>
          <p:cNvSpPr/>
          <p:nvPr/>
        </p:nvSpPr>
        <p:spPr>
          <a:xfrm>
            <a:off x="365760" y="1810512"/>
            <a:ext cx="3749040" cy="365760"/>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Set up for teleconferencing</a:t>
            </a:r>
            <a:endParaRPr lang="en-US" sz="1050" dirty="0"/>
          </a:p>
        </p:txBody>
      </p:sp>
      <p:sp>
        <p:nvSpPr>
          <p:cNvPr id="12" name="Shape 10"/>
          <p:cNvSpPr/>
          <p:nvPr/>
        </p:nvSpPr>
        <p:spPr>
          <a:xfrm>
            <a:off x="274320" y="2194560"/>
            <a:ext cx="3931920" cy="365760"/>
          </a:xfrm>
          <a:prstGeom prst="rect">
            <a:avLst/>
          </a:prstGeom>
          <a:solidFill>
            <a:srgbClr val="E8F0F8"/>
          </a:solidFill>
          <a:ln w="12700">
            <a:solidFill>
              <a:srgbClr val="CCDDEE"/>
            </a:solidFill>
            <a:prstDash val="solid"/>
          </a:ln>
        </p:spPr>
        <p:txBody>
          <a:bodyPr/>
          <a:lstStyle/>
          <a:p>
            <a:endParaRPr lang="en-ZA"/>
          </a:p>
        </p:txBody>
      </p:sp>
      <p:sp>
        <p:nvSpPr>
          <p:cNvPr id="13" name="Text 11"/>
          <p:cNvSpPr/>
          <p:nvPr/>
        </p:nvSpPr>
        <p:spPr>
          <a:xfrm>
            <a:off x="365760" y="2194560"/>
            <a:ext cx="3749040" cy="365760"/>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2 wired Ethernet ports for hardware</a:t>
            </a:r>
            <a:endParaRPr lang="en-US" sz="1050" dirty="0"/>
          </a:p>
        </p:txBody>
      </p:sp>
      <p:sp>
        <p:nvSpPr>
          <p:cNvPr id="14" name="Shape 12"/>
          <p:cNvSpPr/>
          <p:nvPr/>
        </p:nvSpPr>
        <p:spPr>
          <a:xfrm>
            <a:off x="274320" y="2578608"/>
            <a:ext cx="3931920" cy="365760"/>
          </a:xfrm>
          <a:prstGeom prst="rect">
            <a:avLst/>
          </a:prstGeom>
          <a:solidFill>
            <a:srgbClr val="FFFFFF"/>
          </a:solidFill>
          <a:ln w="12700">
            <a:solidFill>
              <a:srgbClr val="CCDDEE"/>
            </a:solidFill>
            <a:prstDash val="solid"/>
          </a:ln>
        </p:spPr>
        <p:txBody>
          <a:bodyPr/>
          <a:lstStyle/>
          <a:p>
            <a:endParaRPr lang="en-ZA"/>
          </a:p>
        </p:txBody>
      </p:sp>
      <p:sp>
        <p:nvSpPr>
          <p:cNvPr id="15" name="Text 13"/>
          <p:cNvSpPr/>
          <p:nvPr/>
        </p:nvSpPr>
        <p:spPr>
          <a:xfrm>
            <a:off x="365760" y="2578608"/>
            <a:ext cx="3749040" cy="365760"/>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WiFi: up to 30 staff x 4 devices = 120</a:t>
            </a:r>
            <a:endParaRPr lang="en-US" sz="1050" dirty="0"/>
          </a:p>
        </p:txBody>
      </p:sp>
      <p:sp>
        <p:nvSpPr>
          <p:cNvPr id="16" name="Shape 14"/>
          <p:cNvSpPr/>
          <p:nvPr/>
        </p:nvSpPr>
        <p:spPr>
          <a:xfrm>
            <a:off x="274320" y="2962656"/>
            <a:ext cx="3931920" cy="365760"/>
          </a:xfrm>
          <a:prstGeom prst="rect">
            <a:avLst/>
          </a:prstGeom>
          <a:solidFill>
            <a:srgbClr val="E8F0F8"/>
          </a:solidFill>
          <a:ln w="12700">
            <a:solidFill>
              <a:srgbClr val="CCDDEE"/>
            </a:solidFill>
            <a:prstDash val="solid"/>
          </a:ln>
        </p:spPr>
        <p:txBody>
          <a:bodyPr/>
          <a:lstStyle/>
          <a:p>
            <a:endParaRPr lang="en-ZA"/>
          </a:p>
        </p:txBody>
      </p:sp>
      <p:sp>
        <p:nvSpPr>
          <p:cNvPr id="17" name="Text 15"/>
          <p:cNvSpPr/>
          <p:nvPr/>
        </p:nvSpPr>
        <p:spPr>
          <a:xfrm>
            <a:off x="365760" y="2962656"/>
            <a:ext cx="3749040" cy="365760"/>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Staff WiFi devices treated as untrusted</a:t>
            </a:r>
            <a:endParaRPr lang="en-US" sz="1050" dirty="0"/>
          </a:p>
        </p:txBody>
      </p:sp>
      <p:sp>
        <p:nvSpPr>
          <p:cNvPr id="18" name="Shape 16"/>
          <p:cNvSpPr/>
          <p:nvPr/>
        </p:nvSpPr>
        <p:spPr>
          <a:xfrm>
            <a:off x="274320" y="3346704"/>
            <a:ext cx="3931920" cy="365760"/>
          </a:xfrm>
          <a:prstGeom prst="rect">
            <a:avLst/>
          </a:prstGeom>
          <a:solidFill>
            <a:srgbClr val="FFFFFF"/>
          </a:solidFill>
          <a:ln w="12700">
            <a:solidFill>
              <a:srgbClr val="CCDDEE"/>
            </a:solidFill>
            <a:prstDash val="solid"/>
          </a:ln>
        </p:spPr>
        <p:txBody>
          <a:bodyPr/>
          <a:lstStyle/>
          <a:p>
            <a:endParaRPr lang="en-ZA"/>
          </a:p>
        </p:txBody>
      </p:sp>
      <p:sp>
        <p:nvSpPr>
          <p:cNvPr id="19" name="Text 17"/>
          <p:cNvSpPr/>
          <p:nvPr/>
        </p:nvSpPr>
        <p:spPr>
          <a:xfrm>
            <a:off x="365760" y="3346704"/>
            <a:ext cx="3749040" cy="365760"/>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Isolated from all other sections</a:t>
            </a:r>
            <a:endParaRPr lang="en-US" sz="1050" dirty="0"/>
          </a:p>
        </p:txBody>
      </p:sp>
      <p:sp>
        <p:nvSpPr>
          <p:cNvPr id="20" name="Shape 18"/>
          <p:cNvSpPr/>
          <p:nvPr/>
        </p:nvSpPr>
        <p:spPr>
          <a:xfrm>
            <a:off x="274320" y="3730752"/>
            <a:ext cx="3931920" cy="365760"/>
          </a:xfrm>
          <a:prstGeom prst="rect">
            <a:avLst/>
          </a:prstGeom>
          <a:solidFill>
            <a:srgbClr val="E8F0F8"/>
          </a:solidFill>
          <a:ln w="12700">
            <a:solidFill>
              <a:srgbClr val="CCDDEE"/>
            </a:solidFill>
            <a:prstDash val="solid"/>
          </a:ln>
        </p:spPr>
        <p:txBody>
          <a:bodyPr/>
          <a:lstStyle/>
          <a:p>
            <a:endParaRPr lang="en-ZA"/>
          </a:p>
        </p:txBody>
      </p:sp>
      <p:sp>
        <p:nvSpPr>
          <p:cNvPr id="21" name="Text 19"/>
          <p:cNvSpPr/>
          <p:nvPr/>
        </p:nvSpPr>
        <p:spPr>
          <a:xfrm>
            <a:off x="365760" y="3730752"/>
            <a:ext cx="3749040" cy="365760"/>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No printer — teleconferencing space</a:t>
            </a:r>
            <a:endParaRPr lang="en-US" sz="1050" dirty="0"/>
          </a:p>
        </p:txBody>
      </p:sp>
      <p:sp>
        <p:nvSpPr>
          <p:cNvPr id="22" name="Shape 20"/>
          <p:cNvSpPr/>
          <p:nvPr/>
        </p:nvSpPr>
        <p:spPr>
          <a:xfrm>
            <a:off x="4480560" y="1051560"/>
            <a:ext cx="4389120" cy="347472"/>
          </a:xfrm>
          <a:prstGeom prst="rect">
            <a:avLst/>
          </a:prstGeom>
          <a:solidFill>
            <a:srgbClr val="2D6A4F"/>
          </a:solidFill>
          <a:ln w="12700">
            <a:solidFill>
              <a:srgbClr val="2D6A4F"/>
            </a:solidFill>
            <a:prstDash val="solid"/>
          </a:ln>
        </p:spPr>
        <p:txBody>
          <a:bodyPr/>
          <a:lstStyle/>
          <a:p>
            <a:endParaRPr lang="en-ZA"/>
          </a:p>
        </p:txBody>
      </p:sp>
      <p:sp>
        <p:nvSpPr>
          <p:cNvPr id="23" name="Text 21"/>
          <p:cNvSpPr/>
          <p:nvPr/>
        </p:nvSpPr>
        <p:spPr>
          <a:xfrm>
            <a:off x="4480560" y="1051560"/>
            <a:ext cx="4389120" cy="347472"/>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Packet Tracer Devices</a:t>
            </a:r>
            <a:endParaRPr lang="en-US" sz="1200" dirty="0"/>
          </a:p>
        </p:txBody>
      </p:sp>
      <p:sp>
        <p:nvSpPr>
          <p:cNvPr id="24" name="Shape 22"/>
          <p:cNvSpPr/>
          <p:nvPr/>
        </p:nvSpPr>
        <p:spPr>
          <a:xfrm>
            <a:off x="4480560" y="1426464"/>
            <a:ext cx="4389120" cy="365760"/>
          </a:xfrm>
          <a:prstGeom prst="rect">
            <a:avLst/>
          </a:prstGeom>
          <a:solidFill>
            <a:srgbClr val="F0FFF4"/>
          </a:solidFill>
          <a:ln w="12700">
            <a:solidFill>
              <a:srgbClr val="AADDBB"/>
            </a:solidFill>
            <a:prstDash val="solid"/>
          </a:ln>
        </p:spPr>
        <p:txBody>
          <a:bodyPr/>
          <a:lstStyle/>
          <a:p>
            <a:endParaRPr lang="en-ZA"/>
          </a:p>
        </p:txBody>
      </p:sp>
      <p:sp>
        <p:nvSpPr>
          <p:cNvPr id="25" name="Text 23"/>
          <p:cNvSpPr/>
          <p:nvPr/>
        </p:nvSpPr>
        <p:spPr>
          <a:xfrm>
            <a:off x="4572000" y="1426464"/>
            <a:ext cx="4206240" cy="365760"/>
          </a:xfrm>
          <a:prstGeom prst="rect">
            <a:avLst/>
          </a:prstGeom>
          <a:noFill/>
          <a:ln/>
        </p:spPr>
        <p:txBody>
          <a:bodyPr wrap="square" rtlCol="0" anchor="ctr"/>
          <a:lstStyle/>
          <a:p>
            <a:pPr marL="0" indent="0">
              <a:buNone/>
            </a:pPr>
            <a:r>
              <a:rPr lang="en-US" sz="1050" b="1" dirty="0">
                <a:solidFill>
                  <a:srgbClr val="2D6A4F"/>
                </a:solidFill>
                <a:latin typeface="Calibri" pitchFamily="34" charset="0"/>
                <a:ea typeface="Calibri" pitchFamily="34" charset="-122"/>
                <a:cs typeface="Calibri" pitchFamily="34" charset="-120"/>
              </a:rPr>
              <a:t>Switch-PT: </a:t>
            </a:r>
            <a:r>
              <a:rPr lang="en-US" sz="1050" dirty="0">
                <a:solidFill>
                  <a:srgbClr val="1A1A2E"/>
                </a:solidFill>
                <a:latin typeface="Calibri" pitchFamily="34" charset="0"/>
                <a:ea typeface="Calibri" pitchFamily="34" charset="-122"/>
                <a:cs typeface="Calibri" pitchFamily="34" charset="-120"/>
              </a:rPr>
              <a:t>Small switch (&lt;8 ports) in room</a:t>
            </a:r>
            <a:endParaRPr lang="en-US" sz="1050" dirty="0"/>
          </a:p>
        </p:txBody>
      </p:sp>
      <p:sp>
        <p:nvSpPr>
          <p:cNvPr id="26" name="Shape 24"/>
          <p:cNvSpPr/>
          <p:nvPr/>
        </p:nvSpPr>
        <p:spPr>
          <a:xfrm>
            <a:off x="4480560" y="1810512"/>
            <a:ext cx="4389120" cy="365760"/>
          </a:xfrm>
          <a:prstGeom prst="rect">
            <a:avLst/>
          </a:prstGeom>
          <a:solidFill>
            <a:srgbClr val="FFFFFF"/>
          </a:solidFill>
          <a:ln w="12700">
            <a:solidFill>
              <a:srgbClr val="AADDBB"/>
            </a:solidFill>
            <a:prstDash val="solid"/>
          </a:ln>
        </p:spPr>
        <p:txBody>
          <a:bodyPr/>
          <a:lstStyle/>
          <a:p>
            <a:endParaRPr lang="en-ZA"/>
          </a:p>
        </p:txBody>
      </p:sp>
      <p:sp>
        <p:nvSpPr>
          <p:cNvPr id="27" name="Text 25"/>
          <p:cNvSpPr/>
          <p:nvPr/>
        </p:nvSpPr>
        <p:spPr>
          <a:xfrm>
            <a:off x="4572000" y="1810512"/>
            <a:ext cx="4206240" cy="365760"/>
          </a:xfrm>
          <a:prstGeom prst="rect">
            <a:avLst/>
          </a:prstGeom>
          <a:noFill/>
          <a:ln/>
        </p:spPr>
        <p:txBody>
          <a:bodyPr wrap="square" rtlCol="0" anchor="ctr"/>
          <a:lstStyle/>
          <a:p>
            <a:pPr marL="0" indent="0">
              <a:buNone/>
            </a:pPr>
            <a:r>
              <a:rPr lang="en-US" sz="1050" b="1" dirty="0">
                <a:solidFill>
                  <a:srgbClr val="2D6A4F"/>
                </a:solidFill>
                <a:latin typeface="Calibri" pitchFamily="34" charset="0"/>
                <a:ea typeface="Calibri" pitchFamily="34" charset="-122"/>
                <a:cs typeface="Calibri" pitchFamily="34" charset="-120"/>
              </a:rPr>
              <a:t>PC-PT x2: </a:t>
            </a:r>
            <a:r>
              <a:rPr lang="en-US" sz="1050" dirty="0">
                <a:solidFill>
                  <a:srgbClr val="1A1A2E"/>
                </a:solidFill>
                <a:latin typeface="Calibri" pitchFamily="34" charset="0"/>
                <a:ea typeface="Calibri" pitchFamily="34" charset="-122"/>
                <a:cs typeface="Calibri" pitchFamily="34" charset="-120"/>
              </a:rPr>
              <a:t>TeleconfPC1 and TeleconfPC2</a:t>
            </a:r>
            <a:endParaRPr lang="en-US" sz="1050" dirty="0"/>
          </a:p>
        </p:txBody>
      </p:sp>
      <p:sp>
        <p:nvSpPr>
          <p:cNvPr id="28" name="Shape 26"/>
          <p:cNvSpPr/>
          <p:nvPr/>
        </p:nvSpPr>
        <p:spPr>
          <a:xfrm>
            <a:off x="4480560" y="2194560"/>
            <a:ext cx="4389120" cy="365760"/>
          </a:xfrm>
          <a:prstGeom prst="rect">
            <a:avLst/>
          </a:prstGeom>
          <a:solidFill>
            <a:srgbClr val="F0FFF4"/>
          </a:solidFill>
          <a:ln w="12700">
            <a:solidFill>
              <a:srgbClr val="AADDBB"/>
            </a:solidFill>
            <a:prstDash val="solid"/>
          </a:ln>
        </p:spPr>
        <p:txBody>
          <a:bodyPr/>
          <a:lstStyle/>
          <a:p>
            <a:endParaRPr lang="en-ZA"/>
          </a:p>
        </p:txBody>
      </p:sp>
      <p:sp>
        <p:nvSpPr>
          <p:cNvPr id="29" name="Text 27"/>
          <p:cNvSpPr/>
          <p:nvPr/>
        </p:nvSpPr>
        <p:spPr>
          <a:xfrm>
            <a:off x="4572000" y="2194560"/>
            <a:ext cx="4206240" cy="365760"/>
          </a:xfrm>
          <a:prstGeom prst="rect">
            <a:avLst/>
          </a:prstGeom>
          <a:noFill/>
          <a:ln/>
        </p:spPr>
        <p:txBody>
          <a:bodyPr wrap="square" rtlCol="0" anchor="ctr"/>
          <a:lstStyle/>
          <a:p>
            <a:pPr marL="0" indent="0">
              <a:buNone/>
            </a:pPr>
            <a:r>
              <a:rPr lang="en-US" sz="1050" b="1" dirty="0">
                <a:solidFill>
                  <a:srgbClr val="2D6A4F"/>
                </a:solidFill>
                <a:latin typeface="Calibri" pitchFamily="34" charset="0"/>
                <a:ea typeface="Calibri" pitchFamily="34" charset="-122"/>
                <a:cs typeface="Calibri" pitchFamily="34" charset="-120"/>
              </a:rPr>
              <a:t>AccessPoint-PT: </a:t>
            </a:r>
            <a:r>
              <a:rPr lang="en-US" sz="1050" dirty="0">
                <a:solidFill>
                  <a:srgbClr val="1A1A2E"/>
                </a:solidFill>
                <a:latin typeface="Calibri" pitchFamily="34" charset="0"/>
                <a:ea typeface="Calibri" pitchFamily="34" charset="-122"/>
                <a:cs typeface="Calibri" pitchFamily="34" charset="-120"/>
              </a:rPr>
              <a:t>Staff WiFi (SSID: MeetingRoom)</a:t>
            </a:r>
            <a:endParaRPr lang="en-US" sz="1050" dirty="0"/>
          </a:p>
        </p:txBody>
      </p:sp>
      <p:sp>
        <p:nvSpPr>
          <p:cNvPr id="30" name="Shape 28"/>
          <p:cNvSpPr/>
          <p:nvPr/>
        </p:nvSpPr>
        <p:spPr>
          <a:xfrm>
            <a:off x="4480560" y="2578608"/>
            <a:ext cx="4389120" cy="365760"/>
          </a:xfrm>
          <a:prstGeom prst="rect">
            <a:avLst/>
          </a:prstGeom>
          <a:solidFill>
            <a:srgbClr val="FFFFFF"/>
          </a:solidFill>
          <a:ln w="12700">
            <a:solidFill>
              <a:srgbClr val="AADDBB"/>
            </a:solidFill>
            <a:prstDash val="solid"/>
          </a:ln>
        </p:spPr>
        <p:txBody>
          <a:bodyPr/>
          <a:lstStyle/>
          <a:p>
            <a:endParaRPr lang="en-ZA"/>
          </a:p>
        </p:txBody>
      </p:sp>
      <p:sp>
        <p:nvSpPr>
          <p:cNvPr id="31" name="Text 29"/>
          <p:cNvSpPr/>
          <p:nvPr/>
        </p:nvSpPr>
        <p:spPr>
          <a:xfrm>
            <a:off x="4572000" y="2578608"/>
            <a:ext cx="4206240" cy="365760"/>
          </a:xfrm>
          <a:prstGeom prst="rect">
            <a:avLst/>
          </a:prstGeom>
          <a:noFill/>
          <a:ln/>
        </p:spPr>
        <p:txBody>
          <a:bodyPr wrap="square" rtlCol="0" anchor="ctr"/>
          <a:lstStyle/>
          <a:p>
            <a:pPr marL="0" indent="0">
              <a:buNone/>
            </a:pPr>
            <a:r>
              <a:rPr lang="en-US" sz="1050" b="1" dirty="0">
                <a:solidFill>
                  <a:srgbClr val="2D6A4F"/>
                </a:solidFill>
                <a:latin typeface="Calibri" pitchFamily="34" charset="0"/>
                <a:ea typeface="Calibri" pitchFamily="34" charset="-122"/>
                <a:cs typeface="Calibri" pitchFamily="34" charset="-120"/>
              </a:rPr>
              <a:t>Laptop-PT: </a:t>
            </a:r>
            <a:r>
              <a:rPr lang="en-US" sz="1050" dirty="0">
                <a:solidFill>
                  <a:srgbClr val="1A1A2E"/>
                </a:solidFill>
                <a:latin typeface="Calibri" pitchFamily="34" charset="0"/>
                <a:ea typeface="Calibri" pitchFamily="34" charset="-122"/>
                <a:cs typeface="Calibri" pitchFamily="34" charset="-120"/>
              </a:rPr>
              <a:t>Staff wireless device for testing</a:t>
            </a:r>
            <a:endParaRPr lang="en-US" sz="1050" dirty="0"/>
          </a:p>
        </p:txBody>
      </p:sp>
      <p:sp>
        <p:nvSpPr>
          <p:cNvPr id="32" name="Shape 30"/>
          <p:cNvSpPr/>
          <p:nvPr/>
        </p:nvSpPr>
        <p:spPr>
          <a:xfrm>
            <a:off x="0" y="4937760"/>
            <a:ext cx="9144000" cy="457200"/>
          </a:xfrm>
          <a:prstGeom prst="rect">
            <a:avLst/>
          </a:prstGeom>
          <a:solidFill>
            <a:srgbClr val="1E3A5F"/>
          </a:solidFill>
          <a:ln w="12700">
            <a:solidFill>
              <a:srgbClr val="1E3A5F"/>
            </a:solidFill>
            <a:prstDash val="solid"/>
          </a:ln>
        </p:spPr>
        <p:txBody>
          <a:bodyPr/>
          <a:lstStyle/>
          <a:p>
            <a:endParaRPr lang="en-ZA"/>
          </a:p>
        </p:txBody>
      </p:sp>
      <p:sp>
        <p:nvSpPr>
          <p:cNvPr id="33" name="Text 31"/>
          <p:cNvSpPr/>
          <p:nvPr/>
        </p:nvSpPr>
        <p:spPr>
          <a:xfrm>
            <a:off x="274320" y="4937760"/>
            <a:ext cx="8595360" cy="457200"/>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Subnet: 192.168.50.0/24  |  Gateway: 192.168.50.1  |  Connects to Dist-Switch-2  |  Static IPs for PCs  |  DHCP for WiFi  |  ACL isolation confirmed</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DDE5CDF-1512-4CDA-B956-23D223F8DE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514607"/>
            <a:ext cx="9144000" cy="3079455"/>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10" name="Picture 9">
            <a:extLst>
              <a:ext uri="{FF2B5EF4-FFF2-40B4-BE49-F238E27FC236}">
                <a16:creationId xmlns:a16="http://schemas.microsoft.com/office/drawing/2014/main" id="{B029D7D8-5A6B-4C76-94C8-15798C6C5AD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bwMode="black">
          <a:xfrm>
            <a:off x="0" y="4594860"/>
            <a:ext cx="9144000" cy="557212"/>
          </a:xfrm>
          <a:prstGeom prst="rect">
            <a:avLst/>
          </a:prstGeom>
        </p:spPr>
      </p:pic>
      <p:cxnSp>
        <p:nvCxnSpPr>
          <p:cNvPr id="12" name="Straight Connector 11">
            <a:extLst>
              <a:ext uri="{FF2B5EF4-FFF2-40B4-BE49-F238E27FC236}">
                <a16:creationId xmlns:a16="http://schemas.microsoft.com/office/drawing/2014/main" id="{A5C9319C-E20D-4884-952F-60B6A58C3E3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4596309"/>
            <a:ext cx="9144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 useBgFill="1">
        <p:nvSpPr>
          <p:cNvPr id="14" name="Rectangle 13">
            <a:extLst>
              <a:ext uri="{FF2B5EF4-FFF2-40B4-BE49-F238E27FC236}">
                <a16:creationId xmlns:a16="http://schemas.microsoft.com/office/drawing/2014/main" id="{62C9703D-C8F9-44AD-A7C0-C2F3871F8C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462012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8A8529AC-6147-81D5-3EB1-D0C77016CFBD}"/>
              </a:ext>
            </a:extLst>
          </p:cNvPr>
          <p:cNvPicPr>
            <a:picLocks noChangeAspect="1"/>
          </p:cNvPicPr>
          <p:nvPr/>
        </p:nvPicPr>
        <p:blipFill>
          <a:blip r:embed="rId3"/>
          <a:stretch>
            <a:fillRect/>
          </a:stretch>
        </p:blipFill>
        <p:spPr>
          <a:xfrm>
            <a:off x="1386840" y="482600"/>
            <a:ext cx="6057900" cy="3982720"/>
          </a:xfrm>
          <a:prstGeom prst="rect">
            <a:avLst/>
          </a:prstGeom>
        </p:spPr>
      </p:pic>
    </p:spTree>
    <p:extLst>
      <p:ext uri="{BB962C8B-B14F-4D97-AF65-F5344CB8AC3E}">
        <p14:creationId xmlns:p14="http://schemas.microsoft.com/office/powerpoint/2010/main" val="41299692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E3A5F"/>
          </a:solidFill>
          <a:ln w="12700">
            <a:solidFill>
              <a:srgbClr val="1E3A5F"/>
            </a:solidFill>
            <a:prstDash val="solid"/>
          </a:ln>
        </p:spPr>
        <p:txBody>
          <a:bodyPr/>
          <a:lstStyle/>
          <a:p>
            <a:endParaRPr lang="en-ZA"/>
          </a:p>
        </p:txBody>
      </p:sp>
      <p:sp>
        <p:nvSpPr>
          <p:cNvPr id="3" name="Text 1"/>
          <p:cNvSpPr/>
          <p:nvPr/>
        </p:nvSpPr>
        <p:spPr>
          <a:xfrm>
            <a:off x="365760" y="0"/>
            <a:ext cx="6400800" cy="100584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Open Floor Space</a:t>
            </a:r>
            <a:endParaRPr lang="en-US" sz="2600" dirty="0"/>
          </a:p>
        </p:txBody>
      </p:sp>
      <p:sp>
        <p:nvSpPr>
          <p:cNvPr id="4" name="Shape 2"/>
          <p:cNvSpPr/>
          <p:nvPr/>
        </p:nvSpPr>
        <p:spPr>
          <a:xfrm>
            <a:off x="6858000" y="182880"/>
            <a:ext cx="2011680" cy="640080"/>
          </a:xfrm>
          <a:prstGeom prst="rect">
            <a:avLst/>
          </a:prstGeom>
          <a:solidFill>
            <a:srgbClr val="2E75B6"/>
          </a:solidFill>
          <a:ln w="12700">
            <a:solidFill>
              <a:srgbClr val="2E75B6"/>
            </a:solidFill>
            <a:prstDash val="solid"/>
          </a:ln>
        </p:spPr>
        <p:txBody>
          <a:bodyPr/>
          <a:lstStyle/>
          <a:p>
            <a:endParaRPr lang="en-ZA"/>
          </a:p>
        </p:txBody>
      </p:sp>
      <p:sp>
        <p:nvSpPr>
          <p:cNvPr id="5" name="Text 3"/>
          <p:cNvSpPr/>
          <p:nvPr/>
        </p:nvSpPr>
        <p:spPr>
          <a:xfrm>
            <a:off x="6858000" y="182880"/>
            <a:ext cx="2011680" cy="6400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VLAN 60</a:t>
            </a:r>
            <a:endParaRPr lang="en-US" sz="1100" dirty="0"/>
          </a:p>
        </p:txBody>
      </p:sp>
      <p:sp>
        <p:nvSpPr>
          <p:cNvPr id="6" name="Shape 4"/>
          <p:cNvSpPr/>
          <p:nvPr/>
        </p:nvSpPr>
        <p:spPr>
          <a:xfrm>
            <a:off x="274320" y="1051560"/>
            <a:ext cx="3931920" cy="347472"/>
          </a:xfrm>
          <a:prstGeom prst="rect">
            <a:avLst/>
          </a:prstGeom>
          <a:solidFill>
            <a:srgbClr val="2E75B6"/>
          </a:solidFill>
          <a:ln w="12700">
            <a:solidFill>
              <a:srgbClr val="2E75B6"/>
            </a:solidFill>
            <a:prstDash val="solid"/>
          </a:ln>
        </p:spPr>
        <p:txBody>
          <a:bodyPr/>
          <a:lstStyle/>
          <a:p>
            <a:endParaRPr lang="en-ZA"/>
          </a:p>
        </p:txBody>
      </p:sp>
      <p:sp>
        <p:nvSpPr>
          <p:cNvPr id="7" name="Text 5"/>
          <p:cNvSpPr/>
          <p:nvPr/>
        </p:nvSpPr>
        <p:spPr>
          <a:xfrm>
            <a:off x="274320" y="1051560"/>
            <a:ext cx="3931920" cy="347472"/>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Requirements</a:t>
            </a:r>
            <a:endParaRPr lang="en-US" sz="1200" dirty="0"/>
          </a:p>
        </p:txBody>
      </p:sp>
      <p:sp>
        <p:nvSpPr>
          <p:cNvPr id="8" name="Shape 6"/>
          <p:cNvSpPr/>
          <p:nvPr/>
        </p:nvSpPr>
        <p:spPr>
          <a:xfrm>
            <a:off x="274320" y="1426464"/>
            <a:ext cx="3931920" cy="365760"/>
          </a:xfrm>
          <a:prstGeom prst="rect">
            <a:avLst/>
          </a:prstGeom>
          <a:solidFill>
            <a:srgbClr val="E8F0F8"/>
          </a:solidFill>
          <a:ln w="12700">
            <a:solidFill>
              <a:srgbClr val="CCDDEE"/>
            </a:solidFill>
            <a:prstDash val="solid"/>
          </a:ln>
        </p:spPr>
        <p:txBody>
          <a:bodyPr/>
          <a:lstStyle/>
          <a:p>
            <a:endParaRPr lang="en-ZA"/>
          </a:p>
        </p:txBody>
      </p:sp>
      <p:sp>
        <p:nvSpPr>
          <p:cNvPr id="9" name="Text 7"/>
          <p:cNvSpPr/>
          <p:nvPr/>
        </p:nvSpPr>
        <p:spPr>
          <a:xfrm>
            <a:off x="365760" y="1426464"/>
            <a:ext cx="3749040" cy="365760"/>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75 to 120 staff members</a:t>
            </a:r>
            <a:endParaRPr lang="en-US" sz="1050" dirty="0"/>
          </a:p>
        </p:txBody>
      </p:sp>
      <p:sp>
        <p:nvSpPr>
          <p:cNvPr id="10" name="Shape 8"/>
          <p:cNvSpPr/>
          <p:nvPr/>
        </p:nvSpPr>
        <p:spPr>
          <a:xfrm>
            <a:off x="274320" y="1810512"/>
            <a:ext cx="3931920" cy="365760"/>
          </a:xfrm>
          <a:prstGeom prst="rect">
            <a:avLst/>
          </a:prstGeom>
          <a:solidFill>
            <a:srgbClr val="FFFFFF"/>
          </a:solidFill>
          <a:ln w="12700">
            <a:solidFill>
              <a:srgbClr val="CCDDEE"/>
            </a:solidFill>
            <a:prstDash val="solid"/>
          </a:ln>
        </p:spPr>
        <p:txBody>
          <a:bodyPr/>
          <a:lstStyle/>
          <a:p>
            <a:endParaRPr lang="en-ZA"/>
          </a:p>
        </p:txBody>
      </p:sp>
      <p:sp>
        <p:nvSpPr>
          <p:cNvPr id="11" name="Text 9"/>
          <p:cNvSpPr/>
          <p:nvPr/>
        </p:nvSpPr>
        <p:spPr>
          <a:xfrm>
            <a:off x="365760" y="1810512"/>
            <a:ext cx="3749040" cy="365760"/>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100 wired network points required</a:t>
            </a:r>
            <a:endParaRPr lang="en-US" sz="1050" dirty="0"/>
          </a:p>
        </p:txBody>
      </p:sp>
      <p:sp>
        <p:nvSpPr>
          <p:cNvPr id="12" name="Shape 10"/>
          <p:cNvSpPr/>
          <p:nvPr/>
        </p:nvSpPr>
        <p:spPr>
          <a:xfrm>
            <a:off x="274320" y="2194560"/>
            <a:ext cx="3931920" cy="365760"/>
          </a:xfrm>
          <a:prstGeom prst="rect">
            <a:avLst/>
          </a:prstGeom>
          <a:solidFill>
            <a:srgbClr val="E8F0F8"/>
          </a:solidFill>
          <a:ln w="12700">
            <a:solidFill>
              <a:srgbClr val="CCDDEE"/>
            </a:solidFill>
            <a:prstDash val="solid"/>
          </a:ln>
        </p:spPr>
        <p:txBody>
          <a:bodyPr/>
          <a:lstStyle/>
          <a:p>
            <a:endParaRPr lang="en-ZA"/>
          </a:p>
        </p:txBody>
      </p:sp>
      <p:sp>
        <p:nvSpPr>
          <p:cNvPr id="13" name="Text 11"/>
          <p:cNvSpPr/>
          <p:nvPr/>
        </p:nvSpPr>
        <p:spPr>
          <a:xfrm>
            <a:off x="365760" y="2194560"/>
            <a:ext cx="3749040" cy="365760"/>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/23 subnet — supports up to 510 devices</a:t>
            </a:r>
            <a:endParaRPr lang="en-US" sz="1050" dirty="0"/>
          </a:p>
        </p:txBody>
      </p:sp>
      <p:sp>
        <p:nvSpPr>
          <p:cNvPr id="14" name="Shape 12"/>
          <p:cNvSpPr/>
          <p:nvPr/>
        </p:nvSpPr>
        <p:spPr>
          <a:xfrm>
            <a:off x="274320" y="2578608"/>
            <a:ext cx="3931920" cy="365760"/>
          </a:xfrm>
          <a:prstGeom prst="rect">
            <a:avLst/>
          </a:prstGeom>
          <a:solidFill>
            <a:srgbClr val="FFFFFF"/>
          </a:solidFill>
          <a:ln w="12700">
            <a:solidFill>
              <a:srgbClr val="CCDDEE"/>
            </a:solidFill>
            <a:prstDash val="solid"/>
          </a:ln>
        </p:spPr>
        <p:txBody>
          <a:bodyPr/>
          <a:lstStyle/>
          <a:p>
            <a:endParaRPr lang="en-ZA"/>
          </a:p>
        </p:txBody>
      </p:sp>
      <p:sp>
        <p:nvSpPr>
          <p:cNvPr id="15" name="Text 13"/>
          <p:cNvSpPr/>
          <p:nvPr/>
        </p:nvSpPr>
        <p:spPr>
          <a:xfrm>
            <a:off x="365760" y="2578608"/>
            <a:ext cx="3749040" cy="365760"/>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300 WiFi devices for staff</a:t>
            </a:r>
            <a:endParaRPr lang="en-US" sz="1050" dirty="0"/>
          </a:p>
        </p:txBody>
      </p:sp>
      <p:sp>
        <p:nvSpPr>
          <p:cNvPr id="16" name="Shape 14"/>
          <p:cNvSpPr/>
          <p:nvPr/>
        </p:nvSpPr>
        <p:spPr>
          <a:xfrm>
            <a:off x="274320" y="2962656"/>
            <a:ext cx="3931920" cy="365760"/>
          </a:xfrm>
          <a:prstGeom prst="rect">
            <a:avLst/>
          </a:prstGeom>
          <a:solidFill>
            <a:srgbClr val="E8F0F8"/>
          </a:solidFill>
          <a:ln w="12700">
            <a:solidFill>
              <a:srgbClr val="CCDDEE"/>
            </a:solidFill>
            <a:prstDash val="solid"/>
          </a:ln>
        </p:spPr>
        <p:txBody>
          <a:bodyPr/>
          <a:lstStyle/>
          <a:p>
            <a:endParaRPr lang="en-ZA"/>
          </a:p>
        </p:txBody>
      </p:sp>
      <p:sp>
        <p:nvSpPr>
          <p:cNvPr id="17" name="Text 15"/>
          <p:cNvSpPr/>
          <p:nvPr/>
        </p:nvSpPr>
        <p:spPr>
          <a:xfrm>
            <a:off x="365760" y="2962656"/>
            <a:ext cx="3749040" cy="365760"/>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Raised floor for cable management</a:t>
            </a:r>
            <a:endParaRPr lang="en-US" sz="1050" dirty="0"/>
          </a:p>
        </p:txBody>
      </p:sp>
      <p:sp>
        <p:nvSpPr>
          <p:cNvPr id="18" name="Shape 16"/>
          <p:cNvSpPr/>
          <p:nvPr/>
        </p:nvSpPr>
        <p:spPr>
          <a:xfrm>
            <a:off x="274320" y="3346704"/>
            <a:ext cx="3931920" cy="365760"/>
          </a:xfrm>
          <a:prstGeom prst="rect">
            <a:avLst/>
          </a:prstGeom>
          <a:solidFill>
            <a:srgbClr val="FFFFFF"/>
          </a:solidFill>
          <a:ln w="12700">
            <a:solidFill>
              <a:srgbClr val="CCDDEE"/>
            </a:solidFill>
            <a:prstDash val="solid"/>
          </a:ln>
        </p:spPr>
        <p:txBody>
          <a:bodyPr/>
          <a:lstStyle/>
          <a:p>
            <a:endParaRPr lang="en-ZA"/>
          </a:p>
        </p:txBody>
      </p:sp>
      <p:sp>
        <p:nvSpPr>
          <p:cNvPr id="19" name="Text 17"/>
          <p:cNvSpPr/>
          <p:nvPr/>
        </p:nvSpPr>
        <p:spPr>
          <a:xfrm>
            <a:off x="365760" y="3346704"/>
            <a:ext cx="3749040" cy="365760"/>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Isolated from all other sections</a:t>
            </a:r>
            <a:endParaRPr lang="en-US" sz="1050" dirty="0"/>
          </a:p>
        </p:txBody>
      </p:sp>
      <p:sp>
        <p:nvSpPr>
          <p:cNvPr id="20" name="Shape 18"/>
          <p:cNvSpPr/>
          <p:nvPr/>
        </p:nvSpPr>
        <p:spPr>
          <a:xfrm>
            <a:off x="274320" y="3730752"/>
            <a:ext cx="3931920" cy="365760"/>
          </a:xfrm>
          <a:prstGeom prst="rect">
            <a:avLst/>
          </a:prstGeom>
          <a:solidFill>
            <a:srgbClr val="E8F0F8"/>
          </a:solidFill>
          <a:ln w="12700">
            <a:solidFill>
              <a:srgbClr val="CCDDEE"/>
            </a:solidFill>
            <a:prstDash val="solid"/>
          </a:ln>
        </p:spPr>
        <p:txBody>
          <a:bodyPr/>
          <a:lstStyle/>
          <a:p>
            <a:endParaRPr lang="en-ZA"/>
          </a:p>
        </p:txBody>
      </p:sp>
      <p:sp>
        <p:nvSpPr>
          <p:cNvPr id="21" name="Text 19"/>
          <p:cNvSpPr/>
          <p:nvPr/>
        </p:nvSpPr>
        <p:spPr>
          <a:xfrm>
            <a:off x="365760" y="3730752"/>
            <a:ext cx="3749040" cy="365760"/>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Full internet access required</a:t>
            </a:r>
            <a:endParaRPr lang="en-US" sz="1050" dirty="0"/>
          </a:p>
        </p:txBody>
      </p:sp>
      <p:sp>
        <p:nvSpPr>
          <p:cNvPr id="22" name="Shape 20"/>
          <p:cNvSpPr/>
          <p:nvPr/>
        </p:nvSpPr>
        <p:spPr>
          <a:xfrm>
            <a:off x="4480560" y="1051560"/>
            <a:ext cx="4389120" cy="347472"/>
          </a:xfrm>
          <a:prstGeom prst="rect">
            <a:avLst/>
          </a:prstGeom>
          <a:solidFill>
            <a:srgbClr val="2D6A4F"/>
          </a:solidFill>
          <a:ln w="12700">
            <a:solidFill>
              <a:srgbClr val="2D6A4F"/>
            </a:solidFill>
            <a:prstDash val="solid"/>
          </a:ln>
        </p:spPr>
        <p:txBody>
          <a:bodyPr/>
          <a:lstStyle/>
          <a:p>
            <a:endParaRPr lang="en-ZA"/>
          </a:p>
        </p:txBody>
      </p:sp>
      <p:sp>
        <p:nvSpPr>
          <p:cNvPr id="23" name="Text 21"/>
          <p:cNvSpPr/>
          <p:nvPr/>
        </p:nvSpPr>
        <p:spPr>
          <a:xfrm>
            <a:off x="4480560" y="1051560"/>
            <a:ext cx="4389120" cy="347472"/>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Packet Tracer Devices</a:t>
            </a:r>
            <a:endParaRPr lang="en-US" sz="1200" dirty="0"/>
          </a:p>
        </p:txBody>
      </p:sp>
      <p:sp>
        <p:nvSpPr>
          <p:cNvPr id="24" name="Shape 22"/>
          <p:cNvSpPr/>
          <p:nvPr/>
        </p:nvSpPr>
        <p:spPr>
          <a:xfrm>
            <a:off x="4480560" y="1426464"/>
            <a:ext cx="4389120" cy="365760"/>
          </a:xfrm>
          <a:prstGeom prst="rect">
            <a:avLst/>
          </a:prstGeom>
          <a:solidFill>
            <a:srgbClr val="F0FFF4"/>
          </a:solidFill>
          <a:ln w="12700">
            <a:solidFill>
              <a:srgbClr val="AADDBB"/>
            </a:solidFill>
            <a:prstDash val="solid"/>
          </a:ln>
        </p:spPr>
        <p:txBody>
          <a:bodyPr/>
          <a:lstStyle/>
          <a:p>
            <a:endParaRPr lang="en-ZA"/>
          </a:p>
        </p:txBody>
      </p:sp>
      <p:sp>
        <p:nvSpPr>
          <p:cNvPr id="25" name="Text 23"/>
          <p:cNvSpPr/>
          <p:nvPr/>
        </p:nvSpPr>
        <p:spPr>
          <a:xfrm>
            <a:off x="4572000" y="1426464"/>
            <a:ext cx="4206240" cy="365760"/>
          </a:xfrm>
          <a:prstGeom prst="rect">
            <a:avLst/>
          </a:prstGeom>
          <a:noFill/>
          <a:ln/>
        </p:spPr>
        <p:txBody>
          <a:bodyPr wrap="square" rtlCol="0" anchor="ctr"/>
          <a:lstStyle/>
          <a:p>
            <a:pPr marL="0" indent="0">
              <a:buNone/>
            </a:pPr>
            <a:r>
              <a:rPr lang="en-US" sz="1050" b="1" dirty="0">
                <a:solidFill>
                  <a:srgbClr val="2D6A4F"/>
                </a:solidFill>
                <a:latin typeface="Calibri" pitchFamily="34" charset="0"/>
                <a:ea typeface="Calibri" pitchFamily="34" charset="-122"/>
                <a:cs typeface="Calibri" pitchFamily="34" charset="-120"/>
              </a:rPr>
              <a:t>Switch-PT x multiple: </a:t>
            </a:r>
            <a:r>
              <a:rPr lang="en-US" sz="1050" dirty="0">
                <a:solidFill>
                  <a:srgbClr val="1A1A2E"/>
                </a:solidFill>
                <a:latin typeface="Calibri" pitchFamily="34" charset="0"/>
                <a:ea typeface="Calibri" pitchFamily="34" charset="-122"/>
                <a:cs typeface="Calibri" pitchFamily="34" charset="-120"/>
              </a:rPr>
              <a:t>Multiple small switches for density</a:t>
            </a:r>
            <a:endParaRPr lang="en-US" sz="1050" dirty="0"/>
          </a:p>
        </p:txBody>
      </p:sp>
      <p:sp>
        <p:nvSpPr>
          <p:cNvPr id="26" name="Shape 24"/>
          <p:cNvSpPr/>
          <p:nvPr/>
        </p:nvSpPr>
        <p:spPr>
          <a:xfrm>
            <a:off x="4480560" y="1810512"/>
            <a:ext cx="4389120" cy="365760"/>
          </a:xfrm>
          <a:prstGeom prst="rect">
            <a:avLst/>
          </a:prstGeom>
          <a:solidFill>
            <a:srgbClr val="FFFFFF"/>
          </a:solidFill>
          <a:ln w="12700">
            <a:solidFill>
              <a:srgbClr val="AADDBB"/>
            </a:solidFill>
            <a:prstDash val="solid"/>
          </a:ln>
        </p:spPr>
        <p:txBody>
          <a:bodyPr/>
          <a:lstStyle/>
          <a:p>
            <a:endParaRPr lang="en-ZA"/>
          </a:p>
        </p:txBody>
      </p:sp>
      <p:sp>
        <p:nvSpPr>
          <p:cNvPr id="27" name="Text 25"/>
          <p:cNvSpPr/>
          <p:nvPr/>
        </p:nvSpPr>
        <p:spPr>
          <a:xfrm>
            <a:off x="4572000" y="1810512"/>
            <a:ext cx="4206240" cy="365760"/>
          </a:xfrm>
          <a:prstGeom prst="rect">
            <a:avLst/>
          </a:prstGeom>
          <a:noFill/>
          <a:ln/>
        </p:spPr>
        <p:txBody>
          <a:bodyPr wrap="square" rtlCol="0" anchor="ctr"/>
          <a:lstStyle/>
          <a:p>
            <a:pPr marL="0" indent="0">
              <a:buNone/>
            </a:pPr>
            <a:r>
              <a:rPr lang="en-US" sz="1050" b="1" dirty="0">
                <a:solidFill>
                  <a:srgbClr val="2D6A4F"/>
                </a:solidFill>
                <a:latin typeface="Calibri" pitchFamily="34" charset="0"/>
                <a:ea typeface="Calibri" pitchFamily="34" charset="-122"/>
                <a:cs typeface="Calibri" pitchFamily="34" charset="-120"/>
              </a:rPr>
              <a:t>PC-PT x100: </a:t>
            </a:r>
            <a:r>
              <a:rPr lang="en-US" sz="1050" dirty="0">
                <a:solidFill>
                  <a:srgbClr val="1A1A2E"/>
                </a:solidFill>
                <a:latin typeface="Calibri" pitchFamily="34" charset="0"/>
                <a:ea typeface="Calibri" pitchFamily="34" charset="-122"/>
                <a:cs typeface="Calibri" pitchFamily="34" charset="-120"/>
              </a:rPr>
              <a:t>100 wired staff workstations</a:t>
            </a:r>
            <a:endParaRPr lang="en-US" sz="1050" dirty="0"/>
          </a:p>
        </p:txBody>
      </p:sp>
      <p:sp>
        <p:nvSpPr>
          <p:cNvPr id="28" name="Shape 26"/>
          <p:cNvSpPr/>
          <p:nvPr/>
        </p:nvSpPr>
        <p:spPr>
          <a:xfrm>
            <a:off x="4480560" y="2194560"/>
            <a:ext cx="4389120" cy="365760"/>
          </a:xfrm>
          <a:prstGeom prst="rect">
            <a:avLst/>
          </a:prstGeom>
          <a:solidFill>
            <a:srgbClr val="F0FFF4"/>
          </a:solidFill>
          <a:ln w="12700">
            <a:solidFill>
              <a:srgbClr val="AADDBB"/>
            </a:solidFill>
            <a:prstDash val="solid"/>
          </a:ln>
        </p:spPr>
        <p:txBody>
          <a:bodyPr/>
          <a:lstStyle/>
          <a:p>
            <a:endParaRPr lang="en-ZA"/>
          </a:p>
        </p:txBody>
      </p:sp>
      <p:sp>
        <p:nvSpPr>
          <p:cNvPr id="29" name="Text 27"/>
          <p:cNvSpPr/>
          <p:nvPr/>
        </p:nvSpPr>
        <p:spPr>
          <a:xfrm>
            <a:off x="4572000" y="2194560"/>
            <a:ext cx="4206240" cy="365760"/>
          </a:xfrm>
          <a:prstGeom prst="rect">
            <a:avLst/>
          </a:prstGeom>
          <a:noFill/>
          <a:ln/>
        </p:spPr>
        <p:txBody>
          <a:bodyPr wrap="square" rtlCol="0" anchor="ctr"/>
          <a:lstStyle/>
          <a:p>
            <a:pPr marL="0" indent="0">
              <a:buNone/>
            </a:pPr>
            <a:r>
              <a:rPr lang="en-US" sz="1050" b="1" dirty="0">
                <a:solidFill>
                  <a:srgbClr val="2D6A4F"/>
                </a:solidFill>
                <a:latin typeface="Calibri" pitchFamily="34" charset="0"/>
                <a:ea typeface="Calibri" pitchFamily="34" charset="-122"/>
                <a:cs typeface="Calibri" pitchFamily="34" charset="-120"/>
              </a:rPr>
              <a:t>AccessPoint-PT: </a:t>
            </a:r>
            <a:r>
              <a:rPr lang="en-US" sz="1050" dirty="0">
                <a:solidFill>
                  <a:srgbClr val="1A1A2E"/>
                </a:solidFill>
                <a:latin typeface="Calibri" pitchFamily="34" charset="0"/>
                <a:ea typeface="Calibri" pitchFamily="34" charset="-122"/>
                <a:cs typeface="Calibri" pitchFamily="34" charset="-120"/>
              </a:rPr>
              <a:t>Multiple APs for coverage</a:t>
            </a:r>
            <a:endParaRPr lang="en-US" sz="1050" dirty="0"/>
          </a:p>
        </p:txBody>
      </p:sp>
      <p:sp>
        <p:nvSpPr>
          <p:cNvPr id="30" name="Shape 28"/>
          <p:cNvSpPr/>
          <p:nvPr/>
        </p:nvSpPr>
        <p:spPr>
          <a:xfrm>
            <a:off x="4480560" y="2578608"/>
            <a:ext cx="4389120" cy="365760"/>
          </a:xfrm>
          <a:prstGeom prst="rect">
            <a:avLst/>
          </a:prstGeom>
          <a:solidFill>
            <a:srgbClr val="FFFFFF"/>
          </a:solidFill>
          <a:ln w="12700">
            <a:solidFill>
              <a:srgbClr val="AADDBB"/>
            </a:solidFill>
            <a:prstDash val="solid"/>
          </a:ln>
        </p:spPr>
        <p:txBody>
          <a:bodyPr/>
          <a:lstStyle/>
          <a:p>
            <a:endParaRPr lang="en-ZA"/>
          </a:p>
        </p:txBody>
      </p:sp>
      <p:sp>
        <p:nvSpPr>
          <p:cNvPr id="31" name="Text 29"/>
          <p:cNvSpPr/>
          <p:nvPr/>
        </p:nvSpPr>
        <p:spPr>
          <a:xfrm>
            <a:off x="4572000" y="2578608"/>
            <a:ext cx="4206240" cy="365760"/>
          </a:xfrm>
          <a:prstGeom prst="rect">
            <a:avLst/>
          </a:prstGeom>
          <a:noFill/>
          <a:ln/>
        </p:spPr>
        <p:txBody>
          <a:bodyPr wrap="square" rtlCol="0" anchor="ctr"/>
          <a:lstStyle/>
          <a:p>
            <a:pPr marL="0" indent="0">
              <a:buNone/>
            </a:pPr>
            <a:r>
              <a:rPr lang="en-US" sz="1050" b="1" dirty="0">
                <a:solidFill>
                  <a:srgbClr val="2D6A4F"/>
                </a:solidFill>
                <a:latin typeface="Calibri" pitchFamily="34" charset="0"/>
                <a:ea typeface="Calibri" pitchFamily="34" charset="-122"/>
                <a:cs typeface="Calibri" pitchFamily="34" charset="-120"/>
              </a:rPr>
              <a:t>Laptop-PT: </a:t>
            </a:r>
            <a:r>
              <a:rPr lang="en-US" sz="1050" dirty="0">
                <a:solidFill>
                  <a:srgbClr val="1A1A2E"/>
                </a:solidFill>
                <a:latin typeface="Calibri" pitchFamily="34" charset="0"/>
                <a:ea typeface="Calibri" pitchFamily="34" charset="-122"/>
                <a:cs typeface="Calibri" pitchFamily="34" charset="-120"/>
              </a:rPr>
              <a:t>Staff WiFi devices</a:t>
            </a:r>
            <a:endParaRPr lang="en-US" sz="1050" dirty="0"/>
          </a:p>
        </p:txBody>
      </p:sp>
      <p:sp>
        <p:nvSpPr>
          <p:cNvPr id="32" name="Shape 30"/>
          <p:cNvSpPr/>
          <p:nvPr/>
        </p:nvSpPr>
        <p:spPr>
          <a:xfrm>
            <a:off x="0" y="4937760"/>
            <a:ext cx="9144000" cy="457200"/>
          </a:xfrm>
          <a:prstGeom prst="rect">
            <a:avLst/>
          </a:prstGeom>
          <a:solidFill>
            <a:srgbClr val="1E3A5F"/>
          </a:solidFill>
          <a:ln w="12700">
            <a:solidFill>
              <a:srgbClr val="1E3A5F"/>
            </a:solidFill>
            <a:prstDash val="solid"/>
          </a:ln>
        </p:spPr>
        <p:txBody>
          <a:bodyPr/>
          <a:lstStyle/>
          <a:p>
            <a:endParaRPr lang="en-ZA"/>
          </a:p>
        </p:txBody>
      </p:sp>
      <p:sp>
        <p:nvSpPr>
          <p:cNvPr id="33" name="Text 31"/>
          <p:cNvSpPr/>
          <p:nvPr/>
        </p:nvSpPr>
        <p:spPr>
          <a:xfrm>
            <a:off x="274320" y="4937760"/>
            <a:ext cx="8595360" cy="457200"/>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Subnet: 192.168.60.0/23  |  Gateway: 192.168.60.1  |  Connects to Dist-Switch-1  |  /23 subnet for growth  |  Cables run under raised floor</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F1176DA6-4BBF-42A4-9C94-E6613CCD6B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99AAB0AE-172B-4FB4-80C2-86CD6B8242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7759" y="360045"/>
            <a:ext cx="8428482" cy="4423410"/>
          </a:xfrm>
          <a:prstGeom prst="rect">
            <a:avLst/>
          </a:prstGeom>
          <a:solidFill>
            <a:schemeClr val="bg1"/>
          </a:solidFill>
          <a:ln w="22225">
            <a:solidFill>
              <a:srgbClr val="C500F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D0AB34E8-6106-90C6-18D4-CDD6C42B9BA8}"/>
              </a:ext>
            </a:extLst>
          </p:cNvPr>
          <p:cNvPicPr>
            <a:picLocks noChangeAspect="1"/>
          </p:cNvPicPr>
          <p:nvPr/>
        </p:nvPicPr>
        <p:blipFill>
          <a:blip r:embed="rId2"/>
          <a:stretch>
            <a:fillRect/>
          </a:stretch>
        </p:blipFill>
        <p:spPr>
          <a:xfrm>
            <a:off x="1598122" y="482600"/>
            <a:ext cx="5947755" cy="4178299"/>
          </a:xfrm>
          <a:prstGeom prst="rect">
            <a:avLst/>
          </a:prstGeom>
        </p:spPr>
      </p:pic>
    </p:spTree>
    <p:extLst>
      <p:ext uri="{BB962C8B-B14F-4D97-AF65-F5344CB8AC3E}">
        <p14:creationId xmlns:p14="http://schemas.microsoft.com/office/powerpoint/2010/main" val="14484160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E3A5F"/>
          </a:solidFill>
          <a:ln w="12700">
            <a:solidFill>
              <a:srgbClr val="1E3A5F"/>
            </a:solidFill>
            <a:prstDash val="solid"/>
          </a:ln>
        </p:spPr>
        <p:txBody>
          <a:bodyPr/>
          <a:lstStyle/>
          <a:p>
            <a:endParaRPr lang="en-ZA"/>
          </a:p>
        </p:txBody>
      </p:sp>
      <p:sp>
        <p:nvSpPr>
          <p:cNvPr id="3" name="Text 1"/>
          <p:cNvSpPr/>
          <p:nvPr/>
        </p:nvSpPr>
        <p:spPr>
          <a:xfrm>
            <a:off x="365760" y="0"/>
            <a:ext cx="6400800" cy="100584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Guest WiFi</a:t>
            </a:r>
            <a:endParaRPr lang="en-US" sz="2600" dirty="0"/>
          </a:p>
        </p:txBody>
      </p:sp>
      <p:sp>
        <p:nvSpPr>
          <p:cNvPr id="4" name="Shape 2"/>
          <p:cNvSpPr/>
          <p:nvPr/>
        </p:nvSpPr>
        <p:spPr>
          <a:xfrm>
            <a:off x="6858000" y="182880"/>
            <a:ext cx="2011680" cy="640080"/>
          </a:xfrm>
          <a:prstGeom prst="rect">
            <a:avLst/>
          </a:prstGeom>
          <a:solidFill>
            <a:srgbClr val="2E75B6"/>
          </a:solidFill>
          <a:ln w="12700">
            <a:solidFill>
              <a:srgbClr val="2E75B6"/>
            </a:solidFill>
            <a:prstDash val="solid"/>
          </a:ln>
        </p:spPr>
        <p:txBody>
          <a:bodyPr/>
          <a:lstStyle/>
          <a:p>
            <a:endParaRPr lang="en-ZA"/>
          </a:p>
        </p:txBody>
      </p:sp>
      <p:sp>
        <p:nvSpPr>
          <p:cNvPr id="5" name="Text 3"/>
          <p:cNvSpPr/>
          <p:nvPr/>
        </p:nvSpPr>
        <p:spPr>
          <a:xfrm>
            <a:off x="6858000" y="182880"/>
            <a:ext cx="2011680" cy="6400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VLAN 99</a:t>
            </a:r>
            <a:endParaRPr lang="en-US" sz="1100" dirty="0"/>
          </a:p>
        </p:txBody>
      </p:sp>
      <p:sp>
        <p:nvSpPr>
          <p:cNvPr id="6" name="Shape 4"/>
          <p:cNvSpPr/>
          <p:nvPr/>
        </p:nvSpPr>
        <p:spPr>
          <a:xfrm>
            <a:off x="274320" y="1097280"/>
            <a:ext cx="8595360" cy="548640"/>
          </a:xfrm>
          <a:prstGeom prst="rect">
            <a:avLst/>
          </a:prstGeom>
          <a:solidFill>
            <a:srgbClr val="E8F0F8"/>
          </a:solidFill>
          <a:ln w="12700">
            <a:solidFill>
              <a:srgbClr val="CCDDEE"/>
            </a:solidFill>
            <a:prstDash val="solid"/>
          </a:ln>
        </p:spPr>
        <p:txBody>
          <a:bodyPr/>
          <a:lstStyle/>
          <a:p>
            <a:endParaRPr lang="en-ZA"/>
          </a:p>
        </p:txBody>
      </p:sp>
      <p:sp>
        <p:nvSpPr>
          <p:cNvPr id="7" name="Text 5"/>
          <p:cNvSpPr/>
          <p:nvPr/>
        </p:nvSpPr>
        <p:spPr>
          <a:xfrm>
            <a:off x="365760" y="1097280"/>
            <a:ext cx="8412480" cy="548640"/>
          </a:xfrm>
          <a:prstGeom prst="rect">
            <a:avLst/>
          </a:prstGeom>
          <a:noFill/>
          <a:ln/>
        </p:spPr>
        <p:txBody>
          <a:bodyPr wrap="square" rtlCol="0" anchor="ctr"/>
          <a:lstStyle/>
          <a:p>
            <a:pPr marL="0" indent="0">
              <a:buNone/>
            </a:pPr>
            <a:r>
              <a:rPr lang="en-US" sz="1150" b="1" dirty="0">
                <a:solidFill>
                  <a:srgbClr val="1E3A5F"/>
                </a:solidFill>
                <a:latin typeface="Calibri" pitchFamily="34" charset="0"/>
                <a:ea typeface="Calibri" pitchFamily="34" charset="-122"/>
                <a:cs typeface="Calibri" pitchFamily="34" charset="-120"/>
              </a:rPr>
              <a:t>What it is: </a:t>
            </a:r>
            <a:r>
              <a:rPr lang="en-US" sz="1100" dirty="0">
                <a:solidFill>
                  <a:srgbClr val="1A1A2E"/>
                </a:solidFill>
                <a:latin typeface="Calibri" pitchFamily="34" charset="0"/>
                <a:ea typeface="Calibri" pitchFamily="34" charset="-122"/>
                <a:cs typeface="Calibri" pitchFamily="34" charset="-120"/>
              </a:rPr>
              <a:t>A completely sandboxed wireless network for visitors and guests throughout the building.</a:t>
            </a:r>
            <a:endParaRPr lang="en-US" sz="1150" dirty="0"/>
          </a:p>
        </p:txBody>
      </p:sp>
      <p:sp>
        <p:nvSpPr>
          <p:cNvPr id="8" name="Shape 6"/>
          <p:cNvSpPr/>
          <p:nvPr/>
        </p:nvSpPr>
        <p:spPr>
          <a:xfrm>
            <a:off x="274320" y="1691640"/>
            <a:ext cx="8595360" cy="548640"/>
          </a:xfrm>
          <a:prstGeom prst="rect">
            <a:avLst/>
          </a:prstGeom>
          <a:solidFill>
            <a:srgbClr val="FFFFFF"/>
          </a:solidFill>
          <a:ln w="12700">
            <a:solidFill>
              <a:srgbClr val="CCDDEE"/>
            </a:solidFill>
            <a:prstDash val="solid"/>
          </a:ln>
        </p:spPr>
        <p:txBody>
          <a:bodyPr/>
          <a:lstStyle/>
          <a:p>
            <a:endParaRPr lang="en-ZA"/>
          </a:p>
        </p:txBody>
      </p:sp>
      <p:sp>
        <p:nvSpPr>
          <p:cNvPr id="9" name="Text 7"/>
          <p:cNvSpPr/>
          <p:nvPr/>
        </p:nvSpPr>
        <p:spPr>
          <a:xfrm>
            <a:off x="365760" y="1691640"/>
            <a:ext cx="8412480" cy="548640"/>
          </a:xfrm>
          <a:prstGeom prst="rect">
            <a:avLst/>
          </a:prstGeom>
          <a:noFill/>
          <a:ln/>
        </p:spPr>
        <p:txBody>
          <a:bodyPr wrap="square" rtlCol="0" anchor="ctr"/>
          <a:lstStyle/>
          <a:p>
            <a:pPr marL="0" indent="0">
              <a:buNone/>
            </a:pPr>
            <a:r>
              <a:rPr lang="en-US" sz="1150" b="1" dirty="0">
                <a:solidFill>
                  <a:srgbClr val="1E3A5F"/>
                </a:solidFill>
                <a:latin typeface="Calibri" pitchFamily="34" charset="0"/>
                <a:ea typeface="Calibri" pitchFamily="34" charset="-122"/>
                <a:cs typeface="Calibri" pitchFamily="34" charset="-120"/>
              </a:rPr>
              <a:t>How it works: </a:t>
            </a:r>
            <a:r>
              <a:rPr lang="en-US" sz="1100" dirty="0">
                <a:solidFill>
                  <a:srgbClr val="1A1A2E"/>
                </a:solidFill>
                <a:latin typeface="Calibri" pitchFamily="34" charset="0"/>
                <a:ea typeface="Calibri" pitchFamily="34" charset="-122"/>
                <a:cs typeface="Calibri" pitchFamily="34" charset="-120"/>
              </a:rPr>
              <a:t>Guest devices connect to the Guest SSID broadcast by access points in reception and other sections. They are placed on VLAN 99 automatically.</a:t>
            </a:r>
            <a:endParaRPr lang="en-US" sz="1150" dirty="0"/>
          </a:p>
        </p:txBody>
      </p:sp>
      <p:sp>
        <p:nvSpPr>
          <p:cNvPr id="10" name="Shape 8"/>
          <p:cNvSpPr/>
          <p:nvPr/>
        </p:nvSpPr>
        <p:spPr>
          <a:xfrm>
            <a:off x="274320" y="2286000"/>
            <a:ext cx="8595360" cy="548640"/>
          </a:xfrm>
          <a:prstGeom prst="rect">
            <a:avLst/>
          </a:prstGeom>
          <a:solidFill>
            <a:srgbClr val="E8F0F8"/>
          </a:solidFill>
          <a:ln w="12700">
            <a:solidFill>
              <a:srgbClr val="CCDDEE"/>
            </a:solidFill>
            <a:prstDash val="solid"/>
          </a:ln>
        </p:spPr>
        <p:txBody>
          <a:bodyPr/>
          <a:lstStyle/>
          <a:p>
            <a:endParaRPr lang="en-ZA"/>
          </a:p>
        </p:txBody>
      </p:sp>
      <p:sp>
        <p:nvSpPr>
          <p:cNvPr id="11" name="Text 9"/>
          <p:cNvSpPr/>
          <p:nvPr/>
        </p:nvSpPr>
        <p:spPr>
          <a:xfrm>
            <a:off x="365760" y="2286000"/>
            <a:ext cx="8412480" cy="548640"/>
          </a:xfrm>
          <a:prstGeom prst="rect">
            <a:avLst/>
          </a:prstGeom>
          <a:noFill/>
          <a:ln/>
        </p:spPr>
        <p:txBody>
          <a:bodyPr wrap="square" rtlCol="0" anchor="ctr"/>
          <a:lstStyle/>
          <a:p>
            <a:pPr marL="0" indent="0">
              <a:buNone/>
            </a:pPr>
            <a:r>
              <a:rPr lang="en-US" sz="1150" b="1" dirty="0">
                <a:solidFill>
                  <a:srgbClr val="1E3A5F"/>
                </a:solidFill>
                <a:latin typeface="Calibri" pitchFamily="34" charset="0"/>
                <a:ea typeface="Calibri" pitchFamily="34" charset="-122"/>
                <a:cs typeface="Calibri" pitchFamily="34" charset="-120"/>
              </a:rPr>
              <a:t>What guests can do: </a:t>
            </a:r>
            <a:r>
              <a:rPr lang="en-US" sz="1100" dirty="0">
                <a:solidFill>
                  <a:srgbClr val="1A1A2E"/>
                </a:solidFill>
                <a:latin typeface="Calibri" pitchFamily="34" charset="0"/>
                <a:ea typeface="Calibri" pitchFamily="34" charset="-122"/>
                <a:cs typeface="Calibri" pitchFamily="34" charset="-120"/>
              </a:rPr>
              <a:t>Access the internet only. No access to any internal section, server, printer, or device on any other VLAN.</a:t>
            </a:r>
            <a:endParaRPr lang="en-US" sz="1150" dirty="0"/>
          </a:p>
        </p:txBody>
      </p:sp>
      <p:sp>
        <p:nvSpPr>
          <p:cNvPr id="12" name="Shape 10"/>
          <p:cNvSpPr/>
          <p:nvPr/>
        </p:nvSpPr>
        <p:spPr>
          <a:xfrm>
            <a:off x="274320" y="2880360"/>
            <a:ext cx="8595360" cy="548640"/>
          </a:xfrm>
          <a:prstGeom prst="rect">
            <a:avLst/>
          </a:prstGeom>
          <a:solidFill>
            <a:srgbClr val="FFFFFF"/>
          </a:solidFill>
          <a:ln w="12700">
            <a:solidFill>
              <a:srgbClr val="CCDDEE"/>
            </a:solidFill>
            <a:prstDash val="solid"/>
          </a:ln>
        </p:spPr>
        <p:txBody>
          <a:bodyPr/>
          <a:lstStyle/>
          <a:p>
            <a:endParaRPr lang="en-ZA"/>
          </a:p>
        </p:txBody>
      </p:sp>
      <p:sp>
        <p:nvSpPr>
          <p:cNvPr id="13" name="Text 11"/>
          <p:cNvSpPr/>
          <p:nvPr/>
        </p:nvSpPr>
        <p:spPr>
          <a:xfrm>
            <a:off x="365760" y="2880360"/>
            <a:ext cx="8412480" cy="548640"/>
          </a:xfrm>
          <a:prstGeom prst="rect">
            <a:avLst/>
          </a:prstGeom>
          <a:noFill/>
          <a:ln/>
        </p:spPr>
        <p:txBody>
          <a:bodyPr wrap="square" rtlCol="0" anchor="ctr"/>
          <a:lstStyle/>
          <a:p>
            <a:pPr marL="0" indent="0">
              <a:buNone/>
            </a:pPr>
            <a:r>
              <a:rPr lang="en-US" sz="1150" b="1" dirty="0">
                <a:solidFill>
                  <a:srgbClr val="1E3A5F"/>
                </a:solidFill>
                <a:latin typeface="Calibri" pitchFamily="34" charset="0"/>
                <a:ea typeface="Calibri" pitchFamily="34" charset="-122"/>
                <a:cs typeface="Calibri" pitchFamily="34" charset="-120"/>
              </a:rPr>
              <a:t>How it is enforced: </a:t>
            </a:r>
            <a:r>
              <a:rPr lang="en-US" sz="1100" dirty="0">
                <a:solidFill>
                  <a:srgbClr val="1A1A2E"/>
                </a:solidFill>
                <a:latin typeface="Calibri" pitchFamily="34" charset="0"/>
                <a:ea typeface="Calibri" pitchFamily="34" charset="-122"/>
                <a:cs typeface="Calibri" pitchFamily="34" charset="-120"/>
              </a:rPr>
              <a:t>ACL on the distribution switch blocks all traffic from 192.168.99.0/24 to any internal subnet. Only internet traffic is permitted.</a:t>
            </a:r>
            <a:endParaRPr lang="en-US" sz="1150" dirty="0"/>
          </a:p>
        </p:txBody>
      </p:sp>
      <p:sp>
        <p:nvSpPr>
          <p:cNvPr id="14" name="Shape 12"/>
          <p:cNvSpPr/>
          <p:nvPr/>
        </p:nvSpPr>
        <p:spPr>
          <a:xfrm>
            <a:off x="274320" y="3474720"/>
            <a:ext cx="8595360" cy="548640"/>
          </a:xfrm>
          <a:prstGeom prst="rect">
            <a:avLst/>
          </a:prstGeom>
          <a:solidFill>
            <a:srgbClr val="E8F0F8"/>
          </a:solidFill>
          <a:ln w="12700">
            <a:solidFill>
              <a:srgbClr val="CCDDEE"/>
            </a:solidFill>
            <a:prstDash val="solid"/>
          </a:ln>
        </p:spPr>
        <p:txBody>
          <a:bodyPr/>
          <a:lstStyle/>
          <a:p>
            <a:endParaRPr lang="en-ZA"/>
          </a:p>
        </p:txBody>
      </p:sp>
      <p:sp>
        <p:nvSpPr>
          <p:cNvPr id="15" name="Text 13"/>
          <p:cNvSpPr/>
          <p:nvPr/>
        </p:nvSpPr>
        <p:spPr>
          <a:xfrm>
            <a:off x="365760" y="3474720"/>
            <a:ext cx="8412480" cy="548640"/>
          </a:xfrm>
          <a:prstGeom prst="rect">
            <a:avLst/>
          </a:prstGeom>
          <a:noFill/>
          <a:ln/>
        </p:spPr>
        <p:txBody>
          <a:bodyPr wrap="square" rtlCol="0" anchor="ctr"/>
          <a:lstStyle/>
          <a:p>
            <a:pPr marL="0" indent="0">
              <a:buNone/>
            </a:pPr>
            <a:r>
              <a:rPr lang="en-US" sz="1150" b="1" dirty="0">
                <a:solidFill>
                  <a:srgbClr val="1E3A5F"/>
                </a:solidFill>
                <a:latin typeface="Calibri" pitchFamily="34" charset="0"/>
                <a:ea typeface="Calibri" pitchFamily="34" charset="-122"/>
                <a:cs typeface="Calibri" pitchFamily="34" charset="-120"/>
              </a:rPr>
              <a:t>No extra hardware: </a:t>
            </a:r>
            <a:r>
              <a:rPr lang="en-US" sz="1100" dirty="0">
                <a:solidFill>
                  <a:srgbClr val="1A1A2E"/>
                </a:solidFill>
                <a:latin typeface="Calibri" pitchFamily="34" charset="0"/>
                <a:ea typeface="Calibri" pitchFamily="34" charset="-122"/>
                <a:cs typeface="Calibri" pitchFamily="34" charset="-120"/>
              </a:rPr>
              <a:t>Guest WiFi uses the same access points as staff WiFi. The AP broadcasts two SSIDs — one for staff (their section VLAN) and one for guests (VLAN 99).</a:t>
            </a:r>
            <a:endParaRPr lang="en-US" sz="1150" dirty="0"/>
          </a:p>
        </p:txBody>
      </p:sp>
      <p:sp>
        <p:nvSpPr>
          <p:cNvPr id="16" name="Shape 14"/>
          <p:cNvSpPr/>
          <p:nvPr/>
        </p:nvSpPr>
        <p:spPr>
          <a:xfrm>
            <a:off x="274320" y="4069080"/>
            <a:ext cx="8595360" cy="548640"/>
          </a:xfrm>
          <a:prstGeom prst="rect">
            <a:avLst/>
          </a:prstGeom>
          <a:solidFill>
            <a:srgbClr val="FFFFFF"/>
          </a:solidFill>
          <a:ln w="12700">
            <a:solidFill>
              <a:srgbClr val="CCDDEE"/>
            </a:solidFill>
            <a:prstDash val="solid"/>
          </a:ln>
        </p:spPr>
        <p:txBody>
          <a:bodyPr/>
          <a:lstStyle/>
          <a:p>
            <a:endParaRPr lang="en-ZA"/>
          </a:p>
        </p:txBody>
      </p:sp>
      <p:sp>
        <p:nvSpPr>
          <p:cNvPr id="17" name="Text 15"/>
          <p:cNvSpPr/>
          <p:nvPr/>
        </p:nvSpPr>
        <p:spPr>
          <a:xfrm>
            <a:off x="365760" y="4069080"/>
            <a:ext cx="8412480" cy="548640"/>
          </a:xfrm>
          <a:prstGeom prst="rect">
            <a:avLst/>
          </a:prstGeom>
          <a:noFill/>
          <a:ln/>
        </p:spPr>
        <p:txBody>
          <a:bodyPr wrap="square" rtlCol="0" anchor="ctr"/>
          <a:lstStyle/>
          <a:p>
            <a:pPr marL="0" indent="0">
              <a:buNone/>
            </a:pPr>
            <a:r>
              <a:rPr lang="en-US" sz="1150" b="1" dirty="0">
                <a:solidFill>
                  <a:srgbClr val="1E3A5F"/>
                </a:solidFill>
                <a:latin typeface="Calibri" pitchFamily="34" charset="0"/>
                <a:ea typeface="Calibri" pitchFamily="34" charset="-122"/>
                <a:cs typeface="Calibri" pitchFamily="34" charset="-120"/>
              </a:rPr>
              <a:t>Meeting room guests: </a:t>
            </a:r>
            <a:r>
              <a:rPr lang="en-US" sz="1100" dirty="0">
                <a:solidFill>
                  <a:srgbClr val="1A1A2E"/>
                </a:solidFill>
                <a:latin typeface="Calibri" pitchFamily="34" charset="0"/>
                <a:ea typeface="Calibri" pitchFamily="34" charset="-122"/>
                <a:cs typeface="Calibri" pitchFamily="34" charset="-120"/>
              </a:rPr>
              <a:t>Guests attending meetings use the building-wide VLAN 99 network. No extra hardware needed in the meeting room.</a:t>
            </a:r>
            <a:endParaRPr lang="en-US" sz="1150" dirty="0"/>
          </a:p>
        </p:txBody>
      </p:sp>
      <p:sp>
        <p:nvSpPr>
          <p:cNvPr id="18" name="Shape 16"/>
          <p:cNvSpPr/>
          <p:nvPr/>
        </p:nvSpPr>
        <p:spPr>
          <a:xfrm>
            <a:off x="0" y="4937760"/>
            <a:ext cx="9144000" cy="457200"/>
          </a:xfrm>
          <a:prstGeom prst="rect">
            <a:avLst/>
          </a:prstGeom>
          <a:solidFill>
            <a:srgbClr val="1E3A5F"/>
          </a:solidFill>
          <a:ln w="12700">
            <a:solidFill>
              <a:srgbClr val="1E3A5F"/>
            </a:solidFill>
            <a:prstDash val="solid"/>
          </a:ln>
        </p:spPr>
        <p:txBody>
          <a:bodyPr/>
          <a:lstStyle/>
          <a:p>
            <a:endParaRPr lang="en-ZA"/>
          </a:p>
        </p:txBody>
      </p:sp>
      <p:sp>
        <p:nvSpPr>
          <p:cNvPr id="19" name="Text 17"/>
          <p:cNvSpPr/>
          <p:nvPr/>
        </p:nvSpPr>
        <p:spPr>
          <a:xfrm>
            <a:off x="274320" y="4937760"/>
            <a:ext cx="8595360" cy="457200"/>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Subnet: 192.168.99.0/24  |  Gateway: 192.168.99.1  |  Internet access only  |  No lateral movement into internal network</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E785E5-ECB4-BC25-6ECB-E8795756B5F3}"/>
              </a:ext>
            </a:extLst>
          </p:cNvPr>
          <p:cNvSpPr>
            <a:spLocks noGrp="1"/>
          </p:cNvSpPr>
          <p:nvPr>
            <p:ph type="title"/>
          </p:nvPr>
        </p:nvSpPr>
        <p:spPr/>
        <p:txBody>
          <a:bodyPr/>
          <a:lstStyle/>
          <a:p>
            <a:r>
              <a:rPr lang="en-ZA" dirty="0"/>
              <a:t>REMOTE ACCESS SOLUTIONS + possible growth</a:t>
            </a:r>
          </a:p>
        </p:txBody>
      </p:sp>
      <p:sp>
        <p:nvSpPr>
          <p:cNvPr id="3" name="Content Placeholder 2">
            <a:extLst>
              <a:ext uri="{FF2B5EF4-FFF2-40B4-BE49-F238E27FC236}">
                <a16:creationId xmlns:a16="http://schemas.microsoft.com/office/drawing/2014/main" id="{2B25F23B-6481-51B4-6905-7470CAB34E3E}"/>
              </a:ext>
            </a:extLst>
          </p:cNvPr>
          <p:cNvSpPr>
            <a:spLocks noGrp="1"/>
          </p:cNvSpPr>
          <p:nvPr>
            <p:ph idx="1"/>
          </p:nvPr>
        </p:nvSpPr>
        <p:spPr/>
        <p:txBody>
          <a:bodyPr>
            <a:normAutofit fontScale="85000" lnSpcReduction="20000"/>
          </a:bodyPr>
          <a:lstStyle/>
          <a:p>
            <a:r>
              <a:rPr lang="en-ZA" dirty="0"/>
              <a:t>VPN software: Cisco AnyConnect VPN creates an encrypted tunnel from the staff member’s home devices to the company network</a:t>
            </a:r>
          </a:p>
          <a:p>
            <a:r>
              <a:rPr lang="en-ZA" dirty="0"/>
              <a:t> Authentication: Multi-factor authentication is enforced; staff need a password plus a second factor to connect</a:t>
            </a:r>
          </a:p>
          <a:p>
            <a:r>
              <a:rPr lang="en-ZA" dirty="0"/>
              <a:t>Remote VLAN: Remote workers are placed on a dedicated VLAN with ACL restrictions; they can only access the file server and intranet( staff can access files from home)</a:t>
            </a:r>
          </a:p>
          <a:p>
            <a:r>
              <a:rPr lang="en-ZA" dirty="0"/>
              <a:t>Distribution switches have unused ports available for connecting new devices in the future</a:t>
            </a:r>
          </a:p>
          <a:p>
            <a:r>
              <a:rPr lang="en-ZA" dirty="0"/>
              <a:t>VLAN expansion: New VLANs can be added without hardware changes</a:t>
            </a:r>
          </a:p>
          <a:p>
            <a:r>
              <a:rPr lang="en-ZA" dirty="0"/>
              <a:t>DHCP pools: Each DHCP pool has more addresses than are currently needed; new devices will get addresses automatically.</a:t>
            </a:r>
          </a:p>
          <a:p>
            <a:endParaRPr lang="en-ZA" dirty="0"/>
          </a:p>
          <a:p>
            <a:endParaRPr lang="en-ZA" dirty="0"/>
          </a:p>
        </p:txBody>
      </p:sp>
    </p:spTree>
    <p:extLst>
      <p:ext uri="{BB962C8B-B14F-4D97-AF65-F5344CB8AC3E}">
        <p14:creationId xmlns:p14="http://schemas.microsoft.com/office/powerpoint/2010/main" val="36764646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8">
            <a:extLst>
              <a:ext uri="{FF2B5EF4-FFF2-40B4-BE49-F238E27FC236}">
                <a16:creationId xmlns:a16="http://schemas.microsoft.com/office/drawing/2014/main" id="{C3E8913F-B01A-7020-F7A6-6BD9C6C1795E}"/>
              </a:ext>
            </a:extLst>
          </p:cNvPr>
          <p:cNvSpPr/>
          <p:nvPr/>
        </p:nvSpPr>
        <p:spPr>
          <a:xfrm>
            <a:off x="341376" y="97536"/>
            <a:ext cx="8400288" cy="4681728"/>
          </a:xfrm>
          <a:prstGeom prst="rect">
            <a:avLst/>
          </a:prstGeom>
          <a:solidFill>
            <a:srgbClr val="FFFFFF"/>
          </a:solidFill>
          <a:ln w="12700">
            <a:solidFill>
              <a:srgbClr val="AADDBB"/>
            </a:solidFill>
            <a:prstDash val="solid"/>
          </a:ln>
        </p:spPr>
        <p:txBody>
          <a:bodyPr/>
          <a:lstStyle/>
          <a:p>
            <a:pPr>
              <a:buNone/>
            </a:pPr>
            <a:r>
              <a:rPr lang="en-US" b="1" dirty="0"/>
              <a:t>Switch:</a:t>
            </a:r>
            <a:endParaRPr lang="en-US" dirty="0"/>
          </a:p>
          <a:p>
            <a:pPr>
              <a:buFont typeface="Arial" panose="020B0604020202020204" pitchFamily="34" charset="0"/>
              <a:buChar char="•"/>
            </a:pPr>
            <a:r>
              <a:rPr lang="en-US" dirty="0"/>
              <a:t>Connects multiple wired devices (e.g., PCs, printers) within a local area network (LAN).</a:t>
            </a:r>
          </a:p>
          <a:p>
            <a:pPr>
              <a:buFont typeface="Arial" panose="020B0604020202020204" pitchFamily="34" charset="0"/>
              <a:buChar char="•"/>
            </a:pPr>
            <a:r>
              <a:rPr lang="en-US" dirty="0"/>
              <a:t>Forwards data only to the specific device it's intended for, improving network efficiency.</a:t>
            </a:r>
          </a:p>
          <a:p>
            <a:pPr>
              <a:buNone/>
            </a:pPr>
            <a:r>
              <a:rPr lang="en-US" b="1" dirty="0"/>
              <a:t>Access Point (AP):</a:t>
            </a:r>
            <a:endParaRPr lang="en-US" dirty="0"/>
          </a:p>
          <a:p>
            <a:pPr>
              <a:buFont typeface="Arial" panose="020B0604020202020204" pitchFamily="34" charset="0"/>
              <a:buChar char="•"/>
            </a:pPr>
            <a:r>
              <a:rPr lang="en-US" dirty="0"/>
              <a:t>Provides wireless connectivity to allow Wi-Fi-enabled devices to join the network.</a:t>
            </a:r>
          </a:p>
          <a:p>
            <a:pPr>
              <a:buFont typeface="Arial" panose="020B0604020202020204" pitchFamily="34" charset="0"/>
              <a:buChar char="•"/>
            </a:pPr>
            <a:r>
              <a:rPr lang="en-US" dirty="0"/>
              <a:t>Acts as a bridge between wired LAN and wireless clients.</a:t>
            </a:r>
          </a:p>
          <a:p>
            <a:pPr>
              <a:buNone/>
            </a:pPr>
            <a:r>
              <a:rPr lang="en-US" b="1" dirty="0"/>
              <a:t>Printer (Networked):</a:t>
            </a:r>
            <a:endParaRPr lang="en-US" dirty="0"/>
          </a:p>
          <a:p>
            <a:pPr>
              <a:buFont typeface="Arial" panose="020B0604020202020204" pitchFamily="34" charset="0"/>
              <a:buChar char="•"/>
            </a:pPr>
            <a:r>
              <a:rPr lang="en-US" dirty="0"/>
              <a:t>Enables multiple users to print documents over the network without a physical connection.</a:t>
            </a:r>
          </a:p>
          <a:p>
            <a:pPr>
              <a:buFont typeface="Arial" panose="020B0604020202020204" pitchFamily="34" charset="0"/>
              <a:buChar char="•"/>
            </a:pPr>
            <a:r>
              <a:rPr lang="en-US" dirty="0"/>
              <a:t>Can be managed remotely for monitoring and maintenance.</a:t>
            </a:r>
          </a:p>
          <a:p>
            <a:pPr>
              <a:buNone/>
            </a:pPr>
            <a:r>
              <a:rPr lang="en-US" b="1" dirty="0"/>
              <a:t>Server:</a:t>
            </a:r>
            <a:endParaRPr lang="en-US" dirty="0"/>
          </a:p>
          <a:p>
            <a:pPr>
              <a:buFont typeface="Arial" panose="020B0604020202020204" pitchFamily="34" charset="0"/>
              <a:buChar char="•"/>
            </a:pPr>
            <a:r>
              <a:rPr lang="en-US" dirty="0"/>
              <a:t>Hosts resources such as files, applications, and network services (e.g., DHCP, DNS).</a:t>
            </a:r>
          </a:p>
          <a:p>
            <a:pPr>
              <a:buFont typeface="Arial" panose="020B0604020202020204" pitchFamily="34" charset="0"/>
              <a:buChar char="•"/>
            </a:pPr>
            <a:r>
              <a:rPr lang="en-US" dirty="0"/>
              <a:t>Provides centralized control and data storage for users across the network.</a:t>
            </a:r>
          </a:p>
          <a:p>
            <a:pPr>
              <a:buNone/>
            </a:pPr>
            <a:r>
              <a:rPr lang="en-US" b="1" dirty="0"/>
              <a:t>Router:</a:t>
            </a:r>
            <a:endParaRPr lang="en-US" dirty="0"/>
          </a:p>
          <a:p>
            <a:pPr>
              <a:buFont typeface="Arial" panose="020B0604020202020204" pitchFamily="34" charset="0"/>
              <a:buChar char="•"/>
            </a:pPr>
            <a:r>
              <a:rPr lang="en-US" dirty="0"/>
              <a:t>Connects different networks (e.g., LAN to the Internet) and directs traffic between them.</a:t>
            </a:r>
          </a:p>
          <a:p>
            <a:pPr>
              <a:buFont typeface="Arial" panose="020B0604020202020204" pitchFamily="34" charset="0"/>
              <a:buChar char="•"/>
            </a:pPr>
            <a:r>
              <a:rPr lang="en-US" dirty="0"/>
              <a:t>Assigns IP addresses and often includes firewall functions for security.</a:t>
            </a:r>
          </a:p>
          <a:p>
            <a:endParaRPr lang="en-ZA" dirty="0"/>
          </a:p>
        </p:txBody>
      </p:sp>
    </p:spTree>
    <p:extLst>
      <p:ext uri="{BB962C8B-B14F-4D97-AF65-F5344CB8AC3E}">
        <p14:creationId xmlns:p14="http://schemas.microsoft.com/office/powerpoint/2010/main" val="423121212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E3A5F"/>
          </a:solidFill>
          <a:ln w="12700">
            <a:solidFill>
              <a:srgbClr val="1E3A5F"/>
            </a:solidFill>
            <a:prstDash val="solid"/>
          </a:ln>
        </p:spPr>
        <p:txBody>
          <a:bodyPr/>
          <a:lstStyle/>
          <a:p>
            <a:endParaRPr lang="en-ZA"/>
          </a:p>
        </p:txBody>
      </p:sp>
      <p:sp>
        <p:nvSpPr>
          <p:cNvPr id="3" name="Text 1"/>
          <p:cNvSpPr/>
          <p:nvPr/>
        </p:nvSpPr>
        <p:spPr>
          <a:xfrm>
            <a:off x="365760" y="0"/>
            <a:ext cx="8412480" cy="100584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Security &amp; Remote Access</a:t>
            </a:r>
            <a:endParaRPr lang="en-US" sz="2600" dirty="0"/>
          </a:p>
        </p:txBody>
      </p:sp>
      <p:sp>
        <p:nvSpPr>
          <p:cNvPr id="4" name="Shape 2"/>
          <p:cNvSpPr/>
          <p:nvPr/>
        </p:nvSpPr>
        <p:spPr>
          <a:xfrm>
            <a:off x="274320" y="1097280"/>
            <a:ext cx="4114800" cy="1097280"/>
          </a:xfrm>
          <a:prstGeom prst="rect">
            <a:avLst/>
          </a:prstGeom>
          <a:solidFill>
            <a:srgbClr val="E8F0F8"/>
          </a:solidFill>
          <a:ln w="12700">
            <a:solidFill>
              <a:srgbClr val="1E3A5F"/>
            </a:solidFill>
            <a:prstDash val="solid"/>
          </a:ln>
        </p:spPr>
        <p:txBody>
          <a:bodyPr/>
          <a:lstStyle/>
          <a:p>
            <a:endParaRPr lang="en-ZA"/>
          </a:p>
        </p:txBody>
      </p:sp>
      <p:sp>
        <p:nvSpPr>
          <p:cNvPr id="5" name="Shape 3"/>
          <p:cNvSpPr/>
          <p:nvPr/>
        </p:nvSpPr>
        <p:spPr>
          <a:xfrm>
            <a:off x="274320" y="1097280"/>
            <a:ext cx="109728" cy="1097280"/>
          </a:xfrm>
          <a:prstGeom prst="rect">
            <a:avLst/>
          </a:prstGeom>
          <a:solidFill>
            <a:srgbClr val="1E3A5F"/>
          </a:solidFill>
          <a:ln w="12700">
            <a:solidFill>
              <a:srgbClr val="1E3A5F"/>
            </a:solidFill>
            <a:prstDash val="solid"/>
          </a:ln>
        </p:spPr>
        <p:txBody>
          <a:bodyPr/>
          <a:lstStyle/>
          <a:p>
            <a:endParaRPr lang="en-ZA"/>
          </a:p>
        </p:txBody>
      </p:sp>
      <p:sp>
        <p:nvSpPr>
          <p:cNvPr id="6" name="Text 4"/>
          <p:cNvSpPr/>
          <p:nvPr/>
        </p:nvSpPr>
        <p:spPr>
          <a:xfrm>
            <a:off x="457200" y="1170432"/>
            <a:ext cx="3840480" cy="320040"/>
          </a:xfrm>
          <a:prstGeom prst="rect">
            <a:avLst/>
          </a:prstGeom>
          <a:noFill/>
          <a:ln/>
        </p:spPr>
        <p:txBody>
          <a:bodyPr wrap="square" rtlCol="0" anchor="ctr"/>
          <a:lstStyle/>
          <a:p>
            <a:pPr marL="0" indent="0">
              <a:buNone/>
            </a:pPr>
            <a:r>
              <a:rPr lang="en-US" sz="1300" b="1" dirty="0">
                <a:solidFill>
                  <a:srgbClr val="1E3A5F"/>
                </a:solidFill>
                <a:latin typeface="Calibri" pitchFamily="34" charset="0"/>
                <a:ea typeface="Calibri" pitchFamily="34" charset="-122"/>
                <a:cs typeface="Calibri" pitchFamily="34" charset="-120"/>
              </a:rPr>
              <a:t>VLAN Isolation</a:t>
            </a:r>
            <a:endParaRPr lang="en-US" sz="1300" dirty="0"/>
          </a:p>
        </p:txBody>
      </p:sp>
      <p:sp>
        <p:nvSpPr>
          <p:cNvPr id="7" name="Text 5"/>
          <p:cNvSpPr/>
          <p:nvPr/>
        </p:nvSpPr>
        <p:spPr>
          <a:xfrm>
            <a:off x="457200" y="1481328"/>
            <a:ext cx="3840480" cy="640080"/>
          </a:xfrm>
          <a:prstGeom prst="rect">
            <a:avLst/>
          </a:prstGeom>
          <a:noFill/>
          <a:ln/>
        </p:spPr>
        <p:txBody>
          <a:bodyPr wrap="square" rtlCol="0" anchor="ctr"/>
          <a:lstStyle/>
          <a:p>
            <a:pPr marL="0" indent="0">
              <a:buNone/>
            </a:pPr>
            <a:r>
              <a:rPr lang="en-US" sz="1100" dirty="0">
                <a:solidFill>
                  <a:srgbClr val="1A1A2E"/>
                </a:solidFill>
                <a:latin typeface="Calibri" pitchFamily="34" charset="0"/>
                <a:ea typeface="Calibri" pitchFamily="34" charset="-122"/>
                <a:cs typeface="Calibri" pitchFamily="34" charset="-120"/>
              </a:rPr>
              <a:t>Each section on its own VLAN. Devices in one section cannot reach devices in another even on the same physical network.</a:t>
            </a:r>
            <a:endParaRPr lang="en-US" sz="1100" dirty="0"/>
          </a:p>
        </p:txBody>
      </p:sp>
      <p:sp>
        <p:nvSpPr>
          <p:cNvPr id="8" name="Shape 6"/>
          <p:cNvSpPr/>
          <p:nvPr/>
        </p:nvSpPr>
        <p:spPr>
          <a:xfrm>
            <a:off x="4754880" y="1097280"/>
            <a:ext cx="4114800" cy="1097280"/>
          </a:xfrm>
          <a:prstGeom prst="rect">
            <a:avLst/>
          </a:prstGeom>
          <a:solidFill>
            <a:srgbClr val="E8F0F8"/>
          </a:solidFill>
          <a:ln w="12700">
            <a:solidFill>
              <a:srgbClr val="2E75B6"/>
            </a:solidFill>
            <a:prstDash val="solid"/>
          </a:ln>
        </p:spPr>
        <p:txBody>
          <a:bodyPr/>
          <a:lstStyle/>
          <a:p>
            <a:endParaRPr lang="en-ZA"/>
          </a:p>
        </p:txBody>
      </p:sp>
      <p:sp>
        <p:nvSpPr>
          <p:cNvPr id="9" name="Shape 7"/>
          <p:cNvSpPr/>
          <p:nvPr/>
        </p:nvSpPr>
        <p:spPr>
          <a:xfrm>
            <a:off x="4754880" y="1097280"/>
            <a:ext cx="109728" cy="1097280"/>
          </a:xfrm>
          <a:prstGeom prst="rect">
            <a:avLst/>
          </a:prstGeom>
          <a:solidFill>
            <a:srgbClr val="2E75B6"/>
          </a:solidFill>
          <a:ln w="12700">
            <a:solidFill>
              <a:srgbClr val="2E75B6"/>
            </a:solidFill>
            <a:prstDash val="solid"/>
          </a:ln>
        </p:spPr>
        <p:txBody>
          <a:bodyPr/>
          <a:lstStyle/>
          <a:p>
            <a:endParaRPr lang="en-ZA"/>
          </a:p>
        </p:txBody>
      </p:sp>
      <p:sp>
        <p:nvSpPr>
          <p:cNvPr id="10" name="Text 8"/>
          <p:cNvSpPr/>
          <p:nvPr/>
        </p:nvSpPr>
        <p:spPr>
          <a:xfrm>
            <a:off x="4937760" y="1170432"/>
            <a:ext cx="3840480" cy="320040"/>
          </a:xfrm>
          <a:prstGeom prst="rect">
            <a:avLst/>
          </a:prstGeom>
          <a:noFill/>
          <a:ln/>
        </p:spPr>
        <p:txBody>
          <a:bodyPr wrap="square" rtlCol="0" anchor="ctr"/>
          <a:lstStyle/>
          <a:p>
            <a:pPr marL="0" indent="0">
              <a:buNone/>
            </a:pPr>
            <a:r>
              <a:rPr lang="en-US" sz="1300" b="1" dirty="0">
                <a:solidFill>
                  <a:srgbClr val="2E75B6"/>
                </a:solidFill>
                <a:latin typeface="Calibri" pitchFamily="34" charset="0"/>
                <a:ea typeface="Calibri" pitchFamily="34" charset="-122"/>
                <a:cs typeface="Calibri" pitchFamily="34" charset="-120"/>
              </a:rPr>
              <a:t>Access Control Lists</a:t>
            </a:r>
            <a:endParaRPr lang="en-US" sz="1300" dirty="0"/>
          </a:p>
        </p:txBody>
      </p:sp>
      <p:sp>
        <p:nvSpPr>
          <p:cNvPr id="11" name="Text 9"/>
          <p:cNvSpPr/>
          <p:nvPr/>
        </p:nvSpPr>
        <p:spPr>
          <a:xfrm>
            <a:off x="4937760" y="1481328"/>
            <a:ext cx="3840480" cy="640080"/>
          </a:xfrm>
          <a:prstGeom prst="rect">
            <a:avLst/>
          </a:prstGeom>
          <a:noFill/>
          <a:ln/>
        </p:spPr>
        <p:txBody>
          <a:bodyPr wrap="square" rtlCol="0" anchor="ctr"/>
          <a:lstStyle/>
          <a:p>
            <a:pPr marL="0" indent="0">
              <a:buNone/>
            </a:pPr>
            <a:r>
              <a:rPr lang="en-US" sz="1100" dirty="0">
                <a:solidFill>
                  <a:srgbClr val="1A1A2E"/>
                </a:solidFill>
                <a:latin typeface="Calibri" pitchFamily="34" charset="0"/>
                <a:ea typeface="Calibri" pitchFamily="34" charset="-122"/>
                <a:cs typeface="Calibri" pitchFamily="34" charset="-120"/>
              </a:rPr>
              <a:t>ACLs on distribution switches block all inter-VLAN traffic while permitting internet access for all sections.</a:t>
            </a:r>
            <a:endParaRPr lang="en-US" sz="1100" dirty="0"/>
          </a:p>
        </p:txBody>
      </p:sp>
      <p:sp>
        <p:nvSpPr>
          <p:cNvPr id="12" name="Shape 10"/>
          <p:cNvSpPr/>
          <p:nvPr/>
        </p:nvSpPr>
        <p:spPr>
          <a:xfrm>
            <a:off x="274320" y="2331720"/>
            <a:ext cx="4114800" cy="1097280"/>
          </a:xfrm>
          <a:prstGeom prst="rect">
            <a:avLst/>
          </a:prstGeom>
          <a:solidFill>
            <a:srgbClr val="E8F0F8"/>
          </a:solidFill>
          <a:ln w="12700">
            <a:solidFill>
              <a:srgbClr val="00A3E0"/>
            </a:solidFill>
            <a:prstDash val="solid"/>
          </a:ln>
        </p:spPr>
        <p:txBody>
          <a:bodyPr/>
          <a:lstStyle/>
          <a:p>
            <a:endParaRPr lang="en-ZA"/>
          </a:p>
        </p:txBody>
      </p:sp>
      <p:sp>
        <p:nvSpPr>
          <p:cNvPr id="13" name="Shape 11"/>
          <p:cNvSpPr/>
          <p:nvPr/>
        </p:nvSpPr>
        <p:spPr>
          <a:xfrm>
            <a:off x="274320" y="2331720"/>
            <a:ext cx="109728" cy="1097280"/>
          </a:xfrm>
          <a:prstGeom prst="rect">
            <a:avLst/>
          </a:prstGeom>
          <a:solidFill>
            <a:srgbClr val="00A3E0"/>
          </a:solidFill>
          <a:ln w="12700">
            <a:solidFill>
              <a:srgbClr val="00A3E0"/>
            </a:solidFill>
            <a:prstDash val="solid"/>
          </a:ln>
        </p:spPr>
        <p:txBody>
          <a:bodyPr/>
          <a:lstStyle/>
          <a:p>
            <a:endParaRPr lang="en-ZA"/>
          </a:p>
        </p:txBody>
      </p:sp>
      <p:sp>
        <p:nvSpPr>
          <p:cNvPr id="14" name="Text 12"/>
          <p:cNvSpPr/>
          <p:nvPr/>
        </p:nvSpPr>
        <p:spPr>
          <a:xfrm>
            <a:off x="457200" y="2404872"/>
            <a:ext cx="3840480" cy="320040"/>
          </a:xfrm>
          <a:prstGeom prst="rect">
            <a:avLst/>
          </a:prstGeom>
          <a:noFill/>
          <a:ln/>
        </p:spPr>
        <p:txBody>
          <a:bodyPr wrap="square" rtlCol="0" anchor="ctr"/>
          <a:lstStyle/>
          <a:p>
            <a:pPr marL="0" indent="0">
              <a:buNone/>
            </a:pPr>
            <a:r>
              <a:rPr lang="en-US" sz="1300" b="1" dirty="0">
                <a:solidFill>
                  <a:srgbClr val="00A3E0"/>
                </a:solidFill>
                <a:latin typeface="Calibri" pitchFamily="34" charset="0"/>
                <a:ea typeface="Calibri" pitchFamily="34" charset="-122"/>
                <a:cs typeface="Calibri" pitchFamily="34" charset="-120"/>
              </a:rPr>
              <a:t>NAT &amp; Firewall</a:t>
            </a:r>
            <a:endParaRPr lang="en-US" sz="1300" dirty="0"/>
          </a:p>
        </p:txBody>
      </p:sp>
      <p:sp>
        <p:nvSpPr>
          <p:cNvPr id="15" name="Text 13"/>
          <p:cNvSpPr/>
          <p:nvPr/>
        </p:nvSpPr>
        <p:spPr>
          <a:xfrm>
            <a:off x="457200" y="2715768"/>
            <a:ext cx="3840480" cy="640080"/>
          </a:xfrm>
          <a:prstGeom prst="rect">
            <a:avLst/>
          </a:prstGeom>
          <a:noFill/>
          <a:ln/>
        </p:spPr>
        <p:txBody>
          <a:bodyPr wrap="square" rtlCol="0" anchor="ctr"/>
          <a:lstStyle/>
          <a:p>
            <a:pPr marL="0" indent="0">
              <a:buNone/>
            </a:pPr>
            <a:r>
              <a:rPr lang="en-US" sz="1100" dirty="0">
                <a:solidFill>
                  <a:srgbClr val="1A1A2E"/>
                </a:solidFill>
                <a:latin typeface="Calibri" pitchFamily="34" charset="0"/>
                <a:ea typeface="Calibri" pitchFamily="34" charset="-122"/>
                <a:cs typeface="Calibri" pitchFamily="34" charset="-120"/>
              </a:rPr>
              <a:t>Router performs NAT for internet access and blocks unsolicited incoming connections from external networks.</a:t>
            </a:r>
            <a:endParaRPr lang="en-US" sz="1100" dirty="0"/>
          </a:p>
        </p:txBody>
      </p:sp>
      <p:sp>
        <p:nvSpPr>
          <p:cNvPr id="16" name="Shape 14"/>
          <p:cNvSpPr/>
          <p:nvPr/>
        </p:nvSpPr>
        <p:spPr>
          <a:xfrm>
            <a:off x="4754880" y="2331720"/>
            <a:ext cx="4114800" cy="1097280"/>
          </a:xfrm>
          <a:prstGeom prst="rect">
            <a:avLst/>
          </a:prstGeom>
          <a:solidFill>
            <a:srgbClr val="E8F0F8"/>
          </a:solidFill>
          <a:ln w="12700">
            <a:solidFill>
              <a:srgbClr val="1E3A5F"/>
            </a:solidFill>
            <a:prstDash val="solid"/>
          </a:ln>
        </p:spPr>
        <p:txBody>
          <a:bodyPr/>
          <a:lstStyle/>
          <a:p>
            <a:endParaRPr lang="en-ZA"/>
          </a:p>
        </p:txBody>
      </p:sp>
      <p:sp>
        <p:nvSpPr>
          <p:cNvPr id="17" name="Shape 15"/>
          <p:cNvSpPr/>
          <p:nvPr/>
        </p:nvSpPr>
        <p:spPr>
          <a:xfrm>
            <a:off x="4754880" y="2331720"/>
            <a:ext cx="109728" cy="1097280"/>
          </a:xfrm>
          <a:prstGeom prst="rect">
            <a:avLst/>
          </a:prstGeom>
          <a:solidFill>
            <a:srgbClr val="1E3A5F"/>
          </a:solidFill>
          <a:ln w="12700">
            <a:solidFill>
              <a:srgbClr val="1E3A5F"/>
            </a:solidFill>
            <a:prstDash val="solid"/>
          </a:ln>
        </p:spPr>
        <p:txBody>
          <a:bodyPr/>
          <a:lstStyle/>
          <a:p>
            <a:endParaRPr lang="en-ZA"/>
          </a:p>
        </p:txBody>
      </p:sp>
      <p:sp>
        <p:nvSpPr>
          <p:cNvPr id="18" name="Text 16"/>
          <p:cNvSpPr/>
          <p:nvPr/>
        </p:nvSpPr>
        <p:spPr>
          <a:xfrm>
            <a:off x="4937760" y="2404872"/>
            <a:ext cx="3840480" cy="320040"/>
          </a:xfrm>
          <a:prstGeom prst="rect">
            <a:avLst/>
          </a:prstGeom>
          <a:noFill/>
          <a:ln/>
        </p:spPr>
        <p:txBody>
          <a:bodyPr wrap="square" rtlCol="0" anchor="ctr"/>
          <a:lstStyle/>
          <a:p>
            <a:pPr marL="0" indent="0">
              <a:buNone/>
            </a:pPr>
            <a:r>
              <a:rPr lang="en-US" sz="1300" b="1" dirty="0">
                <a:solidFill>
                  <a:srgbClr val="1E3A5F"/>
                </a:solidFill>
                <a:latin typeface="Calibri" pitchFamily="34" charset="0"/>
                <a:ea typeface="Calibri" pitchFamily="34" charset="-122"/>
                <a:cs typeface="Calibri" pitchFamily="34" charset="-120"/>
              </a:rPr>
              <a:t>WPA2-PSK WiFi</a:t>
            </a:r>
            <a:endParaRPr lang="en-US" sz="1300" dirty="0"/>
          </a:p>
        </p:txBody>
      </p:sp>
      <p:sp>
        <p:nvSpPr>
          <p:cNvPr id="19" name="Text 17"/>
          <p:cNvSpPr/>
          <p:nvPr/>
        </p:nvSpPr>
        <p:spPr>
          <a:xfrm>
            <a:off x="4937760" y="2715768"/>
            <a:ext cx="3840480" cy="640080"/>
          </a:xfrm>
          <a:prstGeom prst="rect">
            <a:avLst/>
          </a:prstGeom>
          <a:noFill/>
          <a:ln/>
        </p:spPr>
        <p:txBody>
          <a:bodyPr wrap="square" rtlCol="0" anchor="ctr"/>
          <a:lstStyle/>
          <a:p>
            <a:pPr marL="0" indent="0">
              <a:buNone/>
            </a:pPr>
            <a:r>
              <a:rPr lang="en-US" sz="1100" dirty="0">
                <a:solidFill>
                  <a:srgbClr val="1A1A2E"/>
                </a:solidFill>
                <a:latin typeface="Calibri" pitchFamily="34" charset="0"/>
                <a:ea typeface="Calibri" pitchFamily="34" charset="-122"/>
                <a:cs typeface="Calibri" pitchFamily="34" charset="-120"/>
              </a:rPr>
              <a:t>All access points use WPA2-PSK encryption. Staff and guest networks use separate SSIDs mapped to different VLANs.</a:t>
            </a:r>
            <a:endParaRPr lang="en-US" sz="1100" dirty="0"/>
          </a:p>
        </p:txBody>
      </p:sp>
      <p:sp>
        <p:nvSpPr>
          <p:cNvPr id="20" name="Shape 18"/>
          <p:cNvSpPr/>
          <p:nvPr/>
        </p:nvSpPr>
        <p:spPr>
          <a:xfrm>
            <a:off x="274320" y="3566160"/>
            <a:ext cx="4114800" cy="1097280"/>
          </a:xfrm>
          <a:prstGeom prst="rect">
            <a:avLst/>
          </a:prstGeom>
          <a:solidFill>
            <a:srgbClr val="E8F0F8"/>
          </a:solidFill>
          <a:ln w="12700">
            <a:solidFill>
              <a:srgbClr val="2E75B6"/>
            </a:solidFill>
            <a:prstDash val="solid"/>
          </a:ln>
        </p:spPr>
        <p:txBody>
          <a:bodyPr/>
          <a:lstStyle/>
          <a:p>
            <a:endParaRPr lang="en-ZA"/>
          </a:p>
        </p:txBody>
      </p:sp>
      <p:sp>
        <p:nvSpPr>
          <p:cNvPr id="21" name="Shape 19"/>
          <p:cNvSpPr/>
          <p:nvPr/>
        </p:nvSpPr>
        <p:spPr>
          <a:xfrm>
            <a:off x="274320" y="3566160"/>
            <a:ext cx="109728" cy="1097280"/>
          </a:xfrm>
          <a:prstGeom prst="rect">
            <a:avLst/>
          </a:prstGeom>
          <a:solidFill>
            <a:srgbClr val="2E75B6"/>
          </a:solidFill>
          <a:ln w="12700">
            <a:solidFill>
              <a:srgbClr val="2E75B6"/>
            </a:solidFill>
            <a:prstDash val="solid"/>
          </a:ln>
        </p:spPr>
        <p:txBody>
          <a:bodyPr/>
          <a:lstStyle/>
          <a:p>
            <a:endParaRPr lang="en-ZA"/>
          </a:p>
        </p:txBody>
      </p:sp>
      <p:sp>
        <p:nvSpPr>
          <p:cNvPr id="22" name="Text 20"/>
          <p:cNvSpPr/>
          <p:nvPr/>
        </p:nvSpPr>
        <p:spPr>
          <a:xfrm>
            <a:off x="457200" y="3639312"/>
            <a:ext cx="3840480" cy="320040"/>
          </a:xfrm>
          <a:prstGeom prst="rect">
            <a:avLst/>
          </a:prstGeom>
          <a:noFill/>
          <a:ln/>
        </p:spPr>
        <p:txBody>
          <a:bodyPr wrap="square" rtlCol="0" anchor="ctr"/>
          <a:lstStyle/>
          <a:p>
            <a:pPr marL="0" indent="0">
              <a:buNone/>
            </a:pPr>
            <a:r>
              <a:rPr lang="en-US" sz="1300" b="1" dirty="0">
                <a:solidFill>
                  <a:srgbClr val="2E75B6"/>
                </a:solidFill>
                <a:latin typeface="Calibri" pitchFamily="34" charset="0"/>
                <a:ea typeface="Calibri" pitchFamily="34" charset="-122"/>
                <a:cs typeface="Calibri" pitchFamily="34" charset="-120"/>
              </a:rPr>
              <a:t>VPN Remote Access</a:t>
            </a:r>
            <a:endParaRPr lang="en-US" sz="1300" dirty="0"/>
          </a:p>
        </p:txBody>
      </p:sp>
      <p:sp>
        <p:nvSpPr>
          <p:cNvPr id="23" name="Text 21"/>
          <p:cNvSpPr/>
          <p:nvPr/>
        </p:nvSpPr>
        <p:spPr>
          <a:xfrm>
            <a:off x="457200" y="3950208"/>
            <a:ext cx="3840480" cy="640080"/>
          </a:xfrm>
          <a:prstGeom prst="rect">
            <a:avLst/>
          </a:prstGeom>
          <a:noFill/>
          <a:ln/>
        </p:spPr>
        <p:txBody>
          <a:bodyPr wrap="square" rtlCol="0" anchor="ctr"/>
          <a:lstStyle/>
          <a:p>
            <a:pPr marL="0" indent="0">
              <a:buNone/>
            </a:pPr>
            <a:r>
              <a:rPr lang="en-US" sz="1100" dirty="0">
                <a:solidFill>
                  <a:srgbClr val="1A1A2E"/>
                </a:solidFill>
                <a:latin typeface="Calibri" pitchFamily="34" charset="0"/>
                <a:ea typeface="Calibri" pitchFamily="34" charset="-122"/>
                <a:cs typeface="Calibri" pitchFamily="34" charset="-120"/>
              </a:rPr>
              <a:t>Cisco AnyConnect VPN provides encrypted remote access for staff. Multi-factor authentication enforced.</a:t>
            </a:r>
            <a:endParaRPr lang="en-US" sz="1100" dirty="0"/>
          </a:p>
        </p:txBody>
      </p:sp>
      <p:sp>
        <p:nvSpPr>
          <p:cNvPr id="24" name="Shape 22"/>
          <p:cNvSpPr/>
          <p:nvPr/>
        </p:nvSpPr>
        <p:spPr>
          <a:xfrm>
            <a:off x="4754880" y="3566160"/>
            <a:ext cx="4114800" cy="1097280"/>
          </a:xfrm>
          <a:prstGeom prst="rect">
            <a:avLst/>
          </a:prstGeom>
          <a:solidFill>
            <a:srgbClr val="E8F0F8"/>
          </a:solidFill>
          <a:ln w="12700">
            <a:solidFill>
              <a:srgbClr val="00A3E0"/>
            </a:solidFill>
            <a:prstDash val="solid"/>
          </a:ln>
        </p:spPr>
        <p:txBody>
          <a:bodyPr/>
          <a:lstStyle/>
          <a:p>
            <a:endParaRPr lang="en-ZA"/>
          </a:p>
        </p:txBody>
      </p:sp>
      <p:sp>
        <p:nvSpPr>
          <p:cNvPr id="25" name="Shape 23"/>
          <p:cNvSpPr/>
          <p:nvPr/>
        </p:nvSpPr>
        <p:spPr>
          <a:xfrm>
            <a:off x="4754880" y="3566160"/>
            <a:ext cx="109728" cy="1097280"/>
          </a:xfrm>
          <a:prstGeom prst="rect">
            <a:avLst/>
          </a:prstGeom>
          <a:solidFill>
            <a:srgbClr val="00A3E0"/>
          </a:solidFill>
          <a:ln w="12700">
            <a:solidFill>
              <a:srgbClr val="00A3E0"/>
            </a:solidFill>
            <a:prstDash val="solid"/>
          </a:ln>
        </p:spPr>
        <p:txBody>
          <a:bodyPr/>
          <a:lstStyle/>
          <a:p>
            <a:endParaRPr lang="en-ZA"/>
          </a:p>
        </p:txBody>
      </p:sp>
      <p:sp>
        <p:nvSpPr>
          <p:cNvPr id="26" name="Text 24"/>
          <p:cNvSpPr/>
          <p:nvPr/>
        </p:nvSpPr>
        <p:spPr>
          <a:xfrm>
            <a:off x="4937760" y="3639312"/>
            <a:ext cx="3840480" cy="320040"/>
          </a:xfrm>
          <a:prstGeom prst="rect">
            <a:avLst/>
          </a:prstGeom>
          <a:noFill/>
          <a:ln/>
        </p:spPr>
        <p:txBody>
          <a:bodyPr wrap="square" rtlCol="0" anchor="ctr"/>
          <a:lstStyle/>
          <a:p>
            <a:pPr marL="0" indent="0">
              <a:buNone/>
            </a:pPr>
            <a:r>
              <a:rPr lang="en-US" sz="1300" b="1" dirty="0">
                <a:solidFill>
                  <a:srgbClr val="00A3E0"/>
                </a:solidFill>
                <a:latin typeface="Calibri" pitchFamily="34" charset="0"/>
                <a:ea typeface="Calibri" pitchFamily="34" charset="-122"/>
                <a:cs typeface="Calibri" pitchFamily="34" charset="-120"/>
              </a:rPr>
              <a:t>BYOD Policy</a:t>
            </a:r>
            <a:endParaRPr lang="en-US" sz="1300" dirty="0"/>
          </a:p>
        </p:txBody>
      </p:sp>
      <p:sp>
        <p:nvSpPr>
          <p:cNvPr id="27" name="Text 25"/>
          <p:cNvSpPr/>
          <p:nvPr/>
        </p:nvSpPr>
        <p:spPr>
          <a:xfrm>
            <a:off x="4937760" y="3950208"/>
            <a:ext cx="3840480" cy="640080"/>
          </a:xfrm>
          <a:prstGeom prst="rect">
            <a:avLst/>
          </a:prstGeom>
          <a:noFill/>
          <a:ln/>
        </p:spPr>
        <p:txBody>
          <a:bodyPr wrap="square" rtlCol="0" anchor="ctr"/>
          <a:lstStyle/>
          <a:p>
            <a:pPr marL="0" indent="0">
              <a:buNone/>
            </a:pPr>
            <a:r>
              <a:rPr lang="en-US" sz="1100" dirty="0">
                <a:solidFill>
                  <a:srgbClr val="1A1A2E"/>
                </a:solidFill>
                <a:latin typeface="Calibri" pitchFamily="34" charset="0"/>
                <a:ea typeface="Calibri" pitchFamily="34" charset="-122"/>
                <a:cs typeface="Calibri" pitchFamily="34" charset="-120"/>
              </a:rPr>
              <a:t>Personal devices treated as untrusted. Connected on staff VLANs with ACL restrictions. Must support WPA2.</a:t>
            </a:r>
            <a:endParaRPr lang="en-US" sz="1100" dirty="0"/>
          </a:p>
        </p:txBody>
      </p:sp>
      <p:sp>
        <p:nvSpPr>
          <p:cNvPr id="28" name="Shape 26"/>
          <p:cNvSpPr/>
          <p:nvPr/>
        </p:nvSpPr>
        <p:spPr>
          <a:xfrm>
            <a:off x="0" y="4937760"/>
            <a:ext cx="9144000" cy="457200"/>
          </a:xfrm>
          <a:prstGeom prst="rect">
            <a:avLst/>
          </a:prstGeom>
          <a:solidFill>
            <a:srgbClr val="1E3A5F"/>
          </a:solidFill>
          <a:ln w="12700">
            <a:solidFill>
              <a:srgbClr val="1E3A5F"/>
            </a:solidFill>
            <a:prstDash val="solid"/>
          </a:ln>
        </p:spPr>
        <p:txBody>
          <a:bodyPr/>
          <a:lstStyle/>
          <a:p>
            <a:endParaRPr lang="en-ZA"/>
          </a:p>
        </p:txBody>
      </p:sp>
      <p:sp>
        <p:nvSpPr>
          <p:cNvPr id="29" name="Text 27"/>
          <p:cNvSpPr/>
          <p:nvPr/>
        </p:nvSpPr>
        <p:spPr>
          <a:xfrm>
            <a:off x="274320" y="4937760"/>
            <a:ext cx="8595360" cy="457200"/>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Multiple security layers: VLANs + ACLs + NAT + WPA2 + VPN</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E3A5F"/>
          </a:solidFill>
          <a:ln w="12700">
            <a:solidFill>
              <a:srgbClr val="1E3A5F"/>
            </a:solidFill>
            <a:prstDash val="solid"/>
          </a:ln>
        </p:spPr>
        <p:txBody>
          <a:bodyPr/>
          <a:lstStyle/>
          <a:p>
            <a:endParaRPr lang="en-ZA" dirty="0"/>
          </a:p>
        </p:txBody>
      </p:sp>
      <p:sp>
        <p:nvSpPr>
          <p:cNvPr id="3" name="Text 1"/>
          <p:cNvSpPr/>
          <p:nvPr/>
        </p:nvSpPr>
        <p:spPr>
          <a:xfrm>
            <a:off x="365760" y="0"/>
            <a:ext cx="8412480" cy="100584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Budget Overview</a:t>
            </a:r>
          </a:p>
          <a:p>
            <a:pPr marL="0" indent="0">
              <a:buNone/>
            </a:pPr>
            <a:endParaRPr lang="en-US" sz="2600" dirty="0"/>
          </a:p>
        </p:txBody>
      </p:sp>
      <p:graphicFrame>
        <p:nvGraphicFramePr>
          <p:cNvPr id="15" name="Table 0"/>
          <p:cNvGraphicFramePr>
            <a:graphicFrameLocks noGrp="1"/>
          </p:cNvGraphicFramePr>
          <p:nvPr>
            <p:extLst>
              <p:ext uri="{D42A27DB-BD31-4B8C-83A1-F6EECF244321}">
                <p14:modId xmlns:p14="http://schemas.microsoft.com/office/powerpoint/2010/main" val="3440167174"/>
              </p:ext>
            </p:extLst>
          </p:nvPr>
        </p:nvGraphicFramePr>
        <p:xfrm>
          <a:off x="514905" y="720852"/>
          <a:ext cx="5154375" cy="3944112"/>
        </p:xfrm>
        <a:graphic>
          <a:graphicData uri="http://schemas.openxmlformats.org/drawingml/2006/table">
            <a:tbl>
              <a:tblPr/>
              <a:tblGrid>
                <a:gridCol w="3142695">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tblGrid>
              <a:tr h="283464">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Item</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E3A5F"/>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Qty</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E3A5F"/>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Total (ZAR)</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E3A5F"/>
                    </a:solidFill>
                  </a:tcPr>
                </a:tc>
                <a:extLst>
                  <a:ext uri="{0D108BD9-81ED-4DB2-BD59-A6C34878D82A}">
                    <a16:rowId xmlns:a16="http://schemas.microsoft.com/office/drawing/2014/main" val="10000"/>
                  </a:ext>
                </a:extLst>
              </a:tr>
              <a:tr h="283464">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Cisco 1941 Router</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R 2250</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1"/>
                  </a:ext>
                </a:extLst>
              </a:tr>
              <a:tr h="283464">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Distribution Switches (3650)</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R 31,116</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2"/>
                  </a:ext>
                </a:extLst>
              </a:tr>
              <a:tr h="283464">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Small Switches (&lt;8 port)</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charset="0"/>
                          <a:cs typeface="Calibri" pitchFamily="34" charset="-120"/>
                        </a:rPr>
                        <a:t>30</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R 12,600</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3"/>
                  </a:ext>
                </a:extLst>
              </a:tr>
              <a:tr h="283464">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Wireless Access Points</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charset="0"/>
                          <a:cs typeface="Calibri" pitchFamily="34" charset="-120"/>
                        </a:rPr>
                        <a:t>8</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R 11,352</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4"/>
                  </a:ext>
                </a:extLst>
              </a:tr>
              <a:tr h="283464">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Cat6 Cabling (305m drums)</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R 4300</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5"/>
                  </a:ext>
                </a:extLst>
              </a:tr>
              <a:tr h="283464">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Patch Panels + Network Rack</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charset="0"/>
                          <a:cs typeface="Calibri" pitchFamily="34" charset="-120"/>
                        </a:rPr>
                        <a:t>2</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R 1150</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6"/>
                  </a:ext>
                </a:extLst>
              </a:tr>
              <a:tr h="283464">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Wall Plates + Keystone Jacks</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charset="0"/>
                          <a:cs typeface="Calibri" pitchFamily="34" charset="-120"/>
                        </a:rPr>
                        <a:t>30</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R 570</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7"/>
                  </a:ext>
                </a:extLst>
              </a:tr>
              <a:tr h="283464">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Cable </a:t>
                      </a:r>
                      <a:r>
                        <a:rPr lang="en-US" sz="1100" dirty="0" err="1">
                          <a:solidFill>
                            <a:srgbClr val="000000"/>
                          </a:solidFill>
                          <a:latin typeface="Calibri" pitchFamily="34" charset="0"/>
                          <a:ea typeface="Calibri" pitchFamily="34" charset="-122"/>
                          <a:cs typeface="Calibri" pitchFamily="34" charset="-120"/>
                        </a:rPr>
                        <a:t>Trunking</a:t>
                      </a:r>
                      <a:r>
                        <a:rPr lang="en-US" sz="1100" dirty="0">
                          <a:solidFill>
                            <a:srgbClr val="000000"/>
                          </a:solidFill>
                          <a:latin typeface="Calibri" pitchFamily="34" charset="0"/>
                          <a:ea typeface="Calibri" pitchFamily="34" charset="-122"/>
                          <a:cs typeface="Calibri" pitchFamily="34" charset="-120"/>
                        </a:rPr>
                        <a:t> (50mm x 3m length)</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charset="0"/>
                          <a:cs typeface="Calibri" pitchFamily="34" charset="-120"/>
                        </a:rPr>
                        <a:t>40</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R 22,356</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8"/>
                  </a:ext>
                </a:extLst>
              </a:tr>
              <a:tr h="283464">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VPN Licence (Cisco AnyConnect)</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R 18,644.80</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9"/>
                  </a:ext>
                </a:extLst>
              </a:tr>
              <a:tr h="283464">
                <a:tc>
                  <a:txBody>
                    <a:bodyPr/>
                    <a:lstStyle/>
                    <a:p>
                      <a:pPr marL="0" indent="0">
                        <a:buNone/>
                      </a:pPr>
                      <a:r>
                        <a:rPr lang="en-US" sz="1100" i="1" dirty="0">
                          <a:solidFill>
                            <a:srgbClr val="000000"/>
                          </a:solidFill>
                          <a:latin typeface="Calibri" pitchFamily="34" charset="0"/>
                          <a:ea typeface="Calibri" pitchFamily="34" charset="-122"/>
                          <a:cs typeface="Calibri" pitchFamily="34" charset="-120"/>
                        </a:rPr>
                        <a:t>Labour — 9 days, network technician</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buNone/>
                      </a:pPr>
                      <a:r>
                        <a:rPr lang="en-US" sz="1100" dirty="0">
                          <a:latin typeface="Calibri" charset="0"/>
                          <a:ea typeface="Calibri" charset="0"/>
                          <a:cs typeface="Calibri" charset="0"/>
                        </a:rPr>
                        <a:t>3 technicians</a:t>
                      </a: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R 13,500</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10"/>
                  </a:ext>
                </a:extLst>
              </a:tr>
              <a:tr h="399288">
                <a:tc>
                  <a:txBody>
                    <a:bodyPr/>
                    <a:lstStyle/>
                    <a:p>
                      <a:pPr marL="0" indent="0">
                        <a:buNone/>
                      </a:pPr>
                      <a:r>
                        <a:rPr lang="en-US" sz="1100" i="1" dirty="0">
                          <a:solidFill>
                            <a:srgbClr val="000000"/>
                          </a:solidFill>
                          <a:latin typeface="Calibri" pitchFamily="34" charset="0"/>
                          <a:ea typeface="Calibri" pitchFamily="34" charset="-122"/>
                          <a:cs typeface="Calibri" pitchFamily="34" charset="-120"/>
                        </a:rPr>
                        <a:t>Contingency 20% ( unforeseen expenses)</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buNone/>
                      </a:pP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R 23,567.76</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11"/>
                  </a:ext>
                </a:extLst>
              </a:tr>
              <a:tr h="283464">
                <a:tc>
                  <a:txBody>
                    <a:bodyPr/>
                    <a:lstStyle/>
                    <a:p>
                      <a:pPr marL="0" indent="0">
                        <a:buNone/>
                      </a:pPr>
                      <a:r>
                        <a:rPr lang="en-US" sz="1100" b="1" dirty="0">
                          <a:solidFill>
                            <a:srgbClr val="1E3A5F"/>
                          </a:solidFill>
                          <a:latin typeface="Calibri" pitchFamily="34" charset="0"/>
                          <a:ea typeface="Calibri" pitchFamily="34" charset="-122"/>
                          <a:cs typeface="Calibri" pitchFamily="34" charset="-120"/>
                        </a:rPr>
                        <a:t>TOTAL</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buNone/>
                      </a:pP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buNone/>
                      </a:pPr>
                      <a:r>
                        <a:rPr lang="en-US" sz="1100" b="1" dirty="0">
                          <a:solidFill>
                            <a:srgbClr val="1E3A5F"/>
                          </a:solidFill>
                          <a:latin typeface="Calibri" pitchFamily="34" charset="0"/>
                          <a:ea typeface="Calibri" pitchFamily="34" charset="-122"/>
                          <a:cs typeface="Calibri" pitchFamily="34" charset="-120"/>
                        </a:rPr>
                        <a:t>R 141,406.56</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12"/>
                  </a:ext>
                </a:extLst>
              </a:tr>
            </a:tbl>
          </a:graphicData>
        </a:graphic>
      </p:graphicFrame>
      <p:sp>
        <p:nvSpPr>
          <p:cNvPr id="5" name="Text 2"/>
          <p:cNvSpPr/>
          <p:nvPr/>
        </p:nvSpPr>
        <p:spPr>
          <a:xfrm>
            <a:off x="5760720" y="1097280"/>
            <a:ext cx="3108960" cy="347472"/>
          </a:xfrm>
          <a:prstGeom prst="rect">
            <a:avLst/>
          </a:prstGeom>
          <a:noFill/>
          <a:ln/>
        </p:spPr>
        <p:txBody>
          <a:bodyPr wrap="square" rtlCol="0" anchor="ctr"/>
          <a:lstStyle/>
          <a:p>
            <a:pPr marL="0" indent="0">
              <a:buNone/>
            </a:pPr>
            <a:r>
              <a:rPr lang="en-US" sz="1400" b="1" dirty="0">
                <a:solidFill>
                  <a:srgbClr val="1E3A5F"/>
                </a:solidFill>
                <a:latin typeface="Calibri" pitchFamily="34" charset="0"/>
                <a:ea typeface="Calibri" pitchFamily="34" charset="-122"/>
                <a:cs typeface="Calibri" pitchFamily="34" charset="-120"/>
              </a:rPr>
              <a:t>Key Notes</a:t>
            </a:r>
            <a:endParaRPr lang="en-US" sz="1400" dirty="0"/>
          </a:p>
        </p:txBody>
      </p:sp>
      <p:sp>
        <p:nvSpPr>
          <p:cNvPr id="6" name="Shape 3"/>
          <p:cNvSpPr/>
          <p:nvPr/>
        </p:nvSpPr>
        <p:spPr>
          <a:xfrm>
            <a:off x="5760720" y="1508760"/>
            <a:ext cx="3108960" cy="402336"/>
          </a:xfrm>
          <a:prstGeom prst="rect">
            <a:avLst/>
          </a:prstGeom>
          <a:solidFill>
            <a:srgbClr val="E8F0F8"/>
          </a:solidFill>
          <a:ln w="12700">
            <a:solidFill>
              <a:srgbClr val="CCDDEE"/>
            </a:solidFill>
            <a:prstDash val="solid"/>
          </a:ln>
        </p:spPr>
        <p:txBody>
          <a:bodyPr/>
          <a:lstStyle/>
          <a:p>
            <a:endParaRPr lang="en-ZA"/>
          </a:p>
        </p:txBody>
      </p:sp>
      <p:sp>
        <p:nvSpPr>
          <p:cNvPr id="7" name="Text 4"/>
          <p:cNvSpPr/>
          <p:nvPr/>
        </p:nvSpPr>
        <p:spPr>
          <a:xfrm>
            <a:off x="5852160" y="1508760"/>
            <a:ext cx="2926080" cy="402336"/>
          </a:xfrm>
          <a:prstGeom prst="rect">
            <a:avLst/>
          </a:prstGeom>
          <a:noFill/>
          <a:ln/>
        </p:spPr>
        <p:txBody>
          <a:bodyPr wrap="square" rtlCol="0" anchor="ctr"/>
          <a:lstStyle/>
          <a:p>
            <a:pPr marL="0" indent="0">
              <a:buNone/>
            </a:pPr>
            <a:r>
              <a:rPr lang="en-US" sz="1100" dirty="0">
                <a:solidFill>
                  <a:srgbClr val="1A1A2E"/>
                </a:solidFill>
                <a:latin typeface="Calibri" pitchFamily="34" charset="0"/>
                <a:ea typeface="Calibri" pitchFamily="34" charset="-122"/>
                <a:cs typeface="Calibri" pitchFamily="34" charset="-120"/>
              </a:rPr>
              <a:t>Prices from South African retailers</a:t>
            </a:r>
            <a:endParaRPr lang="en-US" sz="1100" dirty="0"/>
          </a:p>
        </p:txBody>
      </p:sp>
      <p:sp>
        <p:nvSpPr>
          <p:cNvPr id="8" name="Shape 5"/>
          <p:cNvSpPr/>
          <p:nvPr/>
        </p:nvSpPr>
        <p:spPr>
          <a:xfrm>
            <a:off x="5760720" y="1947672"/>
            <a:ext cx="3108960" cy="402336"/>
          </a:xfrm>
          <a:prstGeom prst="rect">
            <a:avLst/>
          </a:prstGeom>
          <a:solidFill>
            <a:srgbClr val="FFFFFF"/>
          </a:solidFill>
          <a:ln w="12700">
            <a:solidFill>
              <a:srgbClr val="CCDDEE"/>
            </a:solidFill>
            <a:prstDash val="solid"/>
          </a:ln>
        </p:spPr>
        <p:txBody>
          <a:bodyPr/>
          <a:lstStyle/>
          <a:p>
            <a:endParaRPr lang="en-ZA"/>
          </a:p>
        </p:txBody>
      </p:sp>
      <p:sp>
        <p:nvSpPr>
          <p:cNvPr id="9" name="Text 6"/>
          <p:cNvSpPr/>
          <p:nvPr/>
        </p:nvSpPr>
        <p:spPr>
          <a:xfrm>
            <a:off x="5852160" y="1947672"/>
            <a:ext cx="2926080" cy="402336"/>
          </a:xfrm>
          <a:prstGeom prst="rect">
            <a:avLst/>
          </a:prstGeom>
          <a:noFill/>
          <a:ln/>
        </p:spPr>
        <p:txBody>
          <a:bodyPr wrap="square" rtlCol="0" anchor="ctr"/>
          <a:lstStyle/>
          <a:p>
            <a:pPr marL="0" indent="0">
              <a:buNone/>
            </a:pPr>
            <a:r>
              <a:rPr lang="en-US" sz="1100" dirty="0">
                <a:solidFill>
                  <a:srgbClr val="1A1A2E"/>
                </a:solidFill>
                <a:latin typeface="Calibri" pitchFamily="34" charset="0"/>
                <a:ea typeface="Calibri" pitchFamily="34" charset="-122"/>
                <a:cs typeface="Calibri" pitchFamily="34" charset="-120"/>
              </a:rPr>
              <a:t>Servers and PCs excluded — owned</a:t>
            </a:r>
            <a:endParaRPr lang="en-US" sz="1100" dirty="0"/>
          </a:p>
        </p:txBody>
      </p:sp>
      <p:sp>
        <p:nvSpPr>
          <p:cNvPr id="10" name="Shape 7"/>
          <p:cNvSpPr/>
          <p:nvPr/>
        </p:nvSpPr>
        <p:spPr>
          <a:xfrm>
            <a:off x="5760720" y="2386584"/>
            <a:ext cx="3108960" cy="402336"/>
          </a:xfrm>
          <a:prstGeom prst="rect">
            <a:avLst/>
          </a:prstGeom>
          <a:solidFill>
            <a:srgbClr val="E8F0F8"/>
          </a:solidFill>
          <a:ln w="12700">
            <a:solidFill>
              <a:srgbClr val="CCDDEE"/>
            </a:solidFill>
            <a:prstDash val="solid"/>
          </a:ln>
        </p:spPr>
        <p:txBody>
          <a:bodyPr/>
          <a:lstStyle/>
          <a:p>
            <a:endParaRPr lang="en-ZA"/>
          </a:p>
        </p:txBody>
      </p:sp>
      <p:sp>
        <p:nvSpPr>
          <p:cNvPr id="11" name="Text 8"/>
          <p:cNvSpPr/>
          <p:nvPr/>
        </p:nvSpPr>
        <p:spPr>
          <a:xfrm>
            <a:off x="5852160" y="2386584"/>
            <a:ext cx="2926080" cy="402336"/>
          </a:xfrm>
          <a:prstGeom prst="rect">
            <a:avLst/>
          </a:prstGeom>
          <a:noFill/>
          <a:ln/>
        </p:spPr>
        <p:txBody>
          <a:bodyPr wrap="square" rtlCol="0" anchor="ctr"/>
          <a:lstStyle/>
          <a:p>
            <a:pPr marL="0" indent="0">
              <a:buNone/>
            </a:pPr>
            <a:r>
              <a:rPr lang="en-US" sz="1100" dirty="0">
                <a:solidFill>
                  <a:srgbClr val="1A1A2E"/>
                </a:solidFill>
                <a:latin typeface="Calibri" pitchFamily="34" charset="0"/>
                <a:ea typeface="Calibri" pitchFamily="34" charset="-122"/>
                <a:cs typeface="Calibri" pitchFamily="34" charset="-120"/>
              </a:rPr>
              <a:t>Network technician rate: R3,000/day</a:t>
            </a:r>
            <a:endParaRPr lang="en-US" sz="1100" dirty="0"/>
          </a:p>
        </p:txBody>
      </p:sp>
      <p:sp>
        <p:nvSpPr>
          <p:cNvPr id="12" name="Shape 9"/>
          <p:cNvSpPr/>
          <p:nvPr/>
        </p:nvSpPr>
        <p:spPr>
          <a:xfrm>
            <a:off x="5760720" y="2825496"/>
            <a:ext cx="3108960" cy="402336"/>
          </a:xfrm>
          <a:prstGeom prst="rect">
            <a:avLst/>
          </a:prstGeom>
          <a:solidFill>
            <a:srgbClr val="FFFFFF"/>
          </a:solidFill>
          <a:ln w="12700">
            <a:solidFill>
              <a:srgbClr val="CCDDEE"/>
            </a:solidFill>
            <a:prstDash val="solid"/>
          </a:ln>
        </p:spPr>
        <p:txBody>
          <a:bodyPr/>
          <a:lstStyle/>
          <a:p>
            <a:endParaRPr lang="en-ZA"/>
          </a:p>
        </p:txBody>
      </p:sp>
      <p:sp>
        <p:nvSpPr>
          <p:cNvPr id="13" name="Text 10"/>
          <p:cNvSpPr/>
          <p:nvPr/>
        </p:nvSpPr>
        <p:spPr>
          <a:xfrm>
            <a:off x="5852160" y="2825496"/>
            <a:ext cx="2926080" cy="402336"/>
          </a:xfrm>
          <a:prstGeom prst="rect">
            <a:avLst/>
          </a:prstGeom>
          <a:noFill/>
          <a:ln/>
        </p:spPr>
        <p:txBody>
          <a:bodyPr wrap="square" rtlCol="0" anchor="ctr"/>
          <a:lstStyle/>
          <a:p>
            <a:pPr marL="0" indent="0">
              <a:buNone/>
            </a:pPr>
            <a:r>
              <a:rPr lang="en-US" sz="1100" dirty="0">
                <a:solidFill>
                  <a:srgbClr val="1A1A2E"/>
                </a:solidFill>
                <a:latin typeface="Calibri" pitchFamily="34" charset="0"/>
                <a:ea typeface="Calibri" pitchFamily="34" charset="-122"/>
                <a:cs typeface="Calibri" pitchFamily="34" charset="-120"/>
              </a:rPr>
              <a:t>No engineers — not required</a:t>
            </a:r>
            <a:endParaRPr lang="en-US" sz="1100" dirty="0"/>
          </a:p>
        </p:txBody>
      </p:sp>
      <p:sp>
        <p:nvSpPr>
          <p:cNvPr id="14" name="Shape 11"/>
          <p:cNvSpPr/>
          <p:nvPr/>
        </p:nvSpPr>
        <p:spPr>
          <a:xfrm>
            <a:off x="5760720" y="3264408"/>
            <a:ext cx="3108960" cy="402336"/>
          </a:xfrm>
          <a:prstGeom prst="rect">
            <a:avLst/>
          </a:prstGeom>
          <a:solidFill>
            <a:srgbClr val="E8F0F8"/>
          </a:solidFill>
          <a:ln w="12700">
            <a:solidFill>
              <a:srgbClr val="CCDDEE"/>
            </a:solidFill>
            <a:prstDash val="solid"/>
          </a:ln>
        </p:spPr>
        <p:txBody>
          <a:bodyPr/>
          <a:lstStyle/>
          <a:p>
            <a:endParaRPr lang="en-ZA"/>
          </a:p>
        </p:txBody>
      </p:sp>
      <p:sp>
        <p:nvSpPr>
          <p:cNvPr id="4" name="Text 12"/>
          <p:cNvSpPr/>
          <p:nvPr/>
        </p:nvSpPr>
        <p:spPr>
          <a:xfrm>
            <a:off x="5852160" y="3264408"/>
            <a:ext cx="2926080" cy="402336"/>
          </a:xfrm>
          <a:prstGeom prst="rect">
            <a:avLst/>
          </a:prstGeom>
          <a:noFill/>
          <a:ln/>
        </p:spPr>
        <p:txBody>
          <a:bodyPr wrap="square" rtlCol="0" anchor="ctr"/>
          <a:lstStyle/>
          <a:p>
            <a:pPr marL="0" indent="0">
              <a:buNone/>
            </a:pPr>
            <a:r>
              <a:rPr lang="en-US" sz="1100" dirty="0">
                <a:solidFill>
                  <a:srgbClr val="1A1A2E"/>
                </a:solidFill>
                <a:latin typeface="Calibri" pitchFamily="34" charset="0"/>
                <a:ea typeface="Calibri" pitchFamily="34" charset="-122"/>
                <a:cs typeface="Calibri" pitchFamily="34" charset="-120"/>
              </a:rPr>
              <a:t>20% contingency included</a:t>
            </a:r>
            <a:endParaRPr lang="en-US" sz="1100" dirty="0"/>
          </a:p>
        </p:txBody>
      </p:sp>
      <p:sp>
        <p:nvSpPr>
          <p:cNvPr id="16" name="Shape 13"/>
          <p:cNvSpPr/>
          <p:nvPr/>
        </p:nvSpPr>
        <p:spPr>
          <a:xfrm>
            <a:off x="5760720" y="3703320"/>
            <a:ext cx="3108960" cy="402336"/>
          </a:xfrm>
          <a:prstGeom prst="rect">
            <a:avLst/>
          </a:prstGeom>
          <a:solidFill>
            <a:srgbClr val="FFFFFF"/>
          </a:solidFill>
          <a:ln w="12700">
            <a:solidFill>
              <a:srgbClr val="CCDDEE"/>
            </a:solidFill>
            <a:prstDash val="solid"/>
          </a:ln>
        </p:spPr>
        <p:txBody>
          <a:bodyPr/>
          <a:lstStyle/>
          <a:p>
            <a:endParaRPr lang="en-ZA"/>
          </a:p>
        </p:txBody>
      </p:sp>
      <p:sp>
        <p:nvSpPr>
          <p:cNvPr id="17" name="Text 14"/>
          <p:cNvSpPr/>
          <p:nvPr/>
        </p:nvSpPr>
        <p:spPr>
          <a:xfrm>
            <a:off x="5852160" y="3703320"/>
            <a:ext cx="2926080" cy="402336"/>
          </a:xfrm>
          <a:prstGeom prst="rect">
            <a:avLst/>
          </a:prstGeom>
          <a:noFill/>
          <a:ln/>
        </p:spPr>
        <p:txBody>
          <a:bodyPr wrap="square" rtlCol="0" anchor="ctr"/>
          <a:lstStyle/>
          <a:p>
            <a:pPr marL="0" indent="0">
              <a:buNone/>
            </a:pPr>
            <a:r>
              <a:rPr lang="en-US" sz="1100" dirty="0">
                <a:solidFill>
                  <a:srgbClr val="1A1A2E"/>
                </a:solidFill>
                <a:latin typeface="Calibri" pitchFamily="34" charset="0"/>
                <a:ea typeface="Calibri" pitchFamily="34" charset="-122"/>
                <a:cs typeface="Calibri" pitchFamily="34" charset="-120"/>
              </a:rPr>
              <a:t>Real-world prices verified online</a:t>
            </a:r>
            <a:endParaRPr lang="en-US" sz="1100" dirty="0"/>
          </a:p>
        </p:txBody>
      </p:sp>
      <p:sp>
        <p:nvSpPr>
          <p:cNvPr id="18" name="Shape 15"/>
          <p:cNvSpPr/>
          <p:nvPr/>
        </p:nvSpPr>
        <p:spPr>
          <a:xfrm>
            <a:off x="5760720" y="4142232"/>
            <a:ext cx="3108960" cy="402336"/>
          </a:xfrm>
          <a:prstGeom prst="rect">
            <a:avLst/>
          </a:prstGeom>
          <a:solidFill>
            <a:srgbClr val="E8F0F8"/>
          </a:solidFill>
          <a:ln w="12700">
            <a:solidFill>
              <a:srgbClr val="CCDDEE"/>
            </a:solidFill>
            <a:prstDash val="solid"/>
          </a:ln>
        </p:spPr>
        <p:txBody>
          <a:bodyPr/>
          <a:lstStyle/>
          <a:p>
            <a:endParaRPr lang="en-ZA"/>
          </a:p>
        </p:txBody>
      </p:sp>
      <p:sp>
        <p:nvSpPr>
          <p:cNvPr id="19" name="Text 16"/>
          <p:cNvSpPr/>
          <p:nvPr/>
        </p:nvSpPr>
        <p:spPr>
          <a:xfrm>
            <a:off x="5852160" y="4142232"/>
            <a:ext cx="2926080" cy="402336"/>
          </a:xfrm>
          <a:prstGeom prst="rect">
            <a:avLst/>
          </a:prstGeom>
          <a:noFill/>
          <a:ln/>
        </p:spPr>
        <p:txBody>
          <a:bodyPr wrap="square" rtlCol="0" anchor="ctr"/>
          <a:lstStyle/>
          <a:p>
            <a:pPr marL="0" indent="0">
              <a:buNone/>
            </a:pPr>
            <a:r>
              <a:rPr lang="en-US" sz="1100" dirty="0">
                <a:solidFill>
                  <a:srgbClr val="1A1A2E"/>
                </a:solidFill>
                <a:latin typeface="Calibri" pitchFamily="34" charset="0"/>
                <a:ea typeface="Calibri" pitchFamily="34" charset="-122"/>
                <a:cs typeface="Calibri" pitchFamily="34" charset="-120"/>
              </a:rPr>
              <a:t>Labour covers full installation</a:t>
            </a:r>
            <a:endParaRPr lang="en-US" sz="1100" dirty="0"/>
          </a:p>
        </p:txBody>
      </p:sp>
      <p:sp>
        <p:nvSpPr>
          <p:cNvPr id="20" name="Shape 17"/>
          <p:cNvSpPr/>
          <p:nvPr/>
        </p:nvSpPr>
        <p:spPr>
          <a:xfrm>
            <a:off x="0" y="4937760"/>
            <a:ext cx="9144000" cy="457200"/>
          </a:xfrm>
          <a:prstGeom prst="rect">
            <a:avLst/>
          </a:prstGeom>
          <a:solidFill>
            <a:srgbClr val="1E3A5F"/>
          </a:solidFill>
          <a:ln w="12700">
            <a:solidFill>
              <a:srgbClr val="1E3A5F"/>
            </a:solidFill>
            <a:prstDash val="solid"/>
          </a:ln>
        </p:spPr>
        <p:txBody>
          <a:bodyPr/>
          <a:lstStyle/>
          <a:p>
            <a:endParaRPr lang="en-ZA"/>
          </a:p>
        </p:txBody>
      </p:sp>
      <p:sp>
        <p:nvSpPr>
          <p:cNvPr id="21" name="Text 18"/>
          <p:cNvSpPr/>
          <p:nvPr/>
        </p:nvSpPr>
        <p:spPr>
          <a:xfrm>
            <a:off x="274320" y="4937760"/>
            <a:ext cx="8595360" cy="457200"/>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Budget based on current South African market prices  |  20% contingency included  |  Labour for network technicians only</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E3A5F"/>
          </a:solidFill>
          <a:ln w="12700">
            <a:solidFill>
              <a:srgbClr val="1E3A5F"/>
            </a:solidFill>
            <a:prstDash val="solid"/>
          </a:ln>
        </p:spPr>
        <p:txBody>
          <a:bodyPr/>
          <a:lstStyle/>
          <a:p>
            <a:endParaRPr lang="en-ZA"/>
          </a:p>
        </p:txBody>
      </p:sp>
      <p:sp>
        <p:nvSpPr>
          <p:cNvPr id="3" name="Text 1"/>
          <p:cNvSpPr/>
          <p:nvPr/>
        </p:nvSpPr>
        <p:spPr>
          <a:xfrm>
            <a:off x="365760" y="0"/>
            <a:ext cx="8412480" cy="100584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Network Evaluation</a:t>
            </a:r>
            <a:endParaRPr lang="en-US" sz="2600" dirty="0"/>
          </a:p>
        </p:txBody>
      </p:sp>
      <p:sp>
        <p:nvSpPr>
          <p:cNvPr id="4" name="Shape 2"/>
          <p:cNvSpPr/>
          <p:nvPr/>
        </p:nvSpPr>
        <p:spPr>
          <a:xfrm>
            <a:off x="274320" y="1051560"/>
            <a:ext cx="4023360" cy="347472"/>
          </a:xfrm>
          <a:prstGeom prst="rect">
            <a:avLst/>
          </a:prstGeom>
          <a:solidFill>
            <a:srgbClr val="2D6A4F"/>
          </a:solidFill>
          <a:ln w="12700">
            <a:solidFill>
              <a:srgbClr val="2D6A4F"/>
            </a:solidFill>
            <a:prstDash val="solid"/>
          </a:ln>
        </p:spPr>
        <p:txBody>
          <a:bodyPr/>
          <a:lstStyle/>
          <a:p>
            <a:endParaRPr lang="en-ZA"/>
          </a:p>
        </p:txBody>
      </p:sp>
      <p:sp>
        <p:nvSpPr>
          <p:cNvPr id="5" name="Text 3"/>
          <p:cNvSpPr/>
          <p:nvPr/>
        </p:nvSpPr>
        <p:spPr>
          <a:xfrm>
            <a:off x="274320" y="1051560"/>
            <a:ext cx="4023360" cy="347472"/>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What Works Well</a:t>
            </a:r>
            <a:endParaRPr lang="en-US" sz="1300" dirty="0"/>
          </a:p>
        </p:txBody>
      </p:sp>
      <p:sp>
        <p:nvSpPr>
          <p:cNvPr id="6" name="Shape 4"/>
          <p:cNvSpPr/>
          <p:nvPr/>
        </p:nvSpPr>
        <p:spPr>
          <a:xfrm>
            <a:off x="274320" y="1426464"/>
            <a:ext cx="4023360" cy="365760"/>
          </a:xfrm>
          <a:prstGeom prst="rect">
            <a:avLst/>
          </a:prstGeom>
          <a:solidFill>
            <a:srgbClr val="F0FFF4"/>
          </a:solidFill>
          <a:ln w="12700">
            <a:solidFill>
              <a:srgbClr val="AADDBB"/>
            </a:solidFill>
            <a:prstDash val="solid"/>
          </a:ln>
        </p:spPr>
        <p:txBody>
          <a:bodyPr/>
          <a:lstStyle/>
          <a:p>
            <a:endParaRPr lang="en-ZA"/>
          </a:p>
        </p:txBody>
      </p:sp>
      <p:sp>
        <p:nvSpPr>
          <p:cNvPr id="7" name="Text 5"/>
          <p:cNvSpPr/>
          <p:nvPr/>
        </p:nvSpPr>
        <p:spPr>
          <a:xfrm>
            <a:off x="365760" y="1426464"/>
            <a:ext cx="3840480" cy="365760"/>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Centralised management — all equipment in one place</a:t>
            </a:r>
            <a:endParaRPr lang="en-US" sz="1050" dirty="0"/>
          </a:p>
        </p:txBody>
      </p:sp>
      <p:sp>
        <p:nvSpPr>
          <p:cNvPr id="8" name="Shape 6"/>
          <p:cNvSpPr/>
          <p:nvPr/>
        </p:nvSpPr>
        <p:spPr>
          <a:xfrm>
            <a:off x="274320" y="1810512"/>
            <a:ext cx="4023360" cy="365760"/>
          </a:xfrm>
          <a:prstGeom prst="rect">
            <a:avLst/>
          </a:prstGeom>
          <a:solidFill>
            <a:srgbClr val="FFFFFF"/>
          </a:solidFill>
          <a:ln w="12700">
            <a:solidFill>
              <a:srgbClr val="AADDBB"/>
            </a:solidFill>
            <a:prstDash val="solid"/>
          </a:ln>
        </p:spPr>
        <p:txBody>
          <a:bodyPr/>
          <a:lstStyle/>
          <a:p>
            <a:endParaRPr lang="en-ZA"/>
          </a:p>
        </p:txBody>
      </p:sp>
      <p:sp>
        <p:nvSpPr>
          <p:cNvPr id="9" name="Text 7"/>
          <p:cNvSpPr/>
          <p:nvPr/>
        </p:nvSpPr>
        <p:spPr>
          <a:xfrm>
            <a:off x="365760" y="1810512"/>
            <a:ext cx="3840480" cy="365760"/>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Cost efficient — one router handles all VLANs</a:t>
            </a:r>
            <a:endParaRPr lang="en-US" sz="1050" dirty="0"/>
          </a:p>
        </p:txBody>
      </p:sp>
      <p:sp>
        <p:nvSpPr>
          <p:cNvPr id="10" name="Shape 8"/>
          <p:cNvSpPr/>
          <p:nvPr/>
        </p:nvSpPr>
        <p:spPr>
          <a:xfrm>
            <a:off x="274320" y="2194560"/>
            <a:ext cx="4023360" cy="365760"/>
          </a:xfrm>
          <a:prstGeom prst="rect">
            <a:avLst/>
          </a:prstGeom>
          <a:solidFill>
            <a:srgbClr val="F0FFF4"/>
          </a:solidFill>
          <a:ln w="12700">
            <a:solidFill>
              <a:srgbClr val="AADDBB"/>
            </a:solidFill>
            <a:prstDash val="solid"/>
          </a:ln>
        </p:spPr>
        <p:txBody>
          <a:bodyPr/>
          <a:lstStyle/>
          <a:p>
            <a:endParaRPr lang="en-ZA" dirty="0"/>
          </a:p>
        </p:txBody>
      </p:sp>
      <p:sp>
        <p:nvSpPr>
          <p:cNvPr id="11" name="Text 9"/>
          <p:cNvSpPr/>
          <p:nvPr/>
        </p:nvSpPr>
        <p:spPr>
          <a:xfrm>
            <a:off x="365760" y="2194560"/>
            <a:ext cx="3840480" cy="365760"/>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Scalable — add devices without redesigning</a:t>
            </a:r>
            <a:endParaRPr lang="en-US" sz="1050" dirty="0"/>
          </a:p>
        </p:txBody>
      </p:sp>
      <p:sp>
        <p:nvSpPr>
          <p:cNvPr id="12" name="Shape 10"/>
          <p:cNvSpPr/>
          <p:nvPr/>
        </p:nvSpPr>
        <p:spPr>
          <a:xfrm>
            <a:off x="274320" y="2578608"/>
            <a:ext cx="4023360" cy="365760"/>
          </a:xfrm>
          <a:prstGeom prst="rect">
            <a:avLst/>
          </a:prstGeom>
          <a:solidFill>
            <a:srgbClr val="FFFFFF"/>
          </a:solidFill>
          <a:ln w="12700">
            <a:solidFill>
              <a:srgbClr val="AADDBB"/>
            </a:solidFill>
            <a:prstDash val="solid"/>
          </a:ln>
        </p:spPr>
        <p:txBody>
          <a:bodyPr/>
          <a:lstStyle/>
          <a:p>
            <a:endParaRPr lang="en-ZA"/>
          </a:p>
        </p:txBody>
      </p:sp>
      <p:sp>
        <p:nvSpPr>
          <p:cNvPr id="13" name="Text 11"/>
          <p:cNvSpPr/>
          <p:nvPr/>
        </p:nvSpPr>
        <p:spPr>
          <a:xfrm>
            <a:off x="365760" y="2578608"/>
            <a:ext cx="3840480" cy="365760"/>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Multiple security layers — VLANs, ACLs, NAT, WPA2</a:t>
            </a:r>
            <a:endParaRPr lang="en-US" sz="1050" dirty="0"/>
          </a:p>
        </p:txBody>
      </p:sp>
      <p:sp>
        <p:nvSpPr>
          <p:cNvPr id="14" name="Shape 12"/>
          <p:cNvSpPr/>
          <p:nvPr/>
        </p:nvSpPr>
        <p:spPr>
          <a:xfrm>
            <a:off x="274320" y="2962656"/>
            <a:ext cx="4023360" cy="365760"/>
          </a:xfrm>
          <a:prstGeom prst="rect">
            <a:avLst/>
          </a:prstGeom>
          <a:solidFill>
            <a:srgbClr val="F0FFF4"/>
          </a:solidFill>
          <a:ln w="12700">
            <a:solidFill>
              <a:srgbClr val="AADDBB"/>
            </a:solidFill>
            <a:prstDash val="solid"/>
          </a:ln>
        </p:spPr>
        <p:txBody>
          <a:bodyPr/>
          <a:lstStyle/>
          <a:p>
            <a:endParaRPr lang="en-ZA"/>
          </a:p>
        </p:txBody>
      </p:sp>
      <p:sp>
        <p:nvSpPr>
          <p:cNvPr id="15" name="Text 13"/>
          <p:cNvSpPr/>
          <p:nvPr/>
        </p:nvSpPr>
        <p:spPr>
          <a:xfrm>
            <a:off x="365760" y="2962656"/>
            <a:ext cx="3840480" cy="365760"/>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DHCP centralised — automatic IP management</a:t>
            </a:r>
            <a:endParaRPr lang="en-US" sz="1050" dirty="0"/>
          </a:p>
        </p:txBody>
      </p:sp>
      <p:sp>
        <p:nvSpPr>
          <p:cNvPr id="16" name="Shape 14"/>
          <p:cNvSpPr/>
          <p:nvPr/>
        </p:nvSpPr>
        <p:spPr>
          <a:xfrm>
            <a:off x="274320" y="3346704"/>
            <a:ext cx="4023360" cy="365760"/>
          </a:xfrm>
          <a:prstGeom prst="rect">
            <a:avLst/>
          </a:prstGeom>
          <a:solidFill>
            <a:srgbClr val="FFFFFF"/>
          </a:solidFill>
          <a:ln w="12700">
            <a:solidFill>
              <a:srgbClr val="AADDBB"/>
            </a:solidFill>
            <a:prstDash val="solid"/>
          </a:ln>
        </p:spPr>
        <p:txBody>
          <a:bodyPr/>
          <a:lstStyle/>
          <a:p>
            <a:endParaRPr lang="en-ZA"/>
          </a:p>
        </p:txBody>
      </p:sp>
      <p:sp>
        <p:nvSpPr>
          <p:cNvPr id="17" name="Text 15"/>
          <p:cNvSpPr/>
          <p:nvPr/>
        </p:nvSpPr>
        <p:spPr>
          <a:xfrm>
            <a:off x="365760" y="3346704"/>
            <a:ext cx="3840480" cy="365760"/>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Two distribution switches — reduces bottleneck</a:t>
            </a:r>
            <a:endParaRPr lang="en-US" sz="1050" dirty="0"/>
          </a:p>
        </p:txBody>
      </p:sp>
      <p:sp>
        <p:nvSpPr>
          <p:cNvPr id="18" name="Shape 16"/>
          <p:cNvSpPr/>
          <p:nvPr/>
        </p:nvSpPr>
        <p:spPr>
          <a:xfrm>
            <a:off x="4572000" y="1051560"/>
            <a:ext cx="4297680" cy="347472"/>
          </a:xfrm>
          <a:prstGeom prst="rect">
            <a:avLst/>
          </a:prstGeom>
          <a:solidFill>
            <a:srgbClr val="9B2335"/>
          </a:solidFill>
          <a:ln w="12700">
            <a:solidFill>
              <a:srgbClr val="9B2335"/>
            </a:solidFill>
            <a:prstDash val="solid"/>
          </a:ln>
        </p:spPr>
        <p:txBody>
          <a:bodyPr/>
          <a:lstStyle/>
          <a:p>
            <a:endParaRPr lang="en-ZA"/>
          </a:p>
        </p:txBody>
      </p:sp>
      <p:sp>
        <p:nvSpPr>
          <p:cNvPr id="19" name="Text 17"/>
          <p:cNvSpPr/>
          <p:nvPr/>
        </p:nvSpPr>
        <p:spPr>
          <a:xfrm>
            <a:off x="4572000" y="1051560"/>
            <a:ext cx="4297680" cy="347472"/>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What Is Problematic</a:t>
            </a:r>
            <a:endParaRPr lang="en-US" sz="1300" dirty="0"/>
          </a:p>
        </p:txBody>
      </p:sp>
      <p:sp>
        <p:nvSpPr>
          <p:cNvPr id="20" name="Shape 18"/>
          <p:cNvSpPr/>
          <p:nvPr/>
        </p:nvSpPr>
        <p:spPr>
          <a:xfrm>
            <a:off x="4572000" y="1426464"/>
            <a:ext cx="4297680" cy="365760"/>
          </a:xfrm>
          <a:prstGeom prst="rect">
            <a:avLst/>
          </a:prstGeom>
          <a:solidFill>
            <a:srgbClr val="FFF0F0"/>
          </a:solidFill>
          <a:ln w="12700">
            <a:solidFill>
              <a:srgbClr val="DDAAAA"/>
            </a:solidFill>
            <a:prstDash val="solid"/>
          </a:ln>
        </p:spPr>
        <p:txBody>
          <a:bodyPr/>
          <a:lstStyle/>
          <a:p>
            <a:endParaRPr lang="en-ZA" dirty="0"/>
          </a:p>
        </p:txBody>
      </p:sp>
      <p:sp>
        <p:nvSpPr>
          <p:cNvPr id="21" name="Text 19"/>
          <p:cNvSpPr/>
          <p:nvPr/>
        </p:nvSpPr>
        <p:spPr>
          <a:xfrm>
            <a:off x="4663440" y="1426464"/>
            <a:ext cx="4114800" cy="365760"/>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Single point of failure — no redundancy</a:t>
            </a:r>
            <a:endParaRPr lang="en-US" sz="1050" dirty="0"/>
          </a:p>
        </p:txBody>
      </p:sp>
      <p:sp>
        <p:nvSpPr>
          <p:cNvPr id="22" name="Shape 20"/>
          <p:cNvSpPr/>
          <p:nvPr/>
        </p:nvSpPr>
        <p:spPr>
          <a:xfrm>
            <a:off x="4572000" y="1810512"/>
            <a:ext cx="4297680" cy="365760"/>
          </a:xfrm>
          <a:prstGeom prst="rect">
            <a:avLst/>
          </a:prstGeom>
          <a:solidFill>
            <a:srgbClr val="FFFFFF"/>
          </a:solidFill>
          <a:ln w="12700">
            <a:solidFill>
              <a:srgbClr val="DDAAAA"/>
            </a:solidFill>
            <a:prstDash val="solid"/>
          </a:ln>
        </p:spPr>
        <p:txBody>
          <a:bodyPr/>
          <a:lstStyle/>
          <a:p>
            <a:endParaRPr lang="en-ZA"/>
          </a:p>
        </p:txBody>
      </p:sp>
      <p:sp>
        <p:nvSpPr>
          <p:cNvPr id="23" name="Text 21"/>
          <p:cNvSpPr/>
          <p:nvPr/>
        </p:nvSpPr>
        <p:spPr>
          <a:xfrm>
            <a:off x="4663440" y="1810512"/>
            <a:ext cx="4114800" cy="365760"/>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Cable congestion through ceiling spaces</a:t>
            </a:r>
            <a:endParaRPr lang="en-US" sz="1050" dirty="0"/>
          </a:p>
        </p:txBody>
      </p:sp>
      <p:sp>
        <p:nvSpPr>
          <p:cNvPr id="24" name="Shape 22"/>
          <p:cNvSpPr/>
          <p:nvPr/>
        </p:nvSpPr>
        <p:spPr>
          <a:xfrm>
            <a:off x="4572000" y="2194560"/>
            <a:ext cx="4297680" cy="365760"/>
          </a:xfrm>
          <a:prstGeom prst="rect">
            <a:avLst/>
          </a:prstGeom>
          <a:solidFill>
            <a:srgbClr val="FFF0F0"/>
          </a:solidFill>
          <a:ln w="12700">
            <a:solidFill>
              <a:srgbClr val="DDAAAA"/>
            </a:solidFill>
            <a:prstDash val="solid"/>
          </a:ln>
        </p:spPr>
        <p:txBody>
          <a:bodyPr/>
          <a:lstStyle/>
          <a:p>
            <a:endParaRPr lang="en-ZA"/>
          </a:p>
        </p:txBody>
      </p:sp>
      <p:sp>
        <p:nvSpPr>
          <p:cNvPr id="25" name="Text 23"/>
          <p:cNvSpPr/>
          <p:nvPr/>
        </p:nvSpPr>
        <p:spPr>
          <a:xfrm>
            <a:off x="4663440" y="2194560"/>
            <a:ext cx="4114800" cy="365760"/>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One AP per section — limited WiFi capacity</a:t>
            </a:r>
            <a:endParaRPr lang="en-US" sz="1050" dirty="0"/>
          </a:p>
        </p:txBody>
      </p:sp>
      <p:sp>
        <p:nvSpPr>
          <p:cNvPr id="26" name="Shape 24"/>
          <p:cNvSpPr/>
          <p:nvPr/>
        </p:nvSpPr>
        <p:spPr>
          <a:xfrm>
            <a:off x="4572000" y="2578608"/>
            <a:ext cx="4297680" cy="365760"/>
          </a:xfrm>
          <a:prstGeom prst="rect">
            <a:avLst/>
          </a:prstGeom>
          <a:solidFill>
            <a:srgbClr val="FFFFFF"/>
          </a:solidFill>
          <a:ln w="12700">
            <a:solidFill>
              <a:srgbClr val="DDAAAA"/>
            </a:solidFill>
            <a:prstDash val="solid"/>
          </a:ln>
        </p:spPr>
        <p:txBody>
          <a:bodyPr/>
          <a:lstStyle/>
          <a:p>
            <a:endParaRPr lang="en-ZA"/>
          </a:p>
        </p:txBody>
      </p:sp>
      <p:sp>
        <p:nvSpPr>
          <p:cNvPr id="27" name="Text 25"/>
          <p:cNvSpPr/>
          <p:nvPr/>
        </p:nvSpPr>
        <p:spPr>
          <a:xfrm>
            <a:off x="4663440" y="2578608"/>
            <a:ext cx="4114800" cy="365760"/>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Router bottleneck under very heavy load</a:t>
            </a:r>
            <a:endParaRPr lang="en-US" sz="1050" dirty="0"/>
          </a:p>
        </p:txBody>
      </p:sp>
      <p:sp>
        <p:nvSpPr>
          <p:cNvPr id="28" name="Shape 26"/>
          <p:cNvSpPr/>
          <p:nvPr/>
        </p:nvSpPr>
        <p:spPr>
          <a:xfrm>
            <a:off x="4572000" y="2944368"/>
            <a:ext cx="4297680" cy="365760"/>
          </a:xfrm>
          <a:prstGeom prst="rect">
            <a:avLst/>
          </a:prstGeom>
          <a:solidFill>
            <a:srgbClr val="FFF0F0"/>
          </a:solidFill>
          <a:ln w="12700">
            <a:solidFill>
              <a:srgbClr val="DDAAAA"/>
            </a:solidFill>
            <a:prstDash val="solid"/>
          </a:ln>
        </p:spPr>
        <p:txBody>
          <a:bodyPr/>
          <a:lstStyle/>
          <a:p>
            <a:endParaRPr lang="en-ZA"/>
          </a:p>
        </p:txBody>
      </p:sp>
      <p:sp>
        <p:nvSpPr>
          <p:cNvPr id="29" name="Text 27"/>
          <p:cNvSpPr/>
          <p:nvPr/>
        </p:nvSpPr>
        <p:spPr>
          <a:xfrm>
            <a:off x="4663440" y="2962656"/>
            <a:ext cx="4114800" cy="365760"/>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No redundant internet connection</a:t>
            </a:r>
            <a:endParaRPr lang="en-US" sz="1050" dirty="0"/>
          </a:p>
        </p:txBody>
      </p:sp>
      <p:sp>
        <p:nvSpPr>
          <p:cNvPr id="30" name="Shape 28"/>
          <p:cNvSpPr/>
          <p:nvPr/>
        </p:nvSpPr>
        <p:spPr>
          <a:xfrm>
            <a:off x="274320" y="4251960"/>
            <a:ext cx="8595360" cy="347472"/>
          </a:xfrm>
          <a:prstGeom prst="rect">
            <a:avLst/>
          </a:prstGeom>
          <a:solidFill>
            <a:srgbClr val="E8F0F8"/>
          </a:solidFill>
          <a:ln w="12700">
            <a:solidFill>
              <a:srgbClr val="2E75B6"/>
            </a:solidFill>
            <a:prstDash val="solid"/>
          </a:ln>
        </p:spPr>
        <p:txBody>
          <a:bodyPr/>
          <a:lstStyle/>
          <a:p>
            <a:endParaRPr lang="en-ZA"/>
          </a:p>
        </p:txBody>
      </p:sp>
      <p:sp>
        <p:nvSpPr>
          <p:cNvPr id="31" name="Text 29"/>
          <p:cNvSpPr/>
          <p:nvPr/>
        </p:nvSpPr>
        <p:spPr>
          <a:xfrm>
            <a:off x="365760" y="4251960"/>
            <a:ext cx="8412480" cy="347472"/>
          </a:xfrm>
          <a:prstGeom prst="rect">
            <a:avLst/>
          </a:prstGeom>
          <a:noFill/>
          <a:ln/>
        </p:spPr>
        <p:txBody>
          <a:bodyPr wrap="square" rtlCol="0" anchor="ctr"/>
          <a:lstStyle/>
          <a:p>
            <a:pPr marL="0" indent="0">
              <a:buNone/>
            </a:pPr>
            <a:r>
              <a:rPr lang="en-US" sz="1100" i="1" dirty="0">
                <a:solidFill>
                  <a:srgbClr val="1E3A5F"/>
                </a:solidFill>
                <a:latin typeface="Calibri" pitchFamily="34" charset="0"/>
                <a:ea typeface="Calibri" pitchFamily="34" charset="-122"/>
                <a:cs typeface="Calibri" pitchFamily="34" charset="-120"/>
              </a:rPr>
              <a:t>Most maintenance: cabling through ceiling — use labelled cable trays and patch panels for easy fault finding.</a:t>
            </a:r>
            <a:endParaRPr lang="en-US" sz="1100" dirty="0"/>
          </a:p>
        </p:txBody>
      </p:sp>
      <p:sp>
        <p:nvSpPr>
          <p:cNvPr id="32" name="Shape 30"/>
          <p:cNvSpPr/>
          <p:nvPr/>
        </p:nvSpPr>
        <p:spPr>
          <a:xfrm>
            <a:off x="0" y="4937760"/>
            <a:ext cx="9144000" cy="457200"/>
          </a:xfrm>
          <a:prstGeom prst="rect">
            <a:avLst/>
          </a:prstGeom>
          <a:solidFill>
            <a:srgbClr val="1E3A5F"/>
          </a:solidFill>
          <a:ln w="12700">
            <a:solidFill>
              <a:srgbClr val="1E3A5F"/>
            </a:solidFill>
            <a:prstDash val="solid"/>
          </a:ln>
        </p:spPr>
        <p:txBody>
          <a:bodyPr/>
          <a:lstStyle/>
          <a:p>
            <a:endParaRPr lang="en-ZA"/>
          </a:p>
        </p:txBody>
      </p:sp>
      <p:sp>
        <p:nvSpPr>
          <p:cNvPr id="33" name="Text 31"/>
          <p:cNvSpPr/>
          <p:nvPr/>
        </p:nvSpPr>
        <p:spPr>
          <a:xfrm>
            <a:off x="274320" y="4937760"/>
            <a:ext cx="8595360" cy="457200"/>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If company goes virtual: ISP router, VPN server, and file servers remain — physical cabling and switches no longer needed</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16">
    <p:bg>
      <p:bgPr>
        <a:solidFill>
          <a:srgbClr val="1E3A5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94360"/>
          </a:xfrm>
          <a:prstGeom prst="rect">
            <a:avLst/>
          </a:prstGeom>
          <a:noFill/>
          <a:ln/>
        </p:spPr>
        <p:txBody>
          <a:bodyPr wrap="square"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Conclusion</a:t>
            </a:r>
            <a:endParaRPr lang="en-US" sz="3600" dirty="0"/>
          </a:p>
        </p:txBody>
      </p:sp>
      <p:sp>
        <p:nvSpPr>
          <p:cNvPr id="3" name="Shape 1"/>
          <p:cNvSpPr/>
          <p:nvPr/>
        </p:nvSpPr>
        <p:spPr>
          <a:xfrm>
            <a:off x="457200" y="868680"/>
            <a:ext cx="8229600" cy="54864"/>
          </a:xfrm>
          <a:prstGeom prst="rect">
            <a:avLst/>
          </a:prstGeom>
          <a:solidFill>
            <a:srgbClr val="00A3E0"/>
          </a:solidFill>
          <a:ln w="12700">
            <a:solidFill>
              <a:srgbClr val="00A3E0"/>
            </a:solidFill>
            <a:prstDash val="solid"/>
          </a:ln>
        </p:spPr>
        <p:txBody>
          <a:bodyPr/>
          <a:lstStyle/>
          <a:p>
            <a:endParaRPr lang="en-ZA"/>
          </a:p>
        </p:txBody>
      </p:sp>
      <p:sp>
        <p:nvSpPr>
          <p:cNvPr id="4" name="Shape 2"/>
          <p:cNvSpPr/>
          <p:nvPr/>
        </p:nvSpPr>
        <p:spPr>
          <a:xfrm>
            <a:off x="457200" y="1005840"/>
            <a:ext cx="8229600" cy="365760"/>
          </a:xfrm>
          <a:prstGeom prst="rect">
            <a:avLst/>
          </a:prstGeom>
          <a:solidFill>
            <a:srgbClr val="1A2F4A"/>
          </a:solidFill>
          <a:ln w="12700">
            <a:solidFill>
              <a:srgbClr val="000000"/>
            </a:solidFill>
            <a:prstDash val="solid"/>
          </a:ln>
        </p:spPr>
        <p:txBody>
          <a:bodyPr/>
          <a:lstStyle/>
          <a:p>
            <a:endParaRPr lang="en-ZA"/>
          </a:p>
        </p:txBody>
      </p:sp>
      <p:sp>
        <p:nvSpPr>
          <p:cNvPr id="5" name="Text 3"/>
          <p:cNvSpPr/>
          <p:nvPr/>
        </p:nvSpPr>
        <p:spPr>
          <a:xfrm>
            <a:off x="548640" y="1005840"/>
            <a:ext cx="8046720" cy="365760"/>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  Network fully designed and implemented in Cisco Packet Tracer</a:t>
            </a:r>
            <a:endParaRPr lang="en-US" sz="1200" dirty="0"/>
          </a:p>
        </p:txBody>
      </p:sp>
      <p:sp>
        <p:nvSpPr>
          <p:cNvPr id="6" name="Shape 4"/>
          <p:cNvSpPr/>
          <p:nvPr/>
        </p:nvSpPr>
        <p:spPr>
          <a:xfrm>
            <a:off x="457200" y="1399032"/>
            <a:ext cx="8229600" cy="365760"/>
          </a:xfrm>
          <a:prstGeom prst="rect">
            <a:avLst/>
          </a:prstGeom>
          <a:solidFill>
            <a:srgbClr val="1E3A5F"/>
          </a:solidFill>
          <a:ln w="12700">
            <a:solidFill>
              <a:srgbClr val="000000"/>
            </a:solidFill>
            <a:prstDash val="solid"/>
          </a:ln>
        </p:spPr>
        <p:txBody>
          <a:bodyPr/>
          <a:lstStyle/>
          <a:p>
            <a:endParaRPr lang="en-ZA"/>
          </a:p>
        </p:txBody>
      </p:sp>
      <p:sp>
        <p:nvSpPr>
          <p:cNvPr id="7" name="Text 5"/>
          <p:cNvSpPr/>
          <p:nvPr/>
        </p:nvSpPr>
        <p:spPr>
          <a:xfrm>
            <a:off x="548640" y="1399032"/>
            <a:ext cx="8046720" cy="365760"/>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  All 7 sections isolated via VLANs and ACLs — tested and confirmed</a:t>
            </a:r>
            <a:endParaRPr lang="en-US" sz="1200" dirty="0"/>
          </a:p>
        </p:txBody>
      </p:sp>
      <p:sp>
        <p:nvSpPr>
          <p:cNvPr id="8" name="Shape 6"/>
          <p:cNvSpPr/>
          <p:nvPr/>
        </p:nvSpPr>
        <p:spPr>
          <a:xfrm>
            <a:off x="457200" y="1792224"/>
            <a:ext cx="8229600" cy="365760"/>
          </a:xfrm>
          <a:prstGeom prst="rect">
            <a:avLst/>
          </a:prstGeom>
          <a:solidFill>
            <a:srgbClr val="1A2F4A"/>
          </a:solidFill>
          <a:ln w="12700">
            <a:solidFill>
              <a:srgbClr val="000000"/>
            </a:solidFill>
            <a:prstDash val="solid"/>
          </a:ln>
        </p:spPr>
        <p:txBody>
          <a:bodyPr/>
          <a:lstStyle/>
          <a:p>
            <a:endParaRPr lang="en-ZA"/>
          </a:p>
        </p:txBody>
      </p:sp>
      <p:sp>
        <p:nvSpPr>
          <p:cNvPr id="9" name="Text 7"/>
          <p:cNvSpPr/>
          <p:nvPr/>
        </p:nvSpPr>
        <p:spPr>
          <a:xfrm>
            <a:off x="548640" y="1792224"/>
            <a:ext cx="8046720" cy="365760"/>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  Internet access working for all sections through single ISP connection</a:t>
            </a:r>
            <a:endParaRPr lang="en-US" sz="1200" dirty="0"/>
          </a:p>
        </p:txBody>
      </p:sp>
      <p:sp>
        <p:nvSpPr>
          <p:cNvPr id="10" name="Shape 8"/>
          <p:cNvSpPr/>
          <p:nvPr/>
        </p:nvSpPr>
        <p:spPr>
          <a:xfrm>
            <a:off x="457200" y="2185416"/>
            <a:ext cx="8229600" cy="365760"/>
          </a:xfrm>
          <a:prstGeom prst="rect">
            <a:avLst/>
          </a:prstGeom>
          <a:solidFill>
            <a:srgbClr val="1E3A5F"/>
          </a:solidFill>
          <a:ln w="12700">
            <a:solidFill>
              <a:srgbClr val="000000"/>
            </a:solidFill>
            <a:prstDash val="solid"/>
          </a:ln>
        </p:spPr>
        <p:txBody>
          <a:bodyPr/>
          <a:lstStyle/>
          <a:p>
            <a:endParaRPr lang="en-ZA"/>
          </a:p>
        </p:txBody>
      </p:sp>
      <p:sp>
        <p:nvSpPr>
          <p:cNvPr id="11" name="Text 9"/>
          <p:cNvSpPr/>
          <p:nvPr/>
        </p:nvSpPr>
        <p:spPr>
          <a:xfrm>
            <a:off x="548640" y="2185416"/>
            <a:ext cx="8046720" cy="365760"/>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  Router-on-a-Stick on Cisco 1941 — one router handles all 8 VLANs</a:t>
            </a:r>
            <a:endParaRPr lang="en-US" sz="1200" dirty="0"/>
          </a:p>
        </p:txBody>
      </p:sp>
      <p:sp>
        <p:nvSpPr>
          <p:cNvPr id="12" name="Shape 10"/>
          <p:cNvSpPr/>
          <p:nvPr/>
        </p:nvSpPr>
        <p:spPr>
          <a:xfrm>
            <a:off x="457200" y="2578608"/>
            <a:ext cx="8229600" cy="365760"/>
          </a:xfrm>
          <a:prstGeom prst="rect">
            <a:avLst/>
          </a:prstGeom>
          <a:solidFill>
            <a:srgbClr val="1A2F4A"/>
          </a:solidFill>
          <a:ln w="12700">
            <a:solidFill>
              <a:srgbClr val="000000"/>
            </a:solidFill>
            <a:prstDash val="solid"/>
          </a:ln>
        </p:spPr>
        <p:txBody>
          <a:bodyPr/>
          <a:lstStyle/>
          <a:p>
            <a:endParaRPr lang="en-ZA" dirty="0"/>
          </a:p>
        </p:txBody>
      </p:sp>
      <p:sp>
        <p:nvSpPr>
          <p:cNvPr id="13" name="Text 11"/>
          <p:cNvSpPr/>
          <p:nvPr/>
        </p:nvSpPr>
        <p:spPr>
          <a:xfrm>
            <a:off x="548640" y="2578608"/>
            <a:ext cx="8046720" cy="365760"/>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  Three distribution switches </a:t>
            </a:r>
            <a:endParaRPr lang="en-US" sz="1200" dirty="0"/>
          </a:p>
        </p:txBody>
      </p:sp>
      <p:sp>
        <p:nvSpPr>
          <p:cNvPr id="14" name="Shape 12"/>
          <p:cNvSpPr/>
          <p:nvPr/>
        </p:nvSpPr>
        <p:spPr>
          <a:xfrm>
            <a:off x="457200" y="2971800"/>
            <a:ext cx="8229600" cy="365760"/>
          </a:xfrm>
          <a:prstGeom prst="rect">
            <a:avLst/>
          </a:prstGeom>
          <a:solidFill>
            <a:srgbClr val="1E3A5F"/>
          </a:solidFill>
          <a:ln w="12700">
            <a:solidFill>
              <a:srgbClr val="000000"/>
            </a:solidFill>
            <a:prstDash val="solid"/>
          </a:ln>
        </p:spPr>
        <p:txBody>
          <a:bodyPr/>
          <a:lstStyle/>
          <a:p>
            <a:endParaRPr lang="en-ZA"/>
          </a:p>
        </p:txBody>
      </p:sp>
      <p:sp>
        <p:nvSpPr>
          <p:cNvPr id="15" name="Text 13"/>
          <p:cNvSpPr/>
          <p:nvPr/>
        </p:nvSpPr>
        <p:spPr>
          <a:xfrm>
            <a:off x="548640" y="2971800"/>
            <a:ext cx="8046720" cy="365760"/>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  DHCP centralised on machine room server — automatic for all sections</a:t>
            </a:r>
            <a:endParaRPr lang="en-US" sz="1200" dirty="0"/>
          </a:p>
        </p:txBody>
      </p:sp>
      <p:sp>
        <p:nvSpPr>
          <p:cNvPr id="16" name="Shape 14"/>
          <p:cNvSpPr/>
          <p:nvPr/>
        </p:nvSpPr>
        <p:spPr>
          <a:xfrm>
            <a:off x="457200" y="3364992"/>
            <a:ext cx="8229600" cy="365760"/>
          </a:xfrm>
          <a:prstGeom prst="rect">
            <a:avLst/>
          </a:prstGeom>
          <a:solidFill>
            <a:srgbClr val="1A2F4A"/>
          </a:solidFill>
          <a:ln w="12700">
            <a:solidFill>
              <a:srgbClr val="000000"/>
            </a:solidFill>
            <a:prstDash val="solid"/>
          </a:ln>
        </p:spPr>
        <p:txBody>
          <a:bodyPr/>
          <a:lstStyle/>
          <a:p>
            <a:endParaRPr lang="en-ZA"/>
          </a:p>
        </p:txBody>
      </p:sp>
      <p:sp>
        <p:nvSpPr>
          <p:cNvPr id="17" name="Text 15"/>
          <p:cNvSpPr/>
          <p:nvPr/>
        </p:nvSpPr>
        <p:spPr>
          <a:xfrm>
            <a:off x="548640" y="3364992"/>
            <a:ext cx="8046720" cy="365760"/>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  Meeting room: 2 wired teleconferencing ports + WiFi for 120 devices</a:t>
            </a:r>
            <a:endParaRPr lang="en-US" sz="1200" dirty="0"/>
          </a:p>
        </p:txBody>
      </p:sp>
      <p:sp>
        <p:nvSpPr>
          <p:cNvPr id="18" name="Shape 16"/>
          <p:cNvSpPr/>
          <p:nvPr/>
        </p:nvSpPr>
        <p:spPr>
          <a:xfrm>
            <a:off x="457200" y="3758184"/>
            <a:ext cx="8229600" cy="365760"/>
          </a:xfrm>
          <a:prstGeom prst="rect">
            <a:avLst/>
          </a:prstGeom>
          <a:solidFill>
            <a:srgbClr val="1E3A5F"/>
          </a:solidFill>
          <a:ln w="12700">
            <a:solidFill>
              <a:srgbClr val="000000"/>
            </a:solidFill>
            <a:prstDash val="solid"/>
          </a:ln>
        </p:spPr>
        <p:txBody>
          <a:bodyPr/>
          <a:lstStyle/>
          <a:p>
            <a:endParaRPr lang="en-ZA"/>
          </a:p>
        </p:txBody>
      </p:sp>
      <p:sp>
        <p:nvSpPr>
          <p:cNvPr id="19" name="Text 17"/>
          <p:cNvSpPr/>
          <p:nvPr/>
        </p:nvSpPr>
        <p:spPr>
          <a:xfrm>
            <a:off x="548640" y="3758184"/>
            <a:ext cx="8046720" cy="365760"/>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  Guest WiFi sandboxed on VLAN 99 — internet only, no internal access</a:t>
            </a:r>
            <a:endParaRPr lang="en-US" sz="1200" dirty="0"/>
          </a:p>
        </p:txBody>
      </p:sp>
      <p:sp>
        <p:nvSpPr>
          <p:cNvPr id="20" name="Shape 18"/>
          <p:cNvSpPr/>
          <p:nvPr/>
        </p:nvSpPr>
        <p:spPr>
          <a:xfrm>
            <a:off x="457200" y="4151376"/>
            <a:ext cx="8229600" cy="365760"/>
          </a:xfrm>
          <a:prstGeom prst="rect">
            <a:avLst/>
          </a:prstGeom>
          <a:solidFill>
            <a:srgbClr val="1A2F4A"/>
          </a:solidFill>
          <a:ln w="12700">
            <a:solidFill>
              <a:srgbClr val="000000"/>
            </a:solidFill>
            <a:prstDash val="solid"/>
          </a:ln>
        </p:spPr>
        <p:txBody>
          <a:bodyPr/>
          <a:lstStyle/>
          <a:p>
            <a:endParaRPr lang="en-ZA"/>
          </a:p>
        </p:txBody>
      </p:sp>
      <p:sp>
        <p:nvSpPr>
          <p:cNvPr id="21" name="Text 19"/>
          <p:cNvSpPr/>
          <p:nvPr/>
        </p:nvSpPr>
        <p:spPr>
          <a:xfrm>
            <a:off x="548640" y="4151376"/>
            <a:ext cx="8046720" cy="365760"/>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  Budget of R111,600 based on real South African market prices</a:t>
            </a:r>
            <a:endParaRPr lang="en-US" sz="1200" dirty="0"/>
          </a:p>
        </p:txBody>
      </p:sp>
      <p:sp>
        <p:nvSpPr>
          <p:cNvPr id="22" name="Shape 20"/>
          <p:cNvSpPr/>
          <p:nvPr/>
        </p:nvSpPr>
        <p:spPr>
          <a:xfrm>
            <a:off x="457200" y="4544568"/>
            <a:ext cx="8229600" cy="365760"/>
          </a:xfrm>
          <a:prstGeom prst="rect">
            <a:avLst/>
          </a:prstGeom>
          <a:solidFill>
            <a:srgbClr val="1E3A5F"/>
          </a:solidFill>
          <a:ln w="12700">
            <a:solidFill>
              <a:srgbClr val="000000"/>
            </a:solidFill>
            <a:prstDash val="solid"/>
          </a:ln>
        </p:spPr>
        <p:txBody>
          <a:bodyPr/>
          <a:lstStyle/>
          <a:p>
            <a:endParaRPr lang="en-ZA"/>
          </a:p>
        </p:txBody>
      </p:sp>
      <p:sp>
        <p:nvSpPr>
          <p:cNvPr id="23" name="Text 21"/>
          <p:cNvSpPr/>
          <p:nvPr/>
        </p:nvSpPr>
        <p:spPr>
          <a:xfrm>
            <a:off x="548640" y="4544568"/>
            <a:ext cx="8046720" cy="365760"/>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  Remote access via Cisco AnyConnect VPN with multi-factor authentication</a:t>
            </a:r>
            <a:endParaRPr lang="en-US" sz="1200" dirty="0"/>
          </a:p>
        </p:txBody>
      </p:sp>
      <p:sp>
        <p:nvSpPr>
          <p:cNvPr id="24" name="Text 22"/>
          <p:cNvSpPr/>
          <p:nvPr/>
        </p:nvSpPr>
        <p:spPr>
          <a:xfrm>
            <a:off x="457200" y="4983480"/>
            <a:ext cx="8229600" cy="320040"/>
          </a:xfrm>
          <a:prstGeom prst="rect">
            <a:avLst/>
          </a:prstGeom>
          <a:noFill/>
          <a:ln/>
        </p:spPr>
        <p:txBody>
          <a:bodyPr wrap="square" rtlCol="0" anchor="ctr"/>
          <a:lstStyle/>
          <a:p>
            <a:pPr marL="0" indent="0" algn="ctr">
              <a:buNone/>
            </a:pPr>
            <a:r>
              <a:rPr lang="en-US" sz="1300" b="1" dirty="0">
                <a:solidFill>
                  <a:srgbClr val="00A3E0"/>
                </a:solidFill>
                <a:latin typeface="Calibri" pitchFamily="34" charset="0"/>
                <a:ea typeface="Calibri" pitchFamily="34" charset="-122"/>
                <a:cs typeface="Calibri" pitchFamily="34" charset="-120"/>
              </a:rPr>
              <a:t>Thank you — Group 13  |  CMPG315  |  2026</a:t>
            </a:r>
            <a:endParaRPr lang="en-US" sz="1300" dirty="0"/>
          </a:p>
        </p:txBody>
      </p:sp>
    </p:spTree>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Gallery</Template>
  <TotalTime>942</TotalTime>
  <Words>2756</Words>
  <Application>Microsoft Macintosh PowerPoint</Application>
  <PresentationFormat>On-screen Show (16:9)</PresentationFormat>
  <Paragraphs>370</Paragraphs>
  <Slides>30</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30</vt:i4>
      </vt:variant>
    </vt:vector>
  </HeadingPairs>
  <TitlesOfParts>
    <vt:vector size="34" baseType="lpstr">
      <vt:lpstr>Arial</vt:lpstr>
      <vt:lpstr>Calibri</vt:lpstr>
      <vt:lpstr>Gill Sans MT</vt:lpstr>
      <vt:lpstr>Gallery</vt:lpstr>
      <vt:lpstr>PowerPoint Presentation</vt:lpstr>
      <vt:lpstr>PowerPoint Presentation</vt:lpstr>
      <vt:lpstr>KEY CHALLENGES</vt:lpstr>
      <vt:lpstr>ASSUMPTIONS AND INTERPRETATIONS</vt:lpstr>
      <vt:lpstr>PowerPoint Presentation</vt:lpstr>
      <vt:lpstr>PowerPoint Presentation</vt:lpstr>
      <vt:lpstr>Network topology</vt:lpstr>
      <vt:lpstr>Physical network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REMOTE ACCESS SOLUTIONS + possible growth</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CMPG315 Group 13 Network Design</dc:title>
  <dc:subject>PptxGenJS Presentation</dc:subject>
  <dc:creator>PptxGenJS</dc:creator>
  <cp:lastModifiedBy>P Tsoeu</cp:lastModifiedBy>
  <cp:revision>12</cp:revision>
  <dcterms:created xsi:type="dcterms:W3CDTF">2026-04-30T18:58:08Z</dcterms:created>
  <dcterms:modified xsi:type="dcterms:W3CDTF">2026-05-04T17:52:31Z</dcterms:modified>
</cp:coreProperties>
</file>